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A00F3F-79DC-4798-B07C-6D1302B4BE1D}">
  <a:tblStyle styleId="{37A00F3F-79DC-4798-B07C-6D1302B4BE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626B39-12CF-4894-ADDD-7DA9A79D03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1068942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1068942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068942d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068942d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1068942d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1068942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1068942d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1068942d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274d32ef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274d32e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1068942d3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1068942d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1068942d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1068942d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1068942d3_8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1068942d3_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068942d3_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068942d3_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1068942d3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1068942d3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211976e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211976e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210b9df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210b9df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210b9df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210b9df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210b9df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210b9df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210b9df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210b9df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211976e7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211976e7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210b9df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210b9df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210b9df4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210b9df4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210b9df4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210b9df4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210b9df4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210b9df4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210b9df4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210b9df4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210b9df4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210b9df4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210b9df4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210b9df4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210b9df4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210b9df4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210b9df4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210b9df4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210b9df4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210b9df4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210b9df4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210b9df4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210b9df4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210b9df4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210b9df4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6210b9df4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210b9df4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210b9df4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210b9df4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210b9df4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At_npYGM8NKrh2IsnW635yXcfeFHXrUJ/view?usp=sharing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1275" y="2229550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</a:t>
            </a:r>
            <a:endParaRPr b="1" sz="2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22825"/>
            <a:ext cx="8520600" cy="14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s-419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Jhon Alexander Merchan Trujillo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Sebastián Espinosa Misas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Benjamín Santos Gonzales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Jhosuaht Julián Rojas Castañeda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625" y="2845825"/>
            <a:ext cx="4681274" cy="15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5559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1" lang="es-419" sz="2222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Planteamiento problema</a:t>
            </a:r>
            <a:endParaRPr b="1" sz="2222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s-419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S.A.S., ubicada en Kennedy y dedicada a la producción y comercialización de productos como cereales, galletas y turrones, enfrenta dificultades en la gestión de la información de sus clientes debido a que el proceso se realiza de forma manual, mediante hojas de cálculo, llamadas y WhatsApp. Esto ha generado pérdida de datos, retrasos en la atención y una experiencia deficiente para los clientes.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b="1" lang="es-419" sz="2222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Pregunta problema</a:t>
            </a:r>
            <a:endParaRPr b="1" sz="2222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449025"/>
            <a:ext cx="3970800" cy="28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¿Cómo puede Industrias Alimenticias Pronavid S.A.S. gestionar de manera eficiente la información y el seguimiento de sus clientes para mejorar la atención y las decisiones comerciales?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900" y="1664538"/>
            <a:ext cx="4556700" cy="239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Objetivo general</a:t>
            </a:r>
            <a:endParaRPr b="1" sz="2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135875" y="1331975"/>
            <a:ext cx="4523400" cy="24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un sistema que ayude a Industrias Alimenticias Pronavid S.A.S. a gestionar mejor la información de sus clientes, optimizar la atención, las ventas, los pedidos y la administración de usuarios para mejorar la experiencia del cliente y apoyar la toma de decisiones.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900" y="1331963"/>
            <a:ext cx="4076550" cy="3057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866825" y="0"/>
            <a:ext cx="295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específicos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1098000" y="1093225"/>
            <a:ext cx="5707500" cy="30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4455"/>
              <a:buChar char="●"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Permitir el registro de cotizaciones y pedidos.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455"/>
              <a:buChar char="●"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Gestionar precios, promociones y estado de pedidos.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455"/>
              <a:buChar char="●"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Registrar interacciones de clientes para seguimiento comercial.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455"/>
              <a:buChar char="●"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Facilitar la generación de reportes de ventas.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4455"/>
              <a:buChar char="●"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Automatizar tareas repetitivas del proceso comercial.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49009"/>
              <a:buNone/>
            </a:pPr>
            <a:r>
              <a:t/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</a:rPr>
              <a:t>5. Justificación </a:t>
            </a:r>
            <a:endParaRPr b="1" sz="2000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418500"/>
            <a:ext cx="85206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propone el desarrollo de un sistema de información funcional que permita mejorar la trazabilidad, la atención y la relación con los clientes, mediante herramientas de registro, análisis y seguimiento. Esto contribuirá a la productividad, la fidelización y una base sólida para decisiones basadas en datos.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598600" y="7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4957275" y="1309600"/>
            <a:ext cx="3732000" cy="338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proyecto se desarrollará exclusivamente para el área de ventas de Industrias Alimenticias Pronavid S.A.S. No se abordarán procesos de producción, logística interna ni contabilidad.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535450" y="1309600"/>
            <a:ext cx="3572100" cy="338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latin typeface="Times New Roman"/>
                <a:ea typeface="Times New Roman"/>
                <a:cs typeface="Times New Roman"/>
                <a:sym typeface="Times New Roman"/>
              </a:rPr>
              <a:t>El sistema permitirá centralizar la información de ventas, registrar cada interacción con el cliente, gestionar solicitudes y reclamos, y generar reportes. Se enfocará en la gestión de ventas, sin integrarse directamente con producción ni finanzas.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5960625" y="1812400"/>
            <a:ext cx="172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1742800" y="1856750"/>
            <a:ext cx="115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5583150" y="683450"/>
            <a:ext cx="201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46755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Rol 1: Asesor Comercial (Ejecutivo de Ventas)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Técnica:</a:t>
            </a:r>
            <a:r>
              <a:rPr lang="es-419" sz="1100">
                <a:solidFill>
                  <a:schemeClr val="dk1"/>
                </a:solidFill>
              </a:rPr>
              <a:t> Entrevista semi-estructurada</a:t>
            </a:r>
            <a:br>
              <a:rPr lang="es-419" sz="1100">
                <a:solidFill>
                  <a:schemeClr val="dk1"/>
                </a:solidFill>
              </a:rPr>
            </a:br>
            <a:r>
              <a:rPr lang="es-419" sz="1100">
                <a:solidFill>
                  <a:schemeClr val="dk1"/>
                </a:solidFill>
              </a:rPr>
              <a:t> </a:t>
            </a:r>
            <a:r>
              <a:rPr b="1" lang="es-419" sz="1100">
                <a:solidFill>
                  <a:schemeClr val="dk1"/>
                </a:solidFill>
              </a:rPr>
              <a:t>Instrumento:</a:t>
            </a:r>
            <a:r>
              <a:rPr lang="es-419" sz="1100">
                <a:solidFill>
                  <a:schemeClr val="dk1"/>
                </a:solidFill>
              </a:rPr>
              <a:t> Cuestionario mixto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¿Actualmente utiliza alguna herramienta digital para registrar pedidos?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Sí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Si respondió "Sí", ¿cuál?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¿Cuáles son los pasos que sigue para registrar una venta desde el primer contacto hasta el cierre?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¿Con qué frecuencia debe repetir información de un cliente ya conocido?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Siempre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A veces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Nunca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¿Cómo consulta actualmente el historial de compras de un cliente?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tan fácil es para usted modificar un pedido en curso?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Muy fácil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Regular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Difícil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tipo de errores suelen ocurrir en el proceso de venta? (Explique brevemente)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¿Tiene forma de saber cuáles productos son los más vendidos del mes?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Sí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funciones considera indispensables en un sistema de ventas digital?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En una escala del 1 al 5, ¿qué tan necesario considera implementar un sistema automatizado de ventas?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1 Nada necesario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2 Poco necesario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3 Necesario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4 Muy necesario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5 Totalmente necesario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impacto cree que tendría este sistema en su productividad diaria?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AutoNum type="arabicPeriod"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830700" y="1950625"/>
            <a:ext cx="4192200" cy="22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br>
              <a:rPr lang="es-419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46755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Rol 2: Coordinador de Ventas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Técnica:</a:t>
            </a:r>
            <a:r>
              <a:rPr lang="es-419" sz="1100">
                <a:solidFill>
                  <a:schemeClr val="dk1"/>
                </a:solidFill>
              </a:rPr>
              <a:t> Entrevista semi-estructurada</a:t>
            </a:r>
            <a:br>
              <a:rPr lang="es-419" sz="1100">
                <a:solidFill>
                  <a:schemeClr val="dk1"/>
                </a:solidFill>
              </a:rPr>
            </a:br>
            <a:r>
              <a:rPr lang="es-419" sz="1100">
                <a:solidFill>
                  <a:schemeClr val="dk1"/>
                </a:solidFill>
              </a:rPr>
              <a:t> </a:t>
            </a:r>
            <a:r>
              <a:rPr b="1" lang="es-419" sz="1100">
                <a:solidFill>
                  <a:schemeClr val="dk1"/>
                </a:solidFill>
              </a:rPr>
              <a:t>Instrumento:</a:t>
            </a:r>
            <a:r>
              <a:rPr lang="es-419" sz="1100">
                <a:solidFill>
                  <a:schemeClr val="dk1"/>
                </a:solidFill>
              </a:rPr>
              <a:t> Cuestionario mixto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medios utiliza para monitorear los pedidos y cotizaciones que gestionan los vendedores?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¿Tiene acceso en tiempo real a la información de ventas?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Sí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Si respondió "Sí", ¿cómo accede?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¿Con qué frecuencia realiza reportes de ventas para la gerencia?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Diaria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Semanal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Mensual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Esporádicamente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información considera fundamental tener centralizada para facilitar la toma de decisiones?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¿Existen dificultades frecuentes al consolidar datos de ventas de diferentes asesores?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información debería mostrar un panel de control de ventas ideal para su gestión?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funcionalidades debería tener un sistema de ventas para apoyar la gestión del equipo comercial?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En su experiencia, ¿cuáles son las mayores ineficiencias actuales en el flujo de ventas?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¿Considera que el seguimiento a los pedidos puede mejorar con una herramienta digital?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Sí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¿Por qué?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¿Cuáles indicadores de rendimiento le gustaría monitorear desde un sistema?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AutoNum type="arabicPeriod"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887475" y="1979725"/>
            <a:ext cx="4192200" cy="22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-419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233850" y="1139525"/>
            <a:ext cx="46755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300">
                <a:solidFill>
                  <a:schemeClr val="dk1"/>
                </a:solidFill>
              </a:rPr>
              <a:t>Rol 3: Director Comercial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Técnica:</a:t>
            </a:r>
            <a:r>
              <a:rPr lang="es-419" sz="1100">
                <a:solidFill>
                  <a:schemeClr val="dk1"/>
                </a:solidFill>
              </a:rPr>
              <a:t> Entrevista semi-estructurada</a:t>
            </a:r>
            <a:br>
              <a:rPr lang="es-419" sz="1100">
                <a:solidFill>
                  <a:schemeClr val="dk1"/>
                </a:solidFill>
              </a:rPr>
            </a:br>
            <a:r>
              <a:rPr lang="es-419" sz="1100">
                <a:solidFill>
                  <a:schemeClr val="dk1"/>
                </a:solidFill>
              </a:rPr>
              <a:t> </a:t>
            </a:r>
            <a:r>
              <a:rPr b="1" lang="es-419" sz="1100">
                <a:solidFill>
                  <a:schemeClr val="dk1"/>
                </a:solidFill>
              </a:rPr>
              <a:t>Instrumento:</a:t>
            </a:r>
            <a:r>
              <a:rPr lang="es-419" sz="1100">
                <a:solidFill>
                  <a:schemeClr val="dk1"/>
                </a:solidFill>
              </a:rPr>
              <a:t> Cuestionario mixto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¿Tiene actualmente una fuente única y confiable para consultar resultados de ventas?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Sí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Parcialmente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indicadores estratégicos consulta para evaluar el comportamiento de los clientes?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¿Cómo realiza el seguimiento del desempeño de cada asesor comercial?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tipo de reportes considera clave para tomar decisiones comerciales?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barreras encuentra al momento de acceder o consolidar datos de ventas?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En su opinión, ¿qué tan alineado está el proceso de ventas actual con los objetivos estratégicos de la empresa?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¿Considera que un sistema digital puede fortalecer la fidelización de clientes?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Sí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No estoy seguro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elementos visuales debería contener un tablero de análisis de ventas?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¿Con qué frecuencia toma decisiones basadas en datos históricos?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Siempre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A menudo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Rara vez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( ) Nunca</a:t>
            </a:r>
            <a:br>
              <a:rPr lang="es-419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 sz="1100">
                <a:solidFill>
                  <a:schemeClr val="dk1"/>
                </a:solidFill>
              </a:rPr>
              <a:t>¿Qué beneficios espera obtener al implementar un sistema digital para la gestión de ventas?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830700" y="1757375"/>
            <a:ext cx="4192200" cy="26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(Problema)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1874000" y="380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latin typeface="Times New Roman"/>
                <a:ea typeface="Times New Roman"/>
                <a:cs typeface="Times New Roman"/>
                <a:sym typeface="Times New Roman"/>
              </a:rPr>
              <a:t>Figura 1 (</a:t>
            </a:r>
            <a:r>
              <a:rPr lang="es-419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Enlace</a:t>
            </a:r>
            <a:r>
              <a:rPr lang="es-419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2500" y="913975"/>
            <a:ext cx="5839000" cy="425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241100" y="20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120">
                <a:latin typeface="Times New Roman"/>
                <a:ea typeface="Times New Roman"/>
                <a:cs typeface="Times New Roman"/>
                <a:sym typeface="Times New Roman"/>
              </a:rPr>
              <a:t>Requisitos de software</a:t>
            </a:r>
            <a:endParaRPr b="1"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0" y="1402500"/>
            <a:ext cx="3762600" cy="32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Registro de clientes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interacciones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ventas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Asignación de tareas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de oportunidades de negocio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Segmentación de clientes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Generación de reporte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campañas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usuarios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Buscador de clientes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4" name="Google Shape;144;p24"/>
          <p:cNvSpPr txBox="1"/>
          <p:nvPr/>
        </p:nvSpPr>
        <p:spPr>
          <a:xfrm>
            <a:off x="116750" y="940800"/>
            <a:ext cx="36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Requisitos funcionales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5623700" y="1322125"/>
            <a:ext cx="3762600" cy="32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Disponibilidad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Rendimiento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Seguridad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Escalabilidad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Compatibilidad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Usabilidad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Mantenibilidad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Respaldo de información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Rendimiento bajo carga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s-419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Conformidad legal.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6" name="Google Shape;146;p24"/>
          <p:cNvSpPr txBox="1"/>
          <p:nvPr/>
        </p:nvSpPr>
        <p:spPr>
          <a:xfrm>
            <a:off x="5740450" y="860425"/>
            <a:ext cx="344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Requisitos no funcionales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9775" y="4497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25"/>
          <p:cNvGraphicFramePr/>
          <p:nvPr/>
        </p:nvGraphicFramePr>
        <p:xfrm>
          <a:off x="906600" y="79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clientes: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usuarios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deben colocar cada uno de sus datos y crear una contraseña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ingresar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registrar nuevos clientes con datos como nombre, cédula/NIT, correo, teléfono y dirección.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26"/>
          <p:cNvGraphicFramePr/>
          <p:nvPr/>
        </p:nvGraphicFramePr>
        <p:xfrm>
          <a:off x="1358300" y="12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interacciones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registra sus consultas y el sistema guarda cada una de sus interacciones hechas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guardar el historial de interacciones (llamadas, correos, reuniones) con cada cliente.</a:t>
                      </a:r>
                      <a:b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27"/>
          <p:cNvGraphicFramePr/>
          <p:nvPr/>
        </p:nvGraphicFramePr>
        <p:xfrm>
          <a:off x="1358300" y="12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ventas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hace sus pedidos y el sistema guarda cada una de sus compras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registrar cotizaciones, pedidos y ventas realizadas a cada cliente.</a:t>
                      </a:r>
                      <a:b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p28"/>
          <p:cNvGraphicFramePr/>
          <p:nvPr/>
        </p:nvGraphicFramePr>
        <p:xfrm>
          <a:off x="1358300" y="12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Asignación de tareas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avisa o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notifica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 cliente o asesores cuando hay alguna novedad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El sistema debe permitir asignar tareas de seguimiento a los asesores comerciales y notificar las fechas de vencimiento.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p29"/>
          <p:cNvGraphicFramePr/>
          <p:nvPr/>
        </p:nvGraphicFramePr>
        <p:xfrm>
          <a:off x="1358300" y="12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de oportunidades de negocio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hace un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seguimiento para registrar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cada oportunidad de negocio que puede haber con los clientes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 y hacer seguimiento a oportunidades de negocio abiertas con cada cliente.</a:t>
                      </a:r>
                      <a:b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" name="Google Shape;177;p30"/>
          <p:cNvGraphicFramePr/>
          <p:nvPr/>
        </p:nvGraphicFramePr>
        <p:xfrm>
          <a:off x="1030038" y="9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Segmentación de clientes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clasificar a los clientes según criterios como localidad, tipo de cliente o historial de compras.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proporcionar filtros y criterios personalizables que permitan agrupar a los clientes en segmentos específicos para facilitar análisis y estrategias de ventas.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31"/>
          <p:cNvGraphicFramePr/>
          <p:nvPr/>
        </p:nvGraphicFramePr>
        <p:xfrm>
          <a:off x="906788" y="79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Generación de reportes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al usuario generar informes detallados sobre ventas, interacciones y desempeño comercial.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generar reportes personalizados con filtros por fecha, cliente o categoría, en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archivos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exportables.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32"/>
          <p:cNvGraphicFramePr/>
          <p:nvPr/>
        </p:nvGraphicFramePr>
        <p:xfrm>
          <a:off x="926263" y="79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campañas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planificar, registrar y monitorear campañas de marketing dirigidas a segmentos de clientes.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usuarios podrán crear campañas, definir objetivos, públicos objetivos y registrar resultados de forma estructurada.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" name="Google Shape;192;p33"/>
          <p:cNvGraphicFramePr/>
          <p:nvPr/>
        </p:nvGraphicFramePr>
        <p:xfrm>
          <a:off x="926263" y="79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usuarios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el registro y control de usuarios del sistema, asignando diferentes roles: administrador, asesor y supervisor.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administradores crear usuarios, asignarles roles y gestionar su acceso según permisos definidos.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34"/>
          <p:cNvGraphicFramePr/>
          <p:nvPr/>
        </p:nvGraphicFramePr>
        <p:xfrm>
          <a:off x="926263" y="79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84500"/>
                <a:gridCol w="5582675"/>
              </a:tblGrid>
              <a:tr h="6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Buscador de clientes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buscar rápidamente un cliente por nombre o id.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incluir un campo de búsqueda eficiente que sugiera resultados en tiempo real a medida que se escribe.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7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197400" y="178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Requerimientos no funcionales</a:t>
            </a:r>
            <a:endParaRPr/>
          </a:p>
        </p:txBody>
      </p:sp>
      <p:graphicFrame>
        <p:nvGraphicFramePr>
          <p:cNvPr id="203" name="Google Shape;203;p35"/>
          <p:cNvGraphicFramePr/>
          <p:nvPr/>
        </p:nvGraphicFramePr>
        <p:xfrm>
          <a:off x="1114413" y="9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Disponibilidad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accesible para el usuario de acuerdo a la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disposición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 jornada laboral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disponible al menos el 99% del tiempo durante el horario laboral de la empresa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" name="Google Shape;208;p36"/>
          <p:cNvGraphicFramePr/>
          <p:nvPr/>
        </p:nvGraphicFramePr>
        <p:xfrm>
          <a:off x="1114413" y="8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Rendimiento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está optimizado para la respuesta inmediata al 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responder a cualquier consulta o acción del usuario en menos de 3 segundos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37"/>
          <p:cNvGraphicFramePr/>
          <p:nvPr/>
        </p:nvGraphicFramePr>
        <p:xfrm>
          <a:off x="1114413" y="8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Seguridad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le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permitirá al usuario hacer un 2FA (autenticación de dos factores) y el resguardo de sus datos sensibles mediante encriptación de estos.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contar con autenticación de usuarios y encriptación de datos sensibles como contraseñas y correos.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p38"/>
          <p:cNvGraphicFramePr/>
          <p:nvPr/>
        </p:nvGraphicFramePr>
        <p:xfrm>
          <a:off x="1114413" y="8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Escalabilidad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estará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sujeto a constante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actualización.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poder adaptarse al crecimiento del número de clientes y usuarios sin pérdida de rendimiento.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39"/>
          <p:cNvGraphicFramePr/>
          <p:nvPr/>
        </p:nvGraphicFramePr>
        <p:xfrm>
          <a:off x="1114413" y="8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{37A00F3F-79DC-4798-B07C-6D1302B4BE1D}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Compatibilidad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afín y de fácil acceso desde cualquier navegador web.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ser accesible desde navegadores web modernos (Chrome, Firefox, Edge).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Google Shape;228;p40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{69626B39-12CF-4894-ADDD-7DA9A79D03D7}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Usabilidad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tendrá una interfaz sencilla y clara, pensada para usuarios sin conocimientos técnicos.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interfaz del sistema debe ser intuitiva y amigable para usuarios sin conocimientos técnicos avanzados.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1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{69626B39-12CF-4894-ADDD-7DA9A79D03D7}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Mantenibilidad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código será limpio y modular, permitiendo actualizaciones y correcciones con facilidad.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desarrollado con buenas prácticas que permitan su fácil mantenimiento y actualización.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Google Shape;238;p42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{69626B39-12CF-4894-ADDD-7DA9A79D03D7}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Respaldo de información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 harán copias de seguridad automáticas diarias para proteger la base de datos.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realizar respaldos automáticos diarios de la base de datos.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243;p43"/>
          <p:cNvGraphicFramePr/>
          <p:nvPr/>
        </p:nvGraphicFramePr>
        <p:xfrm>
          <a:off x="1429150" y="113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{69626B39-12CF-4894-ADDD-7DA9A79D03D7}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50">
                          <a:solidFill>
                            <a:srgbClr val="222222"/>
                          </a:solidFill>
                        </a:rPr>
                        <a:t>Rendimiento bajo carga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permite un manejo eficiente de la </a:t>
                      </a: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página</a:t>
                      </a: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debe poder funcionar independientemente de la cantidad de usuarios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experiencia del usuario no debe verse comprometida por la conexión de hasta 1000 usuarios simultáneos, manteniendo tiempos de respuesta óptimos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44"/>
          <p:cNvGraphicFramePr/>
          <p:nvPr/>
        </p:nvGraphicFramePr>
        <p:xfrm>
          <a:off x="1429150" y="1040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{69626B39-12CF-4894-ADDD-7DA9A79D03D7}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Conformidad legal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Cumplirá con la Ley 1581 de 2012, protegiendo los datos personales de los usuarios.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cumplir con las normativas de protección de datos vigentes en Colombia (Ley 1581 de 2012).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
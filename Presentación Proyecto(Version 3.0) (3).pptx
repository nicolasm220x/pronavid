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7.xml"/>
  <Override ContentType="application/vnd.openxmlformats-officedocument.presentationml.notesSlide+xml" PartName="/ppt/notesSlides/notesSlide5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50.xml"/>
  <Override ContentType="application/vnd.openxmlformats-officedocument.presentationml.notesSlide+xml" PartName="/ppt/notesSlides/notesSlide68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51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73.xml"/>
  <Override ContentType="application/vnd.openxmlformats-officedocument.presentationml.notesSlide+xml" PartName="/ppt/notesSlides/notesSlide56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69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61.xml"/>
  <Override ContentType="application/vnd.openxmlformats-officedocument.presentationml.notesSlide+xml" PartName="/ppt/notesSlides/notesSlide57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58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62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54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70.xml"/>
  <Override ContentType="application/vnd.openxmlformats-officedocument.presentationml.notesSlide+xml" PartName="/ppt/notesSlides/notesSlide46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63.xml"/>
  <Override ContentType="application/vnd.openxmlformats-officedocument.presentationml.notesSlide+xml" PartName="/ppt/notesSlides/notesSlide5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47.xml"/>
  <Override ContentType="application/vnd.openxmlformats-officedocument.presentationml.notesSlide+xml" PartName="/ppt/notesSlides/notesSlide72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60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64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48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5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5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49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71.xml"/>
  <Override ContentType="application/vnd.openxmlformats-officedocument.presentationml.notesSlide+xml" PartName="/ppt/notesSlides/notesSlide53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66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5.xml"/>
  <Override ContentType="application/vnd.openxmlformats-officedocument.presentationml.slide+xml" PartName="/ppt/slides/slide60.xml"/>
  <Override ContentType="application/vnd.openxmlformats-officedocument.presentationml.slide+xml" PartName="/ppt/slides/slide5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slide+xml" PartName="/ppt/slides/slide69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50.xml"/>
  <Override ContentType="application/vnd.openxmlformats-officedocument.presentationml.slide+xml" PartName="/ppt/slides/slide34.xml"/>
  <Override ContentType="application/vnd.openxmlformats-officedocument.presentationml.slide+xml" PartName="/ppt/slides/slide33.xml"/>
  <Override ContentType="application/vnd.openxmlformats-officedocument.presentationml.slide+xml" PartName="/ppt/slides/slide51.xml"/>
  <Override ContentType="application/vnd.openxmlformats-officedocument.presentationml.slide+xml" PartName="/ppt/slides/slide16.xml"/>
  <Override ContentType="application/vnd.openxmlformats-officedocument.presentationml.slide+xml" PartName="/ppt/slides/slide6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7.xml"/>
  <Override ContentType="application/vnd.openxmlformats-officedocument.presentationml.slide+xml" PartName="/ppt/slides/slide71.xml"/>
  <Override ContentType="application/vnd.openxmlformats-officedocument.presentationml.slide+xml" PartName="/ppt/slides/slide41.xml"/>
  <Override ContentType="application/vnd.openxmlformats-officedocument.presentationml.slide+xml" PartName="/ppt/slides/slide67.xml"/>
  <Override ContentType="application/vnd.openxmlformats-officedocument.presentationml.slide+xml" PartName="/ppt/slides/slide7.xml"/>
  <Override ContentType="application/vnd.openxmlformats-officedocument.presentationml.slide+xml" PartName="/ppt/slides/slide54.xml"/>
  <Override ContentType="application/vnd.openxmlformats-officedocument.presentationml.slide+xml" PartName="/ppt/slides/slide36.xml"/>
  <Override ContentType="application/vnd.openxmlformats-officedocument.presentationml.slide+xml" PartName="/ppt/slides/slide66.xml"/>
  <Override ContentType="application/vnd.openxmlformats-officedocument.presentationml.slide+xml" PartName="/ppt/slides/slide23.xml"/>
  <Override ContentType="application/vnd.openxmlformats-officedocument.presentationml.slide+xml" PartName="/ppt/slides/slide49.xml"/>
  <Override ContentType="application/vnd.openxmlformats-officedocument.presentationml.slide+xml" PartName="/ppt/slides/slide10.xml"/>
  <Override ContentType="application/vnd.openxmlformats-officedocument.presentationml.slide+xml" PartName="/ppt/slides/slide70.xml"/>
  <Override ContentType="application/vnd.openxmlformats-officedocument.presentationml.slide+xml" PartName="/ppt/slides/slide6.xml"/>
  <Override ContentType="application/vnd.openxmlformats-officedocument.presentationml.slide+xml" PartName="/ppt/slides/slide53.xml"/>
  <Override ContentType="application/vnd.openxmlformats-officedocument.presentationml.slide+xml" PartName="/ppt/slides/slide40.xml"/>
  <Override ContentType="application/vnd.openxmlformats-officedocument.presentationml.slide+xml" PartName="/ppt/slides/slide48.xml"/>
  <Override ContentType="application/vnd.openxmlformats-officedocument.presentationml.slide+xml" PartName="/ppt/slides/slide7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9.xml"/>
  <Override ContentType="application/vnd.openxmlformats-officedocument.presentationml.slide+xml" PartName="/ppt/slides/slide65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6.xml"/>
  <Override ContentType="application/vnd.openxmlformats-officedocument.presentationml.slide+xml" PartName="/ppt/slides/slide12.xml"/>
  <Override ContentType="application/vnd.openxmlformats-officedocument.presentationml.slide+xml" PartName="/ppt/slides/slide47.xml"/>
  <Override ContentType="application/vnd.openxmlformats-officedocument.presentationml.slide+xml" PartName="/ppt/slides/slide72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8.xml"/>
  <Override ContentType="application/vnd.openxmlformats-officedocument.presentationml.slide+xml" PartName="/ppt/slides/slide46.xml"/>
  <Override ContentType="application/vnd.openxmlformats-officedocument.presentationml.slide+xml" PartName="/ppt/slides/slide64.xml"/>
  <Override ContentType="application/vnd.openxmlformats-officedocument.presentationml.slide+xml" PartName="/ppt/slides/slide8.xml"/>
  <Override ContentType="application/vnd.openxmlformats-officedocument.presentationml.slide+xml" PartName="/ppt/slides/slide55.xml"/>
  <Override ContentType="application/vnd.openxmlformats-officedocument.presentationml.slide+xml" PartName="/ppt/slides/slide29.xml"/>
  <Override ContentType="application/vnd.openxmlformats-officedocument.presentationml.slide+xml" PartName="/ppt/slides/slide59.xml"/>
  <Override ContentType="application/vnd.openxmlformats-officedocument.presentationml.slide+xml" PartName="/ppt/slides/slide32.xml"/>
  <Override ContentType="application/vnd.openxmlformats-officedocument.presentationml.slide+xml" PartName="/ppt/slides/slide62.xml"/>
  <Override ContentType="application/vnd.openxmlformats-officedocument.presentationml.slide+xml" PartName="/ppt/slides/slide1.xml"/>
  <Override ContentType="application/vnd.openxmlformats-officedocument.presentationml.slide+xml" PartName="/ppt/slides/slide58.xml"/>
  <Override ContentType="application/vnd.openxmlformats-officedocument.presentationml.slide+xml" PartName="/ppt/slides/slide63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15.xml"/>
  <Override ContentType="application/vnd.openxmlformats-officedocument.presentationml.slide+xml" PartName="/ppt/slides/slide61.xml"/>
  <Override ContentType="application/vnd.openxmlformats-officedocument.presentationml.slide+xml" PartName="/ppt/slides/slide31.xml"/>
  <Override ContentType="application/vnd.openxmlformats-officedocument.presentationml.slide+xml" PartName="/ppt/slides/slide27.xml"/>
  <Override ContentType="application/vnd.openxmlformats-officedocument.presentationml.slide+xml" PartName="/ppt/slides/slide57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  <p:ext uri="GoogleSlidesCustomDataVersion2">
      <go:slidesCustomData xmlns:go="http://customooxmlschemas.google.com/" r:id="rId80" roundtripDataSignature="AMtx7mhFNOQtuQtilJQdBP0cW2Jhl1nJt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BFDD732-6CB3-4486-A282-1A6A930B8240}">
  <a:tblStyle styleId="{0BFDD732-6CB3-4486-A282-1A6A930B8240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rgbClr val="000000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  <a:tblStyle styleId="{70F236C6-0823-49E8-83AB-CDFFC8197649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 b="off" i="off"/>
    </a:band1H>
    <a:band2H>
      <a:tcTxStyle b="off" i="off"/>
    </a:band2H>
    <a:band1V>
      <a:tcTxStyle b="off" i="off"/>
    </a:band1V>
    <a:band2V>
      <a:tcTxStyle b="off" i="off"/>
    </a:band2V>
    <a:lastCol>
      <a:tcTxStyle b="off" i="off"/>
    </a:lastCol>
    <a:firstCol>
      <a:tcTxStyle b="off" i="off"/>
    </a:firstCol>
    <a:lastRow>
      <a:tcTxStyle b="off" i="off"/>
    </a:lastRow>
    <a:seCell>
      <a:tcTxStyle b="off" i="off"/>
    </a:seCell>
    <a:swCell>
      <a:tcTxStyle b="off" i="off"/>
    </a:swCell>
    <a:firstRow>
      <a:tcTxStyle b="off" i="off"/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80" Type="http://customschemas.google.com/relationships/presentationmetadata" Target="meta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73" Type="http://schemas.openxmlformats.org/officeDocument/2006/relationships/slide" Target="slides/slide67.xml"/><Relationship Id="rId72" Type="http://schemas.openxmlformats.org/officeDocument/2006/relationships/slide" Target="slides/slide66.xml"/><Relationship Id="rId31" Type="http://schemas.openxmlformats.org/officeDocument/2006/relationships/slide" Target="slides/slide25.xml"/><Relationship Id="rId75" Type="http://schemas.openxmlformats.org/officeDocument/2006/relationships/slide" Target="slides/slide69.xml"/><Relationship Id="rId30" Type="http://schemas.openxmlformats.org/officeDocument/2006/relationships/slide" Target="slides/slide24.xml"/><Relationship Id="rId74" Type="http://schemas.openxmlformats.org/officeDocument/2006/relationships/slide" Target="slides/slide68.xml"/><Relationship Id="rId33" Type="http://schemas.openxmlformats.org/officeDocument/2006/relationships/slide" Target="slides/slide27.xml"/><Relationship Id="rId77" Type="http://schemas.openxmlformats.org/officeDocument/2006/relationships/slide" Target="slides/slide71.xml"/><Relationship Id="rId32" Type="http://schemas.openxmlformats.org/officeDocument/2006/relationships/slide" Target="slides/slide26.xml"/><Relationship Id="rId76" Type="http://schemas.openxmlformats.org/officeDocument/2006/relationships/slide" Target="slides/slide70.xml"/><Relationship Id="rId35" Type="http://schemas.openxmlformats.org/officeDocument/2006/relationships/slide" Target="slides/slide29.xml"/><Relationship Id="rId79" Type="http://schemas.openxmlformats.org/officeDocument/2006/relationships/slide" Target="slides/slide73.xml"/><Relationship Id="rId34" Type="http://schemas.openxmlformats.org/officeDocument/2006/relationships/slide" Target="slides/slide28.xml"/><Relationship Id="rId78" Type="http://schemas.openxmlformats.org/officeDocument/2006/relationships/slide" Target="slides/slide72.xml"/><Relationship Id="rId71" Type="http://schemas.openxmlformats.org/officeDocument/2006/relationships/slide" Target="slides/slide65.xml"/><Relationship Id="rId70" Type="http://schemas.openxmlformats.org/officeDocument/2006/relationships/slide" Target="slides/slide64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62" Type="http://schemas.openxmlformats.org/officeDocument/2006/relationships/slide" Target="slides/slide56.xml"/><Relationship Id="rId61" Type="http://schemas.openxmlformats.org/officeDocument/2006/relationships/slide" Target="slides/slide55.xml"/><Relationship Id="rId20" Type="http://schemas.openxmlformats.org/officeDocument/2006/relationships/slide" Target="slides/slide14.xml"/><Relationship Id="rId64" Type="http://schemas.openxmlformats.org/officeDocument/2006/relationships/slide" Target="slides/slide58.xml"/><Relationship Id="rId63" Type="http://schemas.openxmlformats.org/officeDocument/2006/relationships/slide" Target="slides/slide57.xml"/><Relationship Id="rId22" Type="http://schemas.openxmlformats.org/officeDocument/2006/relationships/slide" Target="slides/slide16.xml"/><Relationship Id="rId66" Type="http://schemas.openxmlformats.org/officeDocument/2006/relationships/slide" Target="slides/slide60.xml"/><Relationship Id="rId21" Type="http://schemas.openxmlformats.org/officeDocument/2006/relationships/slide" Target="slides/slide15.xml"/><Relationship Id="rId65" Type="http://schemas.openxmlformats.org/officeDocument/2006/relationships/slide" Target="slides/slide59.xml"/><Relationship Id="rId24" Type="http://schemas.openxmlformats.org/officeDocument/2006/relationships/slide" Target="slides/slide18.xml"/><Relationship Id="rId68" Type="http://schemas.openxmlformats.org/officeDocument/2006/relationships/slide" Target="slides/slide62.xml"/><Relationship Id="rId23" Type="http://schemas.openxmlformats.org/officeDocument/2006/relationships/slide" Target="slides/slide17.xml"/><Relationship Id="rId67" Type="http://schemas.openxmlformats.org/officeDocument/2006/relationships/slide" Target="slides/slide61.xml"/><Relationship Id="rId60" Type="http://schemas.openxmlformats.org/officeDocument/2006/relationships/slide" Target="slides/slide54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69" Type="http://schemas.openxmlformats.org/officeDocument/2006/relationships/slide" Target="slides/slide63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slide" Target="slides/slide47.xml"/><Relationship Id="rId52" Type="http://schemas.openxmlformats.org/officeDocument/2006/relationships/slide" Target="slides/slide46.xml"/><Relationship Id="rId11" Type="http://schemas.openxmlformats.org/officeDocument/2006/relationships/slide" Target="slides/slide5.xml"/><Relationship Id="rId55" Type="http://schemas.openxmlformats.org/officeDocument/2006/relationships/slide" Target="slides/slide49.xml"/><Relationship Id="rId10" Type="http://schemas.openxmlformats.org/officeDocument/2006/relationships/slide" Target="slides/slide4.xml"/><Relationship Id="rId54" Type="http://schemas.openxmlformats.org/officeDocument/2006/relationships/slide" Target="slides/slide48.xml"/><Relationship Id="rId13" Type="http://schemas.openxmlformats.org/officeDocument/2006/relationships/slide" Target="slides/slide7.xml"/><Relationship Id="rId57" Type="http://schemas.openxmlformats.org/officeDocument/2006/relationships/slide" Target="slides/slide51.xml"/><Relationship Id="rId12" Type="http://schemas.openxmlformats.org/officeDocument/2006/relationships/slide" Target="slides/slide6.xml"/><Relationship Id="rId56" Type="http://schemas.openxmlformats.org/officeDocument/2006/relationships/slide" Target="slides/slide50.xml"/><Relationship Id="rId15" Type="http://schemas.openxmlformats.org/officeDocument/2006/relationships/slide" Target="slides/slide9.xml"/><Relationship Id="rId59" Type="http://schemas.openxmlformats.org/officeDocument/2006/relationships/slide" Target="slides/slide53.xml"/><Relationship Id="rId14" Type="http://schemas.openxmlformats.org/officeDocument/2006/relationships/slide" Target="slides/slide8.xml"/><Relationship Id="rId58" Type="http://schemas.openxmlformats.org/officeDocument/2006/relationships/slide" Target="slides/slide5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7" name="Google Shape;67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83" name="Google Shape;8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9" name="Google Shape;10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7" name="Google Shape;117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6" name="Google Shape;136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5" name="Google Shape;14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2" name="Google Shape;152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4" name="Google Shape;174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1" name="Google Shape;181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8" name="Google Shape;188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8" name="Google Shape;198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3" name="Google Shape;203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08" name="Google Shape;2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3" name="Google Shape;213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8" name="Google Shape;218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3" name="Google Shape;223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28" name="Google Shape;228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p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3" name="Google Shape;23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38" name="Google Shape;238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3" name="Google Shape;243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48" name="Google Shape;248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2" name="Google Shape;252;p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3" name="Google Shape;253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58" name="Google Shape;258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3" name="Google Shape;263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p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68" name="Google Shape;268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3" name="Google Shape;273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7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p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79" name="Google Shape;279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4" name="Google Shape;284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89" name="Google Shape;289;p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4" name="Google Shape;294;p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99" name="Google Shape;299;p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p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4" name="Google Shape;304;p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09" name="Google Shape;309;p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2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4" name="Google Shape;314;p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19" name="Google Shape;319;p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4" name="Google Shape;324;p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29" name="Google Shape;329;p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3" name="Shape 3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4" name="Google Shape;334;p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5" name="Google Shape;335;p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2" name="Google Shape;342;p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9" name="Google Shape;349;p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3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55" name="Google Shape;355;p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7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1" name="Google Shape;361;p7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7" name="Google Shape;367;p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3" name="Google Shape;373;p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p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p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4" name="Google Shape;384;p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85" name="Google Shape;385;p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g36643e952c8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0" name="Google Shape;390;g36643e952c8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6642fba92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97" name="Google Shape;397;g36642fba92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g36642fba92e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4" name="Google Shape;404;g36642fba92e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g36642fba92e_0_3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1" name="Google Shape;411;g36642fba92e_0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6" name="Shape 4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7" name="Google Shape;417;g36642fba92e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18" name="Google Shape;418;g36642fba92e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3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4" name="Google Shape;424;g36642fba92e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5" name="Google Shape;425;g36642fba92e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0" name="Shape 4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1" name="Google Shape;431;g36642fba92e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2" name="Google Shape;432;g36642fba92e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7" name="Shape 4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8" name="Google Shape;438;g36642fba92e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39" name="Google Shape;439;g36642fba92e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4" name="Shape 4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5" name="Google Shape;445;g36642fba92e_0_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46" name="Google Shape;446;g36642fba92e_0_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6642fba92e_0_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3" name="Google Shape;453;g36642fba92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g36642fba92e_0_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0" name="Google Shape;460;g36642fba92e_0_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5" name="Shape 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6" name="Google Shape;466;g36642fba92e_0_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7" name="Google Shape;467;g36642fba92e_0_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6642fba92e_0_8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74" name="Google Shape;474;g36642fba92e_0_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9" name="Shape 4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0" name="Google Shape;480;g36642fba92e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1" name="Google Shape;481;g36642fba92e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6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6642fba92e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8" name="Google Shape;488;g36642fba92e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3" name="Shape 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4" name="Google Shape;494;g36642fba92e_0_11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95" name="Google Shape;495;g36642fba92e_0_1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Google Shape;501;g36642fba92e_0_1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2" name="Google Shape;502;g36642fba92e_0_1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7" name="Shape 5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8" name="Google Shape;508;g6b253f3e46e25224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09" name="Google Shape;509;g6b253f3e46e25224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4" name="Shape 5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5" name="Google Shape;515;g366474c7a8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16" name="Google Shape;516;g366474c7a8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77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77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7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7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7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6" name="Google Shape;16;p7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9" name="Google Shape;19;p7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8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8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8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8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8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8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8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8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8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8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8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8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8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8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8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8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8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8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8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7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419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0.jpg"/><Relationship Id="rId4" Type="http://schemas.openxmlformats.org/officeDocument/2006/relationships/image" Target="../media/image6.jpg"/><Relationship Id="rId5" Type="http://schemas.openxmlformats.org/officeDocument/2006/relationships/image" Target="../media/image1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docs.google.com/forms/d/e/1FAIpQLSdm0l6DoFSsKgOwhQhKWB0ZliHal31-0OVelrCrDQT7iUvXXw/viewform?usp=header" TargetMode="External"/><Relationship Id="rId4" Type="http://schemas.openxmlformats.org/officeDocument/2006/relationships/image" Target="../media/image5.jpg"/><Relationship Id="rId5" Type="http://schemas.openxmlformats.org/officeDocument/2006/relationships/image" Target="../media/image9.jpg"/><Relationship Id="rId6" Type="http://schemas.openxmlformats.org/officeDocument/2006/relationships/image" Target="../media/image1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4.jpg"/><Relationship Id="rId4" Type="http://schemas.openxmlformats.org/officeDocument/2006/relationships/image" Target="../media/image13.jpg"/><Relationship Id="rId5" Type="http://schemas.openxmlformats.org/officeDocument/2006/relationships/image" Target="../media/image8.jp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10.jpg"/><Relationship Id="rId5" Type="http://schemas.openxmlformats.org/officeDocument/2006/relationships/image" Target="../media/image39.jpg"/><Relationship Id="rId6" Type="http://schemas.openxmlformats.org/officeDocument/2006/relationships/image" Target="../media/image18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docs.google.com/forms/d/e/1FAIpQLSftLaRVAAo66gklueiwOyMRtcFkgAFqLOk_gS0zpw7TVIlroQ/viewform?usp=header" TargetMode="External"/><Relationship Id="rId4" Type="http://schemas.openxmlformats.org/officeDocument/2006/relationships/image" Target="../media/image16.jp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hyperlink" Target="https://drive.google.com/file/d/1GBWsyjFs3G84wBQP-weJfx9TsVpFAjUD/view?usp=drive_link" TargetMode="Externa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3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3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40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5.xml"/><Relationship Id="rId3" Type="http://schemas.openxmlformats.org/officeDocument/2006/relationships/image" Target="../media/image21.png"/><Relationship Id="rId4" Type="http://schemas.openxmlformats.org/officeDocument/2006/relationships/hyperlink" Target="https://docs.google.com/spreadsheets/d/1f1Wq9Cu21KaF_Dkf2UfPO_7UpkQIT-wc/edit?usp=sharing&amp;ouid=104959869951525300470&amp;rtpof=true&amp;sd=true" TargetMode="External"/></Relationships>
</file>

<file path=ppt/slides/_rels/slide4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6.xml"/><Relationship Id="rId3" Type="http://schemas.openxmlformats.org/officeDocument/2006/relationships/image" Target="../media/image20.png"/></Relationships>
</file>

<file path=ppt/slides/_rels/slide4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7.xml"/><Relationship Id="rId3" Type="http://schemas.openxmlformats.org/officeDocument/2006/relationships/image" Target="../media/image19.png"/></Relationships>
</file>

<file path=ppt/slides/_rels/slide4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8.xml"/><Relationship Id="rId3" Type="http://schemas.openxmlformats.org/officeDocument/2006/relationships/image" Target="../media/image25.png"/></Relationships>
</file>

<file path=ppt/slides/_rels/slide4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9.xml"/><Relationship Id="rId3" Type="http://schemas.openxmlformats.org/officeDocument/2006/relationships/image" Target="../media/image57.png"/></Relationships>
</file>

<file path=ppt/slides/_rels/slide5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0.xml"/><Relationship Id="rId3" Type="http://schemas.openxmlformats.org/officeDocument/2006/relationships/image" Target="../media/image22.png"/></Relationships>
</file>

<file path=ppt/slides/_rels/slide5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1.xml"/><Relationship Id="rId3" Type="http://schemas.openxmlformats.org/officeDocument/2006/relationships/image" Target="../media/image46.png"/></Relationships>
</file>

<file path=ppt/slides/_rels/slide5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2.xml"/><Relationship Id="rId3" Type="http://schemas.openxmlformats.org/officeDocument/2006/relationships/image" Target="../media/image27.png"/></Relationships>
</file>

<file path=ppt/slides/_rels/slide5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3.xml"/><Relationship Id="rId3" Type="http://schemas.openxmlformats.org/officeDocument/2006/relationships/image" Target="../media/image26.png"/></Relationships>
</file>

<file path=ppt/slides/_rels/slide5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4.xml"/><Relationship Id="rId3" Type="http://schemas.openxmlformats.org/officeDocument/2006/relationships/hyperlink" Target="https://drive.google.com/file/d/1im9Q0Z9ycHcYZ1vVQBu_9n9ZD8KjJHav/view?usp=drive_link" TargetMode="External"/></Relationships>
</file>

<file path=ppt/slides/_rels/slide5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5.xml"/><Relationship Id="rId3" Type="http://schemas.openxmlformats.org/officeDocument/2006/relationships/hyperlink" Target="https://drive.google.com/file/d/17mvs5Jxi_PLPu__goygW4gtkRbhTlNUm/view?usp=drive_link" TargetMode="External"/><Relationship Id="rId4" Type="http://schemas.openxmlformats.org/officeDocument/2006/relationships/image" Target="../media/image61.png"/></Relationships>
</file>

<file path=ppt/slides/_rels/slide5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6.xml"/><Relationship Id="rId3" Type="http://schemas.openxmlformats.org/officeDocument/2006/relationships/hyperlink" Target="https://drive.google.com/file/d/1F4_22_oA_h1r7fPFinY5QEBbGVYGVoY0/view?usp=sharing" TargetMode="External"/><Relationship Id="rId4" Type="http://schemas.openxmlformats.org/officeDocument/2006/relationships/image" Target="../media/image63.png"/></Relationships>
</file>

<file path=ppt/slides/_rels/slide5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7.xml"/><Relationship Id="rId3" Type="http://schemas.openxmlformats.org/officeDocument/2006/relationships/image" Target="../media/image42.png"/><Relationship Id="rId4" Type="http://schemas.openxmlformats.org/officeDocument/2006/relationships/image" Target="../media/image24.png"/></Relationships>
</file>

<file path=ppt/slides/_rels/slide5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8.xml"/><Relationship Id="rId3" Type="http://schemas.openxmlformats.org/officeDocument/2006/relationships/image" Target="../media/image23.png"/><Relationship Id="rId4" Type="http://schemas.openxmlformats.org/officeDocument/2006/relationships/image" Target="../media/image30.png"/></Relationships>
</file>

<file path=ppt/slides/_rels/slide5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9.xml"/><Relationship Id="rId3" Type="http://schemas.openxmlformats.org/officeDocument/2006/relationships/image" Target="../media/image54.png"/><Relationship Id="rId4" Type="http://schemas.openxmlformats.org/officeDocument/2006/relationships/image" Target="../media/image28.png"/></Relationships>
</file>

<file path=ppt/slides/_rels/slide6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0.xml"/><Relationship Id="rId3" Type="http://schemas.openxmlformats.org/officeDocument/2006/relationships/image" Target="../media/image38.png"/><Relationship Id="rId4" Type="http://schemas.openxmlformats.org/officeDocument/2006/relationships/image" Target="../media/image31.png"/></Relationships>
</file>

<file path=ppt/slides/_rels/slide6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1.xml"/><Relationship Id="rId3" Type="http://schemas.openxmlformats.org/officeDocument/2006/relationships/image" Target="../media/image41.png"/><Relationship Id="rId4" Type="http://schemas.openxmlformats.org/officeDocument/2006/relationships/image" Target="../media/image29.png"/></Relationships>
</file>

<file path=ppt/slides/_rels/slide6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2.xml"/><Relationship Id="rId3" Type="http://schemas.openxmlformats.org/officeDocument/2006/relationships/image" Target="../media/image32.png"/><Relationship Id="rId4" Type="http://schemas.openxmlformats.org/officeDocument/2006/relationships/image" Target="../media/image44.png"/></Relationships>
</file>

<file path=ppt/slides/_rels/slide6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3.xml"/><Relationship Id="rId3" Type="http://schemas.openxmlformats.org/officeDocument/2006/relationships/image" Target="../media/image33.png"/><Relationship Id="rId4" Type="http://schemas.openxmlformats.org/officeDocument/2006/relationships/image" Target="../media/image35.png"/></Relationships>
</file>

<file path=ppt/slides/_rels/slide6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4.xml"/><Relationship Id="rId3" Type="http://schemas.openxmlformats.org/officeDocument/2006/relationships/image" Target="../media/image50.png"/><Relationship Id="rId4" Type="http://schemas.openxmlformats.org/officeDocument/2006/relationships/image" Target="../media/image37.png"/></Relationships>
</file>

<file path=ppt/slides/_rels/slide6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5.xml"/><Relationship Id="rId3" Type="http://schemas.openxmlformats.org/officeDocument/2006/relationships/image" Target="../media/image34.png"/><Relationship Id="rId4" Type="http://schemas.openxmlformats.org/officeDocument/2006/relationships/image" Target="../media/image55.png"/></Relationships>
</file>

<file path=ppt/slides/_rels/slide6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6.xml"/><Relationship Id="rId3" Type="http://schemas.openxmlformats.org/officeDocument/2006/relationships/image" Target="../media/image59.png"/><Relationship Id="rId4" Type="http://schemas.openxmlformats.org/officeDocument/2006/relationships/image" Target="../media/image58.png"/></Relationships>
</file>

<file path=ppt/slides/_rels/slide6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7.xml"/><Relationship Id="rId3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6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8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6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9.xml"/><Relationship Id="rId3" Type="http://schemas.openxmlformats.org/officeDocument/2006/relationships/image" Target="../media/image56.png"/><Relationship Id="rId4" Type="http://schemas.openxmlformats.org/officeDocument/2006/relationships/image" Target="../media/image51.png"/></Relationships>
</file>

<file path=ppt/slides/_rels/slide7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0.xml"/><Relationship Id="rId3" Type="http://schemas.openxmlformats.org/officeDocument/2006/relationships/image" Target="../media/image53.png"/><Relationship Id="rId4" Type="http://schemas.openxmlformats.org/officeDocument/2006/relationships/hyperlink" Target="https://docs.google.com/document/d/1UXrVUhVzdxVRxnV5ZT91uQmsiAuR6h5l/edit?usp=sharing&amp;ouid=100583172839135054193&amp;rtpof=true&amp;sd=true" TargetMode="External"/></Relationships>
</file>

<file path=ppt/slides/_rels/slide7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1.xml"/><Relationship Id="rId3" Type="http://schemas.openxmlformats.org/officeDocument/2006/relationships/image" Target="../media/image45.png"/><Relationship Id="rId4" Type="http://schemas.openxmlformats.org/officeDocument/2006/relationships/image" Target="../media/image47.png"/></Relationships>
</file>

<file path=ppt/slides/_rels/slide7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2.xml"/><Relationship Id="rId3" Type="http://schemas.openxmlformats.org/officeDocument/2006/relationships/hyperlink" Target="https://docs.google.com/spreadsheets/u/0/d/1lsQQl8S254rgy8gh50jahIwvLu9-TH7C/htmlview" TargetMode="External"/><Relationship Id="rId4" Type="http://schemas.openxmlformats.org/officeDocument/2006/relationships/image" Target="../media/image52.png"/></Relationships>
</file>

<file path=ppt/slides/_rels/slide7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3.xml"/><Relationship Id="rId3" Type="http://schemas.openxmlformats.org/officeDocument/2006/relationships/image" Target="../media/image62.png"/><Relationship Id="rId4" Type="http://schemas.openxmlformats.org/officeDocument/2006/relationships/hyperlink" Target="https://drive.google.com/file/d/1rpDd3QqP_y2j7dSx688OtYAElwMr50pw/view?usp=sharing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"/>
          <p:cNvSpPr txBox="1"/>
          <p:nvPr>
            <p:ph type="ctrTitle"/>
          </p:nvPr>
        </p:nvSpPr>
        <p:spPr>
          <a:xfrm>
            <a:off x="341275" y="2229550"/>
            <a:ext cx="8520600" cy="1265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62626"/>
              <a:buNone/>
            </a:pPr>
            <a:r>
              <a:t/>
            </a:r>
            <a:endParaRPr sz="22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8524"/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218524"/>
              <a:buNone/>
            </a:pPr>
            <a:r>
              <a:rPr b="1" lang="es-419" sz="2644">
                <a:latin typeface="Times New Roman"/>
                <a:ea typeface="Times New Roman"/>
                <a:cs typeface="Times New Roman"/>
                <a:sym typeface="Times New Roman"/>
              </a:rPr>
              <a:t>Gestión de ventas</a:t>
            </a:r>
            <a:endParaRPr b="1" sz="2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351446"/>
              <a:buNone/>
            </a:pPr>
            <a:r>
              <a:t/>
            </a:r>
            <a:endParaRPr b="1" sz="1644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55" name="Google Shape;55;p1"/>
          <p:cNvSpPr txBox="1"/>
          <p:nvPr>
            <p:ph idx="1" type="subTitle"/>
          </p:nvPr>
        </p:nvSpPr>
        <p:spPr>
          <a:xfrm>
            <a:off x="311700" y="2922825"/>
            <a:ext cx="85206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ct val="91666"/>
              <a:buFont typeface="Arial"/>
              <a:buNone/>
            </a:pPr>
            <a:r>
              <a:rPr lang="es-419" sz="1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Jhon Alexander Merchan Trujillo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Sebastián Espinosa Misas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Juan Benjamín Santos Gonzales</a:t>
            </a:r>
            <a:b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r>
              <a:rPr lang="es-419" sz="255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Jhosuaht Julián Rojas Castañeda</a:t>
            </a:r>
            <a:endParaRPr sz="255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56" name="Google Shape;5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41625" y="2845825"/>
            <a:ext cx="4681274" cy="1566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" name="Google Shape;57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355649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00000"/>
              <a:buFont typeface="Times New Roman"/>
              <a:buAutoNum type="arabicPeriod"/>
            </a:pPr>
            <a:r>
              <a:rPr b="1" lang="es-419" sz="2222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Planteamiento problema</a:t>
            </a:r>
            <a:endParaRPr b="1" sz="2222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311700" y="1091100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Industrias Alimenticias Pronavid S.A.S., ubicada en la localidad de Kennedy (Bogotá), y dedicada a la fabricación y comercialización de productos como cereales, galletas y turrones, presenta deficiencias significativas en la gestión de su proceso de ventas. Actualmente, esta gestión se realiza de forma manual mediante herramientas dispersas como hojas de cálculo, llamadas telefónicas y mensajes por WhatsApp.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 forma de operación ha generado múltiples inconvenientes, tales como: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Errores frecuentes en el registro de pedidos y cotizaciones.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Pérdida de información comercial relevante.</a:t>
            </a:r>
            <a:b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226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Char char="●"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Ausencia de trazabilidad en el estado de los pedidos.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rPr lang="es-419" sz="59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Estas falencias afectan directamente la eficiencia operativa, la toma de decisiones comerciales y la fidelización de clientes, lo cual limita el crecimiento de la empresa.</a:t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22033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5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b="1" sz="55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50000"/>
              <a:buFont typeface="Arial"/>
              <a:buNone/>
            </a:pPr>
            <a:r>
              <a:t/>
            </a:r>
            <a:endParaRPr b="1" sz="2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rgbClr val="000000"/>
              </a:buClr>
              <a:buSzPct val="91666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"/>
          <p:cNvSpPr txBox="1"/>
          <p:nvPr>
            <p:ph type="title"/>
          </p:nvPr>
        </p:nvSpPr>
        <p:spPr>
          <a:xfrm>
            <a:off x="311700" y="260200"/>
            <a:ext cx="306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1250"/>
              <a:buFont typeface="Arial"/>
              <a:buNone/>
            </a:pPr>
            <a:r>
              <a:rPr b="1" lang="es-419" sz="2666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2. Pregunta problema</a:t>
            </a:r>
            <a:endParaRPr b="1" sz="2666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Arial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0" name="Google Shape;70;p3"/>
          <p:cNvSpPr txBox="1"/>
          <p:nvPr>
            <p:ph idx="1" type="body"/>
          </p:nvPr>
        </p:nvSpPr>
        <p:spPr>
          <a:xfrm>
            <a:off x="311700" y="1292250"/>
            <a:ext cx="3970800" cy="2823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62162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¿Por qué un sistema de información interno orientado a la gestión de ventas, dependiente del inventario y el registro de clientes de la empresa, puede optimizar el proceso comercial de Industrias Alimenticias Pronavid S.A.S. al permitir controlar cotizaciones, pedidos e historial de ventas, mejorando la eficiencia operativa y la toma de decisiones?</a:t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62162"/>
              <a:buNone/>
            </a:pPr>
            <a:r>
              <a:t/>
            </a:r>
            <a:endParaRPr sz="1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1" name="Google Shape;71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282500" y="1390438"/>
            <a:ext cx="4776400" cy="2362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"/>
          <p:cNvSpPr txBox="1"/>
          <p:nvPr>
            <p:ph type="title"/>
          </p:nvPr>
        </p:nvSpPr>
        <p:spPr>
          <a:xfrm>
            <a:off x="311700" y="4305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3. Objetivo general</a:t>
            </a:r>
            <a:endParaRPr b="1" sz="2000"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t/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8" name="Google Shape;78;p4"/>
          <p:cNvSpPr txBox="1"/>
          <p:nvPr>
            <p:ph idx="1" type="body"/>
          </p:nvPr>
        </p:nvSpPr>
        <p:spPr>
          <a:xfrm>
            <a:off x="252000" y="1221500"/>
            <a:ext cx="4320000" cy="28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rPr lang="es-419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Complementar la página web de pronavid con un sistema de información interno para la gestión de ventas en Industrias Alimenticias Pronavid S.A.S., que permita registrar cotizaciones y pedidos, controlar su estado y generar reportes comerciales básicos, con el fin de optimizar el proceso de ventas y facilitar la toma de decisiones basada en datos.</a:t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ct val="108108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9" name="Google Shape;79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80" name="Google Shape;80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631900" y="899275"/>
            <a:ext cx="3835475" cy="37046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5"/>
          <p:cNvSpPr txBox="1"/>
          <p:nvPr>
            <p:ph type="title"/>
          </p:nvPr>
        </p:nvSpPr>
        <p:spPr>
          <a:xfrm>
            <a:off x="3095250" y="260200"/>
            <a:ext cx="295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020">
                <a:latin typeface="Times New Roman"/>
                <a:ea typeface="Times New Roman"/>
                <a:cs typeface="Times New Roman"/>
                <a:sym typeface="Times New Roman"/>
              </a:rPr>
              <a:t>4. Objetivos específicos</a:t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86" name="Google Shape;8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5"/>
          <p:cNvSpPr txBox="1"/>
          <p:nvPr>
            <p:ph type="title"/>
          </p:nvPr>
        </p:nvSpPr>
        <p:spPr>
          <a:xfrm>
            <a:off x="-100" y="796600"/>
            <a:ext cx="9144000" cy="43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-278777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Registrar de manera estructurada las cotizaciones y pedidos realizados por los clientes.</a:t>
            </a:r>
            <a:b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Controlar el estado de los pedidos (pendiente, en proceso, entregado o cancelado).</a:t>
            </a:r>
            <a:b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Visualizar el historial de compras y pedidos por cliente.</a:t>
            </a:r>
            <a:b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Generar reportes básicos de ventas, como productos más vendidos o clientes frecuentes.</a:t>
            </a:r>
            <a:b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Implementar autenticación por roles (asesor comercial y administrador) para garantizar la seguridad del acceso.</a:t>
            </a:r>
            <a:b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78777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48797"/>
              <a:buChar char="●"/>
            </a:pPr>
            <a:r>
              <a:rPr lang="es-419" sz="1796">
                <a:latin typeface="Times New Roman"/>
                <a:ea typeface="Times New Roman"/>
                <a:cs typeface="Times New Roman"/>
                <a:sym typeface="Times New Roman"/>
              </a:rPr>
              <a:t>Integrar el sistema con los datos del inventario de la empresa para consultar productos disponibles sin gestionarlos directamente.</a:t>
            </a:r>
            <a:endParaRPr sz="1796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ct val="154015"/>
              <a:buNone/>
            </a:pPr>
            <a:r>
              <a:t/>
            </a:r>
            <a:endParaRPr sz="2020"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SzPct val="49009"/>
              <a:buNone/>
            </a:pPr>
            <a:r>
              <a:t/>
            </a:r>
            <a:endParaRPr b="1" sz="20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6"/>
          <p:cNvSpPr txBox="1"/>
          <p:nvPr>
            <p:ph type="title"/>
          </p:nvPr>
        </p:nvSpPr>
        <p:spPr>
          <a:xfrm>
            <a:off x="229600" y="4121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</a:rPr>
              <a:t>5. Justificación </a:t>
            </a:r>
            <a:endParaRPr b="1" sz="2000"/>
          </a:p>
        </p:txBody>
      </p:sp>
      <p:sp>
        <p:nvSpPr>
          <p:cNvPr id="93" name="Google Shape;93;p6"/>
          <p:cNvSpPr txBox="1"/>
          <p:nvPr>
            <p:ph idx="1" type="body"/>
          </p:nvPr>
        </p:nvSpPr>
        <p:spPr>
          <a:xfrm>
            <a:off x="147600" y="1108600"/>
            <a:ext cx="8996400" cy="311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25000" lnSpcReduction="20000"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Actualmente, Industrias Alimenticias Pronavid S.A.S. carece de un sistema automatizado que le permita gestionar de forma eficiente y segura su proceso de ventas. El uso de herramientas manuales ha ocasionado errores frecuentes, pérdida de información, retrasos en la atención al cliente y una limitada capacidad para analizar datos comerciales.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rPr lang="es-419" sz="72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La implementación de un sistema de información interno, con enfoque en la gestión de ventas y dependiente del inventario como fuente de datos para los productos ofrecidos, permitirá centralizar el registro de pedidos y cotizaciones, mejorar el seguimiento de las ventas, generar reportes útiles, y brindar soporte a las decisiones estratégicas de la empresa. Al ser de uso exclusivo para personal autorizado (asesores y administradores), se garantiza un entorno controlado, seguro y adaptado a las necesidades específicas del área comercial.</a:t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75"/>
              <a:buFont typeface="Arial"/>
              <a:buNone/>
            </a:pPr>
            <a:r>
              <a:t/>
            </a:r>
            <a:endParaRPr sz="72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61110"/>
              <a:buFont typeface="Arial"/>
              <a:buNone/>
            </a:pPr>
            <a:r>
              <a:t/>
            </a:r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/>
          </a:p>
        </p:txBody>
      </p:sp>
      <p:pic>
        <p:nvPicPr>
          <p:cNvPr id="94" name="Google Shape;94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7"/>
          <p:cNvSpPr txBox="1"/>
          <p:nvPr>
            <p:ph type="title"/>
          </p:nvPr>
        </p:nvSpPr>
        <p:spPr>
          <a:xfrm>
            <a:off x="598600" y="7369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6.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0" name="Google Shape;100;p7"/>
          <p:cNvSpPr/>
          <p:nvPr/>
        </p:nvSpPr>
        <p:spPr>
          <a:xfrm>
            <a:off x="4957275" y="1309600"/>
            <a:ext cx="38109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0" i="0" lang="es-419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estará limitado a uso interno del personal comercial, sin incluir pagos electrónicos, facturación automática, portal de compras para clientes externos, integración con las áreas de producción, finanzas o logística, ni un sistema completo de inventario, y su disponibilidad será exclusivamente en versión web.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1" name="Google Shape;101;p7"/>
          <p:cNvSpPr/>
          <p:nvPr/>
        </p:nvSpPr>
        <p:spPr>
          <a:xfrm>
            <a:off x="262750" y="1309600"/>
            <a:ext cx="4309200" cy="36171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t/>
            </a:r>
            <a:endParaRPr b="0" i="0" sz="1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br>
              <a:rPr b="0" i="0" lang="es-419" sz="9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</a:br>
            <a:endParaRPr b="0" i="0" sz="900" u="none" cap="none" strike="noStrike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0" i="0" sz="1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t/>
            </a:r>
            <a:endParaRPr b="0" i="0" sz="13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2" name="Google Shape;102;p7"/>
          <p:cNvSpPr txBox="1"/>
          <p:nvPr/>
        </p:nvSpPr>
        <p:spPr>
          <a:xfrm>
            <a:off x="5960625" y="1812400"/>
            <a:ext cx="20181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3" name="Google Shape;103;p7"/>
          <p:cNvSpPr txBox="1"/>
          <p:nvPr/>
        </p:nvSpPr>
        <p:spPr>
          <a:xfrm>
            <a:off x="1838650" y="1606675"/>
            <a:ext cx="11574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300"/>
              <a:buFont typeface="Arial"/>
              <a:buNone/>
            </a:pPr>
            <a:r>
              <a:rPr b="0" i="0" lang="es-419" sz="2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Alcance</a:t>
            </a:r>
            <a:endParaRPr b="0" i="0" sz="2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04" name="Google Shape;104;p7"/>
          <p:cNvSpPr txBox="1"/>
          <p:nvPr>
            <p:ph type="title"/>
          </p:nvPr>
        </p:nvSpPr>
        <p:spPr>
          <a:xfrm>
            <a:off x="5583150" y="683450"/>
            <a:ext cx="2018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7. </a:t>
            </a: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Delimitación</a:t>
            </a:r>
            <a:endParaRPr b="1" sz="36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05" name="Google Shape;10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7"/>
          <p:cNvSpPr txBox="1"/>
          <p:nvPr/>
        </p:nvSpPr>
        <p:spPr>
          <a:xfrm>
            <a:off x="385900" y="2272975"/>
            <a:ext cx="4062900" cy="2082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00"/>
              <a:buFont typeface="Arial"/>
              <a:buNone/>
            </a:pPr>
            <a:r>
              <a:rPr b="0" i="0" lang="es-419" sz="13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El sistema de información interno estará orientado a la gestión del proceso de ventas en Industrias Alimenticias Pronavid S.A.S., incluyendo el registro de cotizaciones y pedidos, seguimiento de pedido, historial de compras por cliente, generación de reportes básicos y autenticación de usuarios internos (asesores y administradores), con almacenamiento de datos en servidores locales o en la nube de la propia empresa (dependiendo los recursos ). El proyecto se desarrollará e implementará progresivamente en un plazo estimado de seis (6) a siete (7) trimestres.</a:t>
            </a:r>
            <a:endParaRPr b="0" i="0" sz="13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8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 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12" name="Google Shape;112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5575" y="397700"/>
            <a:ext cx="3041025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156600" y="397696"/>
            <a:ext cx="3041036" cy="2961651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102975" y="397700"/>
            <a:ext cx="3041026" cy="32236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9"/>
          <p:cNvSpPr txBox="1"/>
          <p:nvPr>
            <p:ph type="title"/>
          </p:nvPr>
        </p:nvSpPr>
        <p:spPr>
          <a:xfrm>
            <a:off x="0" y="-82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(asesor)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0" name="Google Shape;120;p9"/>
          <p:cNvSpPr txBox="1"/>
          <p:nvPr>
            <p:ph idx="1" type="body"/>
          </p:nvPr>
        </p:nvSpPr>
        <p:spPr>
          <a:xfrm>
            <a:off x="384475" y="364200"/>
            <a:ext cx="4992300" cy="477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br>
              <a:rPr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10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sz="982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45720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br>
              <a:rPr lang="es-419" sz="457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</a:br>
            <a:endParaRPr sz="717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685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21" name="Google Shape;121;p9"/>
          <p:cNvSpPr txBox="1"/>
          <p:nvPr/>
        </p:nvSpPr>
        <p:spPr>
          <a:xfrm>
            <a:off x="445875" y="3641950"/>
            <a:ext cx="91440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1" lang="es-419" sz="9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3"/>
              </a:rPr>
              <a:t>https://docs.google.com/forms/d/e/1FAIpQLSdm0l6DoFSsKgOwhQhKWB0ZliHal31-0OVelrCrDQT7iUvXXw/viewform?usp=header</a:t>
            </a:r>
            <a:endParaRPr b="0" i="1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364200"/>
            <a:ext cx="2995251" cy="2900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74375" y="355400"/>
            <a:ext cx="2995251" cy="2917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069625" y="437450"/>
            <a:ext cx="3074376" cy="27538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0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0" name="Google Shape;130;p10"/>
          <p:cNvSpPr txBox="1"/>
          <p:nvPr>
            <p:ph idx="1" type="body"/>
          </p:nvPr>
        </p:nvSpPr>
        <p:spPr>
          <a:xfrm>
            <a:off x="-114950" y="572700"/>
            <a:ext cx="5162700" cy="386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s-419" sz="10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95000"/>
              </a:lnSpc>
              <a:spcBef>
                <a:spcPts val="400"/>
              </a:spcBef>
              <a:spcAft>
                <a:spcPts val="1200"/>
              </a:spcAft>
              <a:buSzPts val="358"/>
              <a:buNone/>
            </a:pPr>
            <a:r>
              <a:t/>
            </a:r>
            <a:endParaRPr sz="9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31" name="Google Shape;131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17225" y="572700"/>
            <a:ext cx="2871974" cy="27417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989200" y="572700"/>
            <a:ext cx="2821291" cy="2741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3" name="Google Shape;133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500" y="576450"/>
            <a:ext cx="2821300" cy="27519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11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39" name="Google Shape;139;p11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-419" sz="10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b="0" i="1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0" name="Google Shape;14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0" y="572700"/>
            <a:ext cx="3032075" cy="2903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032075" y="572700"/>
            <a:ext cx="3032076" cy="2856666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60550" y="572700"/>
            <a:ext cx="3032076" cy="28386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2"/>
          <p:cNvSpPr txBox="1"/>
          <p:nvPr>
            <p:ph type="title"/>
          </p:nvPr>
        </p:nvSpPr>
        <p:spPr>
          <a:xfrm>
            <a:off x="0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8. Técnicas e instrumentos de recolección (Administrador)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48" name="Google Shape;148;p12"/>
          <p:cNvSpPr txBox="1"/>
          <p:nvPr/>
        </p:nvSpPr>
        <p:spPr>
          <a:xfrm>
            <a:off x="1203700" y="4689600"/>
            <a:ext cx="69315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1" lang="es-419" sz="1000" u="sng" cap="none" strike="noStrike">
                <a:solidFill>
                  <a:schemeClr val="hlink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/>
              </a:rPr>
              <a:t>https://docs.google.com/forms/d/e/1FAIpQLSftLaRVAAo66gklueiwOyMRtcFkgAFqLOk_gS0zpw7TVIlroQ/viewform?usp=header</a:t>
            </a:r>
            <a:endParaRPr b="0" i="1" sz="1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49" name="Google Shape;149;p1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263825" y="511275"/>
            <a:ext cx="4308890" cy="381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3"/>
          <p:cNvSpPr txBox="1"/>
          <p:nvPr>
            <p:ph type="title"/>
          </p:nvPr>
        </p:nvSpPr>
        <p:spPr>
          <a:xfrm>
            <a:off x="170275" y="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55" name="Google Shape;155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92425" y="0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29850" y="411625"/>
            <a:ext cx="7966526" cy="4172942"/>
          </a:xfrm>
          <a:prstGeom prst="rect">
            <a:avLst/>
          </a:prstGeom>
          <a:noFill/>
          <a:ln>
            <a:noFill/>
          </a:ln>
        </p:spPr>
      </p:pic>
      <p:sp>
        <p:nvSpPr>
          <p:cNvPr id="157" name="Google Shape;157;p13"/>
          <p:cNvSpPr txBox="1"/>
          <p:nvPr/>
        </p:nvSpPr>
        <p:spPr>
          <a:xfrm>
            <a:off x="319175" y="4726125"/>
            <a:ext cx="2602500" cy="4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5"/>
              </a:rPr>
              <a:t>Link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14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63" name="Google Shape;16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4" name="Google Shape;16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793400"/>
            <a:ext cx="7966525" cy="41475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5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0" name="Google Shape;170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369200" y="782275"/>
            <a:ext cx="8513309" cy="39247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6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77" name="Google Shape;177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52400" y="1066375"/>
            <a:ext cx="8092575" cy="392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17"/>
          <p:cNvSpPr txBox="1"/>
          <p:nvPr>
            <p:ph type="title"/>
          </p:nvPr>
        </p:nvSpPr>
        <p:spPr>
          <a:xfrm>
            <a:off x="243925" y="683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2000"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9. BPMN </a:t>
            </a:r>
            <a:endParaRPr b="1" sz="20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84" name="Google Shape;184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271325" y="179125"/>
            <a:ext cx="751575" cy="734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70100" y="969200"/>
            <a:ext cx="6848475" cy="3438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18"/>
          <p:cNvSpPr txBox="1"/>
          <p:nvPr>
            <p:ph type="title"/>
          </p:nvPr>
        </p:nvSpPr>
        <p:spPr>
          <a:xfrm>
            <a:off x="241100" y="2071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b="1" lang="es-419" sz="2120">
                <a:latin typeface="Times New Roman"/>
                <a:ea typeface="Times New Roman"/>
                <a:cs typeface="Times New Roman"/>
                <a:sym typeface="Times New Roman"/>
              </a:rPr>
              <a:t>Requisitos de software</a:t>
            </a:r>
            <a:endParaRPr b="1" sz="212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1" name="Google Shape;191;p18"/>
          <p:cNvSpPr txBox="1"/>
          <p:nvPr>
            <p:ph idx="1" type="body"/>
          </p:nvPr>
        </p:nvSpPr>
        <p:spPr>
          <a:xfrm>
            <a:off x="64400" y="1117250"/>
            <a:ext cx="4725000" cy="3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usuario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Inicio de sesión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Recuperación de contraseña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control  de roles y permisos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control de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Cómo ingresar productos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Gestión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cotización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Seguimiento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Historial de ventas por cliente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Registro de devoluciones o cancelaciones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Notificaciones de pedidos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Búsqueda avanzada de ventas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Generación de reportes</a:t>
            </a:r>
            <a:endParaRPr sz="900">
              <a:solidFill>
                <a:schemeClr val="dk1"/>
              </a:solidFill>
            </a:endParaRPr>
          </a:p>
          <a:p>
            <a:pPr indent="-3111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Times New Roman"/>
              <a:buAutoNum type="arabicPeriod"/>
            </a:pPr>
            <a:r>
              <a:rPr lang="es-419" sz="900">
                <a:solidFill>
                  <a:schemeClr val="dk1"/>
                </a:solidFill>
              </a:rPr>
              <a:t>Cierre de sesión</a:t>
            </a:r>
            <a:endParaRPr sz="13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2" name="Google Shape;192;p18"/>
          <p:cNvSpPr txBox="1"/>
          <p:nvPr/>
        </p:nvSpPr>
        <p:spPr>
          <a:xfrm>
            <a:off x="64400" y="695738"/>
            <a:ext cx="3645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funcionales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3" name="Google Shape;193;p18"/>
          <p:cNvSpPr txBox="1"/>
          <p:nvPr>
            <p:ph idx="1" type="body"/>
          </p:nvPr>
        </p:nvSpPr>
        <p:spPr>
          <a:xfrm>
            <a:off x="5697300" y="1247375"/>
            <a:ext cx="3762600" cy="3229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Disponibilidad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Rendimiento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Seguridad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Escalabilidad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Compatibilidad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Usabilidad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Mantenibilidad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Respaldo de información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confiabilidad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Conformidad legal.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Times New Roman"/>
              <a:buAutoNum type="arabicPeriod"/>
            </a:pPr>
            <a:r>
              <a:rPr lang="es-419" sz="1100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Interoperabilidad</a:t>
            </a:r>
            <a:endParaRPr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 sz="1100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800"/>
              <a:buNone/>
            </a:pPr>
            <a:r>
              <a:t/>
            </a:r>
            <a:endParaRPr sz="1100"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94" name="Google Shape;194;p18"/>
          <p:cNvSpPr txBox="1"/>
          <p:nvPr/>
        </p:nvSpPr>
        <p:spPr>
          <a:xfrm>
            <a:off x="5697300" y="820125"/>
            <a:ext cx="34467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1" i="0" lang="es-419" sz="1800" u="none" cap="none" strike="noStrike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Requisitos no funcionales</a:t>
            </a:r>
            <a:endParaRPr b="1" i="0" sz="1800" u="none" cap="none" strike="noStrike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195" name="Google Shape;195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329775" y="44975"/>
            <a:ext cx="751575" cy="734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0" name="Google Shape;200;p19"/>
          <p:cNvGraphicFramePr/>
          <p:nvPr/>
        </p:nvGraphicFramePr>
        <p:xfrm>
          <a:off x="1243900" y="4143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usuario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registro debe estar disponible desde la pantalla de inicio mediante un botón o enlace claramente visible.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una persona cree una cuenta personal proporcionando su información básica a través de un formulario de registro.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t/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5" name="Google Shape;205;p20"/>
          <p:cNvGraphicFramePr/>
          <p:nvPr/>
        </p:nvGraphicFramePr>
        <p:xfrm>
          <a:off x="1572825" y="750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Inicio de sesión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formulario de inicio de sesión debe estar accesible desde la pantalla principal de la aplicación o sitio web.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usuarios registrados puedan acceder a su cuenta introduciendo su correo electrónico y contraseña en un formulario de autenticación, validando las credenciales y redirigiendo según su rol.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0" name="Google Shape;210;p21"/>
          <p:cNvGraphicFramePr/>
          <p:nvPr/>
        </p:nvGraphicFramePr>
        <p:xfrm>
          <a:off x="1416050" y="6906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Recuperación de contraseña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la pantalla de inicio de sesión, el sistema debe ofrecer una opción para recuperar la contraseña olvidada.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solicitar un enlace de recuperación de contraseña, enviado al correo registrado, para establecer una nueva contraseña de forma segura.</a:t>
                      </a:r>
                      <a:b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15" name="Google Shape;215;p22"/>
          <p:cNvGraphicFramePr/>
          <p:nvPr/>
        </p:nvGraphicFramePr>
        <p:xfrm>
          <a:off x="1416050" y="369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de roles y permisos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definir y administrar distintos roles de usuario con permisos específicos sobre las funciones del sistema.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que los administradores configuren roles como “Asesor” y “Administrador”, asignando a cada uno diferentes niveles de acceso y privilegios sobre las funciones del sistema.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0" name="Google Shape;220;p23"/>
          <p:cNvGraphicFramePr/>
          <p:nvPr/>
        </p:nvGraphicFramePr>
        <p:xfrm>
          <a:off x="1416050" y="223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Control de productos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actualizar y eliminar productos, incluyendo información como nombre, categoría, precio, cantidad en stock y descripción.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Desde el módulo de productos, los usuarios autorizados podrán dar de alta nuevos productos, editar los existentes, eliminarlos o consultar su información para mantener actualizado el catálogo de ventas.</a:t>
                      </a:r>
                      <a:b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</a:b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5" name="Google Shape;225;p24"/>
          <p:cNvGraphicFramePr/>
          <p:nvPr/>
        </p:nvGraphicFramePr>
        <p:xfrm>
          <a:off x="1416050" y="2428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Ingreso de productos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incluir un flujo claro para el ingreso de productos, con validaciones y confirmación.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Los usuarios administradores, desde el módulo de productos, podrán registrar un nuevo producto accediendo al menú “Productos” desde el panel principal, haciendo clic en “Registrar producto” y llenando un formulario con los campos: nombre, categoría, precio unitario, cantidad inicial en stock, descripción y código interno. Una vez completado, deberán validar los datos antes de guardarlos y, al finalizar, el sistema mostrará una confirmación visual del registro exitoso.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p25"/>
          <p:cNvGraphicFramePr/>
          <p:nvPr/>
        </p:nvGraphicFramePr>
        <p:xfrm>
          <a:off x="1416050" y="8667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Registrar  ventas</a:t>
                      </a:r>
                      <a:endParaRPr b="1" sz="9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usuario puede registrar una nueva venta.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registrar, consultar, modificar y eliminar ventas realizadas, así como generar reportes relacionados.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5" name="Google Shape;235;p26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cotización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ingresar datos del cliente y detallar productos o servicios, incluyendo cantidad, precio unitario, descuentos e impuestos, con cálculo automático del total.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9532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generar cotizaciones de productos o servicios seleccionados, incluyendo detalles como cliente, precios y condiciones de pago.</a:t>
                      </a:r>
                      <a:endParaRPr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0" name="Google Shape;240;p27"/>
          <p:cNvGraphicFramePr/>
          <p:nvPr/>
        </p:nvGraphicFramePr>
        <p:xfrm>
          <a:off x="1416050" y="695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RF09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Seguimiento de pedidos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mostrar el estado actual del pedido.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(clientes y personal autorizado) consultar el estado de los pedidos realizados, desde su creación hasta su entrega final.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45" name="Google Shape;245;p28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RF010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Historial de ventas por cliente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El sistema debe mostrar un listado cronológico de todas las ventas asociadas a un cliente.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consultar todas las ventas realizadas a un cliente específico, mostrando un registro detallado de cada transacción.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RNF08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0" name="Google Shape;250;p29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Registro de devoluciones o cancelaciones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Cada devolución o cancelación debe registrarse con datos específicos como número de venta, productos involucrados, cantidades, motivo, fecha y usuario responsable..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registrar y gestionar las devoluciones o cancelaciones de ventas realizadas, asegurando que estos procesos se documenten correctamente.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Media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4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5" name="Google Shape;255;p30"/>
          <p:cNvGraphicFramePr/>
          <p:nvPr/>
        </p:nvGraphicFramePr>
        <p:xfrm>
          <a:off x="1416050" y="514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Notificaciones de pedidos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alertas para eventos clave como la creación del pedido, aprobación, despacho, entrega o cancelación.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enviar notificaciones automáticas a los usuarios relevantes sobre cambios importantes en el estado de los pedidos.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RNF07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0" name="Google Shape;260;p31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Búsqueda avanzada de ventas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búsqueda debe permitir filtrar ventas por fecha, cliente, productos, estado, método de pago, rango de montos y empleado responsable.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proporcionar una funcionalidad de búsqueda avanzada que permita a los usuarios localizar ventas específicas mediante múltiples filtros.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65" name="Google Shape;265;p32"/>
          <p:cNvGraphicFramePr/>
          <p:nvPr/>
        </p:nvGraphicFramePr>
        <p:xfrm>
          <a:off x="1416050" y="4191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Generación de reportes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generar y exportar reportes detallados de ventas, productos más vendidos, ingresos por períodos, clientes frecuentes y desempeño comercial.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generar reportes automáticos con filtros configurables (por cliente, producto, período, estado, etc.) y permitir su exportación a formatos como PDF y Excel para análisis externo.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9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70" name="Google Shape;270;p33"/>
          <p:cNvGraphicFramePr/>
          <p:nvPr/>
        </p:nvGraphicFramePr>
        <p:xfrm>
          <a:off x="1416050" y="60483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257300"/>
                <a:gridCol w="5054600"/>
              </a:tblGrid>
              <a:tr h="6477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RF015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Cierre de sesión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t/>
                      </a:r>
                      <a:endParaRPr b="1" sz="11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a los usuarios cerrar sesión desde cualquier pantalla de la aplicación mediante un botón claramente visible.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1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finalizar la sesión activa del usuario, liberando sus recursos y redirigiendo a la pantalla de inicio de sesión.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Requerimientos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 funcionales: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❖ RNF06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9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lnL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B6D7A8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D9EAD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4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34"/>
          <p:cNvSpPr txBox="1"/>
          <p:nvPr>
            <p:ph type="title"/>
          </p:nvPr>
        </p:nvSpPr>
        <p:spPr>
          <a:xfrm>
            <a:off x="197400" y="1783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>
                <a:latin typeface="Times New Roman"/>
                <a:ea typeface="Times New Roman"/>
                <a:cs typeface="Times New Roman"/>
                <a:sym typeface="Times New Roman"/>
              </a:rPr>
              <a:t>Requerimientos no funcionales</a:t>
            </a:r>
            <a:endParaRPr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graphicFrame>
        <p:nvGraphicFramePr>
          <p:cNvPr id="276" name="Google Shape;276;p34"/>
          <p:cNvGraphicFramePr/>
          <p:nvPr/>
        </p:nvGraphicFramePr>
        <p:xfrm>
          <a:off x="962013" y="1339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RNF01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Disponibilidad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accesible para el usuario de acuerdo a la disposición de jornada laboral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disponible al menos el 99% del tiempo durante el horario laboral de la empresa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0" name="Shape 2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1" name="Google Shape;281;p35"/>
          <p:cNvGraphicFramePr/>
          <p:nvPr/>
        </p:nvGraphicFramePr>
        <p:xfrm>
          <a:off x="962013" y="1136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RNF02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Rendimiento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está optimizado para la respuesta inmediata al usuario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responder a cualquier consulta o acción del usuario en menos de 3 segundos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86" name="Google Shape;286;p36"/>
          <p:cNvGraphicFramePr/>
          <p:nvPr/>
        </p:nvGraphicFramePr>
        <p:xfrm>
          <a:off x="1038213" y="7556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RNF03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Seguridad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le permitirá al usuario hacer un 2FA (autenticación de dos factores) y el resguardo de sus datos sensibles mediante encriptación de estos.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contar con autenticación de usuarios y encriptación de datos sensibles como contraseñas y correos.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1" name="Google Shape;291;p37"/>
          <p:cNvGraphicFramePr/>
          <p:nvPr/>
        </p:nvGraphicFramePr>
        <p:xfrm>
          <a:off x="1114413" y="8318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RNF04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Escalabilidad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estará sujeto a constante actualización.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poder adaptarse al crecimiento del número de clientes y usuarios sin pérdida de rendimiento.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96" name="Google Shape;296;p38"/>
          <p:cNvGraphicFramePr/>
          <p:nvPr/>
        </p:nvGraphicFramePr>
        <p:xfrm>
          <a:off x="1038213" y="908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{0BFDD732-6CB3-4486-A282-1A6A930B8240}</a:tableStyleId>
              </a:tblPr>
              <a:tblGrid>
                <a:gridCol w="1374150"/>
                <a:gridCol w="5541000"/>
              </a:tblGrid>
              <a:tr h="574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RNF05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685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Compatibilidad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191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es afín y de fácil acceso desde cualquier navegador web.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  <a:tr h="563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ser accesible desde navegadores web modernos (Chrome, Firefox, Edge).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>
                    <a:solidFill>
                      <a:srgbClr val="CCCCCC"/>
                    </a:solidFill>
                  </a:tcPr>
                </a:tc>
              </a:tr>
              <a:tr h="4796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b="1"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63500" marB="63500" marR="63500" marL="63500"/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1" name="Google Shape;301;p39"/>
          <p:cNvGraphicFramePr/>
          <p:nvPr/>
        </p:nvGraphicFramePr>
        <p:xfrm>
          <a:off x="1276750" y="765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RNF06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Usabilidad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tendrá una interfaz sencilla y clara, pensada para usuarios sin conocimientos técnicos.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La interfaz del sistema debe ser intuitiva y amigable para usuarios sin conocimientos técnicos avanzados.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/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06" name="Google Shape;306;p40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RNF07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Mantenibilidad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código será limpio y modular, permitiendo actualizaciones y correcciones con facilidad.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estar desarrollado con buenas prácticas que permitan su fácil mantenimiento y actualización.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1" name="Google Shape;311;p41"/>
          <p:cNvGraphicFramePr/>
          <p:nvPr/>
        </p:nvGraphicFramePr>
        <p:xfrm>
          <a:off x="1429150" y="11469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RNF08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Respaldo de información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Se harán copias de seguridad automáticas diarias para proteger la base de datos.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realizar respaldos automáticos diarios de la base de datos.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16" name="Google Shape;316;p42"/>
          <p:cNvGraphicFramePr/>
          <p:nvPr/>
        </p:nvGraphicFramePr>
        <p:xfrm>
          <a:off x="1305625" y="3765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65625"/>
                <a:gridCol w="4620075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RNF09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50"/>
                        <a:buFont typeface="Arial"/>
                        <a:buNone/>
                      </a:pPr>
                      <a:r>
                        <a:rPr lang="es-419" sz="1150" u="none" cap="none" strike="noStrike">
                          <a:solidFill>
                            <a:srgbClr val="222222"/>
                          </a:solidFill>
                        </a:rPr>
                        <a:t>confiabilidad 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deberá tener un tiempo de disponibilidad del 99% mensual, evitando caídas prolongadas.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garantizar una alta disponibilidad y funcionamiento continuo, asegurando que los datos procesados y almacenados sean consistentes y libres de errores, minimizando el riesgo de fallos o pérdidas de información durante las operaciones.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120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1" name="Google Shape;321;p43"/>
          <p:cNvGraphicFramePr/>
          <p:nvPr/>
        </p:nvGraphicFramePr>
        <p:xfrm>
          <a:off x="1429150" y="10402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RNF10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Conformidad legal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Cumplirá con la Ley 1581 de 2012, protegiendo los datos personales de los usuarios.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cumplir con las normativas de protección de datos vigentes en Colombia (Ley 1581 de 2012).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5" name="Shape 3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26" name="Google Shape;326;p44"/>
          <p:cNvGraphicFramePr/>
          <p:nvPr/>
        </p:nvGraphicFramePr>
        <p:xfrm>
          <a:off x="1137575" y="1505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{70F236C6-0823-49E8-83AB-CDFFC8197649}</a:tableStyleId>
              </a:tblPr>
              <a:tblGrid>
                <a:gridCol w="1622050"/>
                <a:gridCol w="4663650"/>
              </a:tblGrid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Identificación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RNF11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Nombre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highlight>
                          <a:schemeClr val="dk2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highlight>
                            <a:srgbClr val="B7B7B7"/>
                          </a:highlight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Interoperabilidad</a:t>
                      </a:r>
                      <a:endParaRPr sz="1400" u="none" cap="none" strike="noStrike">
                        <a:highlight>
                          <a:srgbClr val="B7B7B7"/>
                        </a:highlight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Características: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será capaz de comunicarse e intercambiar información de forma segura con la página web adyacente, garantizando la compatibilidad de datos y el uso de estándares abiertos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Descripción del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rPr lang="es-419" sz="1400" u="none" cap="none" strike="noStrike"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El sistema debe permitir la recepción de datos en tiempo real desde una página adyacente (por ejemplo, información de inventario) mediante servicios web o APIs REST. Toda comunicación debe realizarse mediante protocolo HTTPS para proteger la integridad y confidencialidad de la información, y el sistema debe procesar correctamente el 100% de los mensajes válidos recibidos.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B7B7B7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Prioridad de</a:t>
                      </a:r>
                      <a:endParaRPr b="1"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1"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requerimiento:</a:t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es-419" sz="1200" u="none" cap="none" strike="noStrike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Alta</a:t>
                      </a:r>
                      <a:endParaRPr sz="1200" u="none" cap="none" strike="noStrike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400"/>
                        <a:buFont typeface="Arial"/>
                        <a:buNone/>
                      </a:pPr>
                      <a:r>
                        <a:t/>
                      </a:r>
                      <a:endParaRPr sz="1400" u="none" cap="none" strike="noStrike"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p6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354467"/>
            <a:ext cx="9143998" cy="3832814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66"/>
          <p:cNvSpPr txBox="1"/>
          <p:nvPr/>
        </p:nvSpPr>
        <p:spPr>
          <a:xfrm>
            <a:off x="4154550" y="4617575"/>
            <a:ext cx="8349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r>
              <a:rPr b="0" i="0" lang="es-419" sz="1800" u="sng" cap="none" strike="noStrike">
                <a:solidFill>
                  <a:schemeClr val="hlink"/>
                </a:solidFill>
                <a:latin typeface="Arial"/>
                <a:ea typeface="Arial"/>
                <a:cs typeface="Arial"/>
                <a:sym typeface="Arial"/>
                <a:hlinkClick r:id="rId4"/>
              </a:rPr>
              <a:t>LINK</a:t>
            </a:r>
            <a:endParaRPr b="0" i="0" sz="18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67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1800"/>
              <a:t>Modelo entidad relación</a:t>
            </a:r>
            <a:endParaRPr b="1"/>
          </a:p>
        </p:txBody>
      </p:sp>
      <p:sp>
        <p:nvSpPr>
          <p:cNvPr id="338" name="Google Shape;338;p67"/>
          <p:cNvSpPr txBox="1"/>
          <p:nvPr/>
        </p:nvSpPr>
        <p:spPr>
          <a:xfrm>
            <a:off x="1179600" y="4820400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https://drive.google.com/file/d/1OdRn2jJEu6uaRH__xc0IfHEfHp5JtbXy/view?usp=sharing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9" name="Google Shape;339;p6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1700" y="668575"/>
            <a:ext cx="8478949" cy="40473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p68"/>
          <p:cNvSpPr txBox="1"/>
          <p:nvPr>
            <p:ph type="title"/>
          </p:nvPr>
        </p:nvSpPr>
        <p:spPr>
          <a:xfrm>
            <a:off x="311700" y="1986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b="1" lang="es-419" sz="1800"/>
              <a:t>Modelo entidad relación extendido</a:t>
            </a:r>
            <a:endParaRPr b="1"/>
          </a:p>
        </p:txBody>
      </p:sp>
      <p:pic>
        <p:nvPicPr>
          <p:cNvPr id="345" name="Google Shape;345;p6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51125" y="637550"/>
            <a:ext cx="7306899" cy="434900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68"/>
          <p:cNvSpPr txBox="1"/>
          <p:nvPr/>
        </p:nvSpPr>
        <p:spPr>
          <a:xfrm>
            <a:off x="589800" y="4882525"/>
            <a:ext cx="79644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</a:pPr>
            <a:r>
              <a:rPr b="0" i="0" lang="es-419" sz="9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https://drive.google.com/file/d/1onux12qJvwKdPzgZfl-YvKdl1ET0dhKR/view?usp=sharing</a:t>
            </a:r>
            <a:endParaRPr b="0" i="0" sz="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0" name="Shape 3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351;p69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Modelo Relacional</a:t>
            </a:r>
            <a:endParaRPr/>
          </a:p>
        </p:txBody>
      </p:sp>
      <p:pic>
        <p:nvPicPr>
          <p:cNvPr id="352" name="Google Shape;352;p69" title="pronavidmr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9575" y="152400"/>
            <a:ext cx="5492025" cy="47669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p70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58" name="Google Shape;358;p7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1925" y="1084538"/>
            <a:ext cx="7830751" cy="37245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71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64" name="Google Shape;364;p7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63675" y="851475"/>
            <a:ext cx="8621025" cy="40554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72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70" name="Google Shape;370;p7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1076500"/>
            <a:ext cx="8839201" cy="34138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4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Google Shape;375;p73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 </a:t>
            </a:r>
            <a:endParaRPr/>
          </a:p>
        </p:txBody>
      </p:sp>
      <p:pic>
        <p:nvPicPr>
          <p:cNvPr id="376" name="Google Shape;376;p7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52400" y="995425"/>
            <a:ext cx="8839201" cy="414807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74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diccionario base de datos pronavid</a:t>
            </a:r>
            <a:endParaRPr/>
          </a:p>
        </p:txBody>
      </p:sp>
      <p:pic>
        <p:nvPicPr>
          <p:cNvPr id="382" name="Google Shape;382;p7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89400" y="1187475"/>
            <a:ext cx="8839200" cy="367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6" name="Shape 3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7" name="Google Shape;387;p75"/>
          <p:cNvSpPr txBox="1"/>
          <p:nvPr>
            <p:ph type="title"/>
          </p:nvPr>
        </p:nvSpPr>
        <p:spPr>
          <a:xfrm>
            <a:off x="1155200" y="2115300"/>
            <a:ext cx="6491700" cy="912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99301"/>
              <a:buNone/>
            </a:pPr>
            <a:r>
              <a:rPr lang="es-419" sz="3133" u="sng">
                <a:solidFill>
                  <a:schemeClr val="hlink"/>
                </a:solidFill>
                <a:latin typeface="Courier New"/>
                <a:ea typeface="Courier New"/>
                <a:cs typeface="Courier New"/>
                <a:sym typeface="Courier New"/>
                <a:hlinkClick r:id="rId3"/>
              </a:rPr>
              <a:t>link de el diccionario de datos pronavid</a:t>
            </a:r>
            <a:endParaRPr sz="3133"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2" name="Google Shape;392;g36643e952c8_0_6"/>
          <p:cNvSpPr txBox="1"/>
          <p:nvPr>
            <p:ph type="title"/>
          </p:nvPr>
        </p:nvSpPr>
        <p:spPr>
          <a:xfrm>
            <a:off x="303875" y="0"/>
            <a:ext cx="46791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 de clases</a:t>
            </a:r>
            <a:endParaRPr/>
          </a:p>
        </p:txBody>
      </p:sp>
      <p:sp>
        <p:nvSpPr>
          <p:cNvPr id="393" name="Google Shape;393;g36643e952c8_0_6"/>
          <p:cNvSpPr txBox="1"/>
          <p:nvPr/>
        </p:nvSpPr>
        <p:spPr>
          <a:xfrm>
            <a:off x="89700" y="4804800"/>
            <a:ext cx="87768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u="sng">
                <a:solidFill>
                  <a:schemeClr val="hlink"/>
                </a:solidFill>
                <a:hlinkClick r:id="rId3"/>
              </a:rPr>
              <a:t>https://drive.google.com/file/d/1Up_qrGYxYm0fThy6k7KZK653tgKAGRaX/view?usp=sharing</a:t>
            </a:r>
            <a:endParaRPr sz="1000"/>
          </a:p>
        </p:txBody>
      </p:sp>
      <p:pic>
        <p:nvPicPr>
          <p:cNvPr id="394" name="Google Shape;394;g36643e952c8_0_6" title="Diagrama 3.0.drawio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71825" y="663700"/>
            <a:ext cx="6036260" cy="3927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6642fba92e_0_0"/>
          <p:cNvSpPr txBox="1"/>
          <p:nvPr>
            <p:ph type="title"/>
          </p:nvPr>
        </p:nvSpPr>
        <p:spPr>
          <a:xfrm>
            <a:off x="363675" y="0"/>
            <a:ext cx="2983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</a:t>
            </a:r>
            <a:endParaRPr/>
          </a:p>
        </p:txBody>
      </p:sp>
      <p:sp>
        <p:nvSpPr>
          <p:cNvPr id="400" name="Google Shape;400;g36642fba92e_0_0"/>
          <p:cNvSpPr txBox="1"/>
          <p:nvPr/>
        </p:nvSpPr>
        <p:spPr>
          <a:xfrm>
            <a:off x="231725" y="3745475"/>
            <a:ext cx="3000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u="sng">
                <a:solidFill>
                  <a:schemeClr val="hlink"/>
                </a:solidFill>
                <a:hlinkClick r:id="rId3"/>
              </a:rPr>
              <a:t>https://drive.google.com/file/d/1F4_22_oA_h1r7fPFinY5QEBbGVYGVoY0/view?usp=sharing</a:t>
            </a:r>
            <a:endParaRPr sz="1000"/>
          </a:p>
        </p:txBody>
      </p:sp>
      <p:pic>
        <p:nvPicPr>
          <p:cNvPr id="401" name="Google Shape;401;g36642fba92e_0_0" title="Pronavid(Casos de uso)-Página-1.drawio (1)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84925" y="152400"/>
            <a:ext cx="5111355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6642fba92e_0_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07" name="Google Shape;407;g36642fba92e_0_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7350" y="647450"/>
            <a:ext cx="4196437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08" name="Google Shape;408;g36642fba92e_0_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31137" y="647450"/>
            <a:ext cx="386566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6642fba92e_0_3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14" name="Google Shape;414;g36642fba92e_0_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50" y="612925"/>
            <a:ext cx="3823135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15" name="Google Shape;415;g36642fba92e_0_3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920410" y="612925"/>
            <a:ext cx="3522707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9" name="Shape 4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0" name="Google Shape;420;g36642fba92e_0_4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21" name="Google Shape;421;g36642fba92e_0_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50"/>
            <a:ext cx="3633793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g36642fba92e_0_4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022593" y="799850"/>
            <a:ext cx="3539278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6" name="Shape 4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7" name="Google Shape;427;g36642fba92e_0_4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28" name="Google Shape;428;g36642fba92e_0_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54250" y="647450"/>
            <a:ext cx="3410528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29" name="Google Shape;429;g36642fba92e_0_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54503" y="647450"/>
            <a:ext cx="3317858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36642fba92e_0_4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35" name="Google Shape;435;g36642fba92e_0_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61725" y="695200"/>
            <a:ext cx="3624423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36" name="Google Shape;436;g36642fba92e_0_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744098" y="695200"/>
            <a:ext cx="3324989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0" name="Shape 4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1" name="Google Shape;441;g36642fba92e_0_53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42" name="Google Shape;442;g36642fba92e_0_5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50"/>
            <a:ext cx="3893807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43" name="Google Shape;443;g36642fba92e_0_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03282" y="799850"/>
            <a:ext cx="4331496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g36642fba92e_0_5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49" name="Google Shape;449;g36642fba92e_0_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700" y="647450"/>
            <a:ext cx="4495768" cy="4191252"/>
          </a:xfrm>
          <a:prstGeom prst="rect">
            <a:avLst/>
          </a:prstGeom>
          <a:noFill/>
          <a:ln>
            <a:noFill/>
          </a:ln>
        </p:spPr>
      </p:pic>
      <p:pic>
        <p:nvPicPr>
          <p:cNvPr id="450" name="Google Shape;450;g36642fba92e_0_5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5543" y="682250"/>
            <a:ext cx="4123732" cy="415646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g36642fba92e_0_6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56" name="Google Shape;456;g36642fba92e_0_6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5" y="590525"/>
            <a:ext cx="4425648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57" name="Google Shape;457;g36642fba92e_0_6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95023" y="732550"/>
            <a:ext cx="4281627" cy="414422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6642fba92e_0_7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63" name="Google Shape;463;g36642fba92e_0_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00" y="647450"/>
            <a:ext cx="4130824" cy="41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64" name="Google Shape;464;g36642fba92e_0_7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95449" y="710150"/>
            <a:ext cx="4164621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8" name="Shape 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9" name="Google Shape;469;g36642fba92e_0_8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70" name="Google Shape;470;g36642fba92e_0_8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800" y="647450"/>
            <a:ext cx="4290778" cy="41912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71" name="Google Shape;471;g36642fba92e_0_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2978" y="647450"/>
            <a:ext cx="425288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g36642fba92e_0_8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77" name="Google Shape;477;g36642fba92e_0_8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625" y="680225"/>
            <a:ext cx="4030048" cy="41912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78" name="Google Shape;478;g36642fba92e_0_8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09598" y="717625"/>
            <a:ext cx="4046916" cy="41912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2" name="Shape 4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3" name="Google Shape;483;g36642fba92e_0_89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84" name="Google Shape;484;g36642fba92e_0_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75" y="680225"/>
            <a:ext cx="4095612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85" name="Google Shape;485;g36642fba92e_0_8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687" y="799850"/>
            <a:ext cx="4213280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9" name="Shape 4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Google Shape;490;g36642fba92e_0_111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91" name="Google Shape;491;g36642fba92e_0_1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799850"/>
            <a:ext cx="4514083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492" name="Google Shape;492;g36642fba92e_0_11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18883" y="799850"/>
            <a:ext cx="4172717" cy="41029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6" name="Shape 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7" name="Google Shape;497;g36642fba92e_0_117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498" name="Google Shape;498;g36642fba92e_0_1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1925" y="702675"/>
            <a:ext cx="4481070" cy="4191249"/>
          </a:xfrm>
          <a:prstGeom prst="rect">
            <a:avLst/>
          </a:prstGeom>
          <a:noFill/>
          <a:ln>
            <a:noFill/>
          </a:ln>
        </p:spPr>
      </p:pic>
      <p:sp>
        <p:nvSpPr>
          <p:cNvPr id="499" name="Google Shape;499;g36642fba92e_0_117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u="sng">
                <a:solidFill>
                  <a:schemeClr val="hlink"/>
                </a:solidFill>
                <a:hlinkClick r:id="rId4"/>
              </a:rPr>
              <a:t>https://docs.google.com/document/d/1UXrVUhVzdxVRxnV5ZT91uQmsiAuR6h5l/edit?usp=sharing&amp;ouid=100583172839135054193&amp;rtpof=true&amp;sd=true</a:t>
            </a:r>
            <a:endParaRPr sz="1000"/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3" name="Shape 5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4" name="Google Shape;504;g36642fba92e_0_105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Casos de uso extendido</a:t>
            </a:r>
            <a:endParaRPr/>
          </a:p>
        </p:txBody>
      </p:sp>
      <p:pic>
        <p:nvPicPr>
          <p:cNvPr id="505" name="Google Shape;505;g36642fba92e_0_10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19675" y="680225"/>
            <a:ext cx="4095612" cy="4191251"/>
          </a:xfrm>
          <a:prstGeom prst="rect">
            <a:avLst/>
          </a:prstGeom>
          <a:noFill/>
          <a:ln>
            <a:noFill/>
          </a:ln>
        </p:spPr>
      </p:pic>
      <p:pic>
        <p:nvPicPr>
          <p:cNvPr id="506" name="Google Shape;506;g36642fba92e_0_10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67687" y="799850"/>
            <a:ext cx="4213280" cy="419124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0" name="Shape 5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1" name="Google Shape;511;g6b253f3e46e25224_0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Fichas técnicas </a:t>
            </a:r>
            <a:endParaRPr/>
          </a:p>
        </p:txBody>
      </p:sp>
      <p:sp>
        <p:nvSpPr>
          <p:cNvPr id="512" name="Google Shape;512;g6b253f3e46e25224_0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sz="1000" u="sng">
                <a:solidFill>
                  <a:schemeClr val="hlink"/>
                </a:solidFill>
                <a:hlinkClick r:id="rId3"/>
              </a:rPr>
              <a:t>https://docs.google.com/spreadsheets/u/0/d/1lsQQl8S254rgy8gh50jahIwvLu9-TH7C/htmlview</a:t>
            </a:r>
            <a:endParaRPr sz="1000"/>
          </a:p>
        </p:txBody>
      </p:sp>
      <p:pic>
        <p:nvPicPr>
          <p:cNvPr id="513" name="Google Shape;513;g6b253f3e46e25224_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2400" y="799850"/>
            <a:ext cx="8267973" cy="3852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7" name="Shape 5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8" name="Google Shape;518;g366474c7a81_0_0"/>
          <p:cNvSpPr txBox="1"/>
          <p:nvPr>
            <p:ph type="title"/>
          </p:nvPr>
        </p:nvSpPr>
        <p:spPr>
          <a:xfrm>
            <a:off x="131925" y="74750"/>
            <a:ext cx="59088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ct val="111111"/>
              <a:buNone/>
            </a:pPr>
            <a:r>
              <a:rPr lang="es-419"/>
              <a:t>diagrama de despliegue</a:t>
            </a:r>
            <a:endParaRPr/>
          </a:p>
        </p:txBody>
      </p:sp>
      <p:sp>
        <p:nvSpPr>
          <p:cNvPr id="519" name="Google Shape;519;g366474c7a81_0_0"/>
          <p:cNvSpPr txBox="1"/>
          <p:nvPr/>
        </p:nvSpPr>
        <p:spPr>
          <a:xfrm>
            <a:off x="22950" y="4804800"/>
            <a:ext cx="9098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pic>
        <p:nvPicPr>
          <p:cNvPr id="520" name="Google Shape;520;g366474c7a81_0_0" title="Diagrama de despliegue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602400" y="947450"/>
            <a:ext cx="8839201" cy="2535441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g366474c7a81_0_0"/>
          <p:cNvSpPr txBox="1"/>
          <p:nvPr/>
        </p:nvSpPr>
        <p:spPr>
          <a:xfrm>
            <a:off x="0" y="4066775"/>
            <a:ext cx="30000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-419" u="sng">
                <a:solidFill>
                  <a:schemeClr val="hlink"/>
                </a:solidFill>
                <a:hlinkClick r:id="rId4"/>
              </a:rPr>
              <a:t>Link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
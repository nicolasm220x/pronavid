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83" roundtripDataSignature="AMtx7mjUgVeioOkEmMJ66ss0SnFw1OzT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80606C0-EEEC-49F8-A7C8-D43241E0F128}">
  <a:tblStyle styleId="{F80606C0-EEEC-49F8-A7C8-D43241E0F12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08115DBD-F188-4546-ACA5-2C52338B517F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3" Type="http://customschemas.google.com/relationships/presentationmetadata" Target="metadata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68a5b320b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68a5b320b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68a5b320b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68a5b320b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68a5b320b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68a5b320b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68a5b320b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68a5b320b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6643e952c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g36643e952c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6642fba92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g36642fba9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6642fba92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g36642fba92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6642fba92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g36642fba92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6642fba92e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g36642fba92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6642fba92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g36642fba92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6642fba92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g36642fba92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6642fba92e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g36642fba92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6642fba92e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g36642fba92e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6642fba92e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g36642fba92e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6642fba92e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g36642fba92e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6642fba92e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g36642fba92e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6642fba92e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g36642fba92e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6642fba92e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g36642fba92e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6642fba92e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0" name="Google Shape;510;g36642fba92e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6642fba92e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g36642fba92e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6642fba92e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4" name="Google Shape;524;g36642fba92e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6b253f3e46e2522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" name="Google Shape;531;g6b253f3e46e2522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66474c7a8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8" name="Google Shape;538;g366474c7a8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7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7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8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8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8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8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8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8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8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8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8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Relationship Id="rId4" Type="http://schemas.openxmlformats.org/officeDocument/2006/relationships/image" Target="../media/image6.jpg"/><Relationship Id="rId5" Type="http://schemas.openxmlformats.org/officeDocument/2006/relationships/image" Target="../media/image1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ocs.google.com/forms/d/e/1FAIpQLSdm0l6DoFSsKgOwhQhKWB0ZliHal31-0OVelrCrDQT7iUvXXw/viewform?usp=header" TargetMode="External"/><Relationship Id="rId4" Type="http://schemas.openxmlformats.org/officeDocument/2006/relationships/image" Target="../media/image15.jpg"/><Relationship Id="rId5" Type="http://schemas.openxmlformats.org/officeDocument/2006/relationships/image" Target="../media/image4.jpg"/><Relationship Id="rId6" Type="http://schemas.openxmlformats.org/officeDocument/2006/relationships/image" Target="../media/image1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Relationship Id="rId4" Type="http://schemas.openxmlformats.org/officeDocument/2006/relationships/image" Target="../media/image10.jpg"/><Relationship Id="rId5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cs.google.com/forms/d/e/1FAIpQLSftLaRVAAo66gklueiwOyMRtcFkgAFqLOk_gS0zpw7TVIlroQ/viewform?usp=header" TargetMode="External"/><Relationship Id="rId4" Type="http://schemas.openxmlformats.org/officeDocument/2006/relationships/image" Target="../media/image12.jpg"/><Relationship Id="rId5" Type="http://schemas.openxmlformats.org/officeDocument/2006/relationships/image" Target="../media/image18.jpg"/><Relationship Id="rId6" Type="http://schemas.openxmlformats.org/officeDocument/2006/relationships/image" Target="../media/image3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ocs.google.com/forms/d/e/1FAIpQLSftLaRVAAo66gklueiwOyMRtcFkgAFqLOk_gS0zpw7TVIlroQ/viewform?usp=header" TargetMode="External"/><Relationship Id="rId4" Type="http://schemas.openxmlformats.org/officeDocument/2006/relationships/image" Target="../media/image2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hyperlink" Target="https://drive.google.com/file/d/1GBWsyjFs3G84wBQP-weJfx9TsVpFAjUD/view?usp=drive_link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3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3.png"/><Relationship Id="rId4" Type="http://schemas.openxmlformats.org/officeDocument/2006/relationships/hyperlink" Target="https://drive.google.com/drive/folders/1EBwAUDAvmIZQ4Ammexd5fReLHM30c8OB?usp=sharing" TargetMode="Externa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8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1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7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3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4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0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1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hyperlink" Target="https://drive.google.com/file/d/1im9Q0Z9ycHcYZ1vVQBu_9n9ZD8KjJHav/view?usp=drive_link" TargetMode="Externa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hyperlink" Target="https://drive.google.com/file/d/17mvs5Jxi_PLPu__goygW4gtkRbhTlNUm/view?usp=drive_link" TargetMode="External"/><Relationship Id="rId4" Type="http://schemas.openxmlformats.org/officeDocument/2006/relationships/image" Target="../media/image67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hyperlink" Target="https://drive.google.com/file/d/1F4_22_oA_h1r7fPFinY5QEBbGVYGVoY0/view?usp=sharing" TargetMode="External"/><Relationship Id="rId4" Type="http://schemas.openxmlformats.org/officeDocument/2006/relationships/image" Target="../media/image68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5.png"/><Relationship Id="rId4" Type="http://schemas.openxmlformats.org/officeDocument/2006/relationships/image" Target="../media/image29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2.png"/><Relationship Id="rId4" Type="http://schemas.openxmlformats.org/officeDocument/2006/relationships/image" Target="../media/image47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1.png"/><Relationship Id="rId4" Type="http://schemas.openxmlformats.org/officeDocument/2006/relationships/image" Target="../media/image35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50.png"/><Relationship Id="rId4" Type="http://schemas.openxmlformats.org/officeDocument/2006/relationships/image" Target="../media/image38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9.png"/><Relationship Id="rId4" Type="http://schemas.openxmlformats.org/officeDocument/2006/relationships/image" Target="../media/image34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40.png"/><Relationship Id="rId4" Type="http://schemas.openxmlformats.org/officeDocument/2006/relationships/image" Target="../media/image66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54.png"/><Relationship Id="rId4" Type="http://schemas.openxmlformats.org/officeDocument/2006/relationships/image" Target="../media/image42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43.png"/><Relationship Id="rId4" Type="http://schemas.openxmlformats.org/officeDocument/2006/relationships/image" Target="../media/image65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0.png"/><Relationship Id="rId4" Type="http://schemas.openxmlformats.org/officeDocument/2006/relationships/image" Target="../media/image63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56.png"/><Relationship Id="rId4" Type="http://schemas.openxmlformats.org/officeDocument/2006/relationships/image" Target="../media/image48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45.png"/><Relationship Id="rId4" Type="http://schemas.openxmlformats.org/officeDocument/2006/relationships/image" Target="../media/image51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62.png"/><Relationship Id="rId4" Type="http://schemas.openxmlformats.org/officeDocument/2006/relationships/image" Target="../media/image53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58.png"/><Relationship Id="rId4" Type="http://schemas.openxmlformats.org/officeDocument/2006/relationships/hyperlink" Target="https://docs.google.com/document/d/1UXrVUhVzdxVRxnV5ZT91uQmsiAuR6h5l/edit?usp=sharing&amp;ouid=100583172839135054193&amp;rtpof=true&amp;sd=true" TargetMode="Externa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45.png"/><Relationship Id="rId4" Type="http://schemas.openxmlformats.org/officeDocument/2006/relationships/image" Target="../media/image51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hyperlink" Target="https://docs.google.com/spreadsheets/u/0/d/1lsQQl8S254rgy8gh50jahIwvLu9-TH7C/htmlview" TargetMode="External"/><Relationship Id="rId4" Type="http://schemas.openxmlformats.org/officeDocument/2006/relationships/image" Target="../media/image57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hyperlink" Target="https://drive.google.com/file/d/1rpDd3QqP_y2j7dSx688OtYAElwMr50pw/view?usp=sharing" TargetMode="External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41275" y="2229550"/>
            <a:ext cx="8520600" cy="12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262626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218523"/>
              <a:buNone/>
            </a:pPr>
            <a:r>
              <a:rPr b="1" lang="es-419" sz="2644">
                <a:latin typeface="Times New Roman"/>
                <a:ea typeface="Times New Roman"/>
                <a:cs typeface="Times New Roman"/>
                <a:sym typeface="Times New Roman"/>
              </a:rPr>
              <a:t>Industrias Alimenticias Pronavid S.A.S</a:t>
            </a:r>
            <a:endParaRPr b="1" sz="2644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218523"/>
              <a:buNone/>
            </a:pPr>
            <a:r>
              <a:rPr b="1" lang="es-419" sz="2644">
                <a:latin typeface="Times New Roman"/>
                <a:ea typeface="Times New Roman"/>
                <a:cs typeface="Times New Roman"/>
                <a:sym typeface="Times New Roman"/>
              </a:rPr>
              <a:t>Gestión de ventas</a:t>
            </a:r>
            <a:endParaRPr b="1" sz="2644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351446"/>
              <a:buNone/>
            </a:pPr>
            <a:r>
              <a:t/>
            </a:r>
            <a:endParaRPr b="1" sz="1644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922825"/>
            <a:ext cx="8520600" cy="14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es-419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419" sz="2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Jhon Alexander Merchan Trujillo</a:t>
            </a:r>
            <a:br>
              <a:rPr lang="es-419" sz="2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s-419" sz="2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Juan Sebastián Espinosa Misas</a:t>
            </a:r>
            <a:br>
              <a:rPr lang="es-419" sz="2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s-419" sz="2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Juan Benjamín Santos Gonzales</a:t>
            </a:r>
            <a:br>
              <a:rPr lang="es-419" sz="2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s-419" sz="2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Jhosuaht Julián Rojas Castañeda</a:t>
            </a:r>
            <a:endParaRPr sz="25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" name="Google Shape;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1625" y="2845825"/>
            <a:ext cx="4681274" cy="156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71325" y="179125"/>
            <a:ext cx="751575" cy="73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/>
          <p:nvPr>
            <p:ph type="title"/>
          </p:nvPr>
        </p:nvSpPr>
        <p:spPr>
          <a:xfrm>
            <a:off x="311700" y="4305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55699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AutoNum type="arabicPeriod"/>
            </a:pPr>
            <a:r>
              <a:rPr b="1" lang="es-419" sz="2222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Planteamiento problema</a:t>
            </a:r>
            <a:endParaRPr b="1" sz="2222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2"/>
          <p:cNvSpPr txBox="1"/>
          <p:nvPr>
            <p:ph idx="1" type="body"/>
          </p:nvPr>
        </p:nvSpPr>
        <p:spPr>
          <a:xfrm>
            <a:off x="311700" y="10911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22033"/>
              <a:buNone/>
            </a:pPr>
            <a:r>
              <a:rPr lang="es-419" sz="5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Industrias Alimenticias Pronavid S.A.S., ubicada en la localidad de Kennedy (Bogotá), y dedicada a la fabricación y comercialización de productos como cereales, galletas y turrones, presenta deficiencias significativas en la gestión de su proceso de ventas. Actualmente, esta gestión se realiza de forma manual mediante herramientas dispersas como hojas de cálculo, llamadas telefónicas y mensajes por WhatsApp.</a:t>
            </a:r>
            <a:endParaRPr sz="5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22033"/>
              <a:buNone/>
            </a:pPr>
            <a:r>
              <a:rPr lang="es-419" sz="5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Esta forma de operación ha generado múltiples inconvenientes, tales como:</a:t>
            </a:r>
            <a:endParaRPr sz="5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226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s-419" sz="5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Errores frecuentes en el registro de pedidos y cotizaciones.</a:t>
            </a:r>
            <a:br>
              <a:rPr lang="es-419" sz="5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5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226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s-419" sz="5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Pérdida de información comercial relevante.</a:t>
            </a:r>
            <a:br>
              <a:rPr lang="es-419" sz="5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5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226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s-419" sz="5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Ausencia de trazabilidad en el estado de los pedidos.</a:t>
            </a:r>
            <a:endParaRPr sz="5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22033"/>
              <a:buNone/>
            </a:pPr>
            <a:r>
              <a:t/>
            </a:r>
            <a:endParaRPr sz="5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22033"/>
              <a:buNone/>
            </a:pPr>
            <a:r>
              <a:rPr lang="es-419" sz="5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Estas falencias afectan directamente la eficiencia operativa, la toma de decisiones comerciales y la fidelización de clientes, lo cual limita el crecimiento de la empresa.</a:t>
            </a:r>
            <a:endParaRPr sz="5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22033"/>
              <a:buNone/>
            </a:pPr>
            <a:r>
              <a:t/>
            </a:r>
            <a:endParaRPr sz="5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5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b="1" sz="5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ct val="91666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64" name="Google Shape;6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1325" y="179125"/>
            <a:ext cx="751575" cy="73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/>
          <p:nvPr>
            <p:ph type="title"/>
          </p:nvPr>
        </p:nvSpPr>
        <p:spPr>
          <a:xfrm>
            <a:off x="311700" y="260200"/>
            <a:ext cx="3068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1250"/>
              <a:buFont typeface="Arial"/>
              <a:buNone/>
            </a:pPr>
            <a:r>
              <a:rPr b="1" lang="es-419" sz="2666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2. Pregunta problema</a:t>
            </a:r>
            <a:endParaRPr b="1" sz="2666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3"/>
          <p:cNvSpPr txBox="1"/>
          <p:nvPr>
            <p:ph idx="1" type="body"/>
          </p:nvPr>
        </p:nvSpPr>
        <p:spPr>
          <a:xfrm>
            <a:off x="311700" y="1292250"/>
            <a:ext cx="3970800" cy="28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243243"/>
              <a:buNone/>
            </a:pPr>
            <a:r>
              <a:rPr lang="es-41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¿Por qué un sistema de información interno orientado a la gestión de ventas, dependiente del inventario y el registro de clientes de la empresa, puede optimizar el proceso comercial de Industrias Alimenticias Pronavid S.A.S. al permitir controlar cotizaciones, pedidos e historial de ventas, mejorando la eficiencia operativa y la toma de decisiones?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62162"/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1" name="Google Shape;7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1325" y="179125"/>
            <a:ext cx="751575" cy="73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2500" y="1390438"/>
            <a:ext cx="4776400" cy="236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 txBox="1"/>
          <p:nvPr>
            <p:ph type="title"/>
          </p:nvPr>
        </p:nvSpPr>
        <p:spPr>
          <a:xfrm>
            <a:off x="311700" y="4305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3. Objetivo general</a:t>
            </a:r>
            <a:endParaRPr b="1" sz="2000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4"/>
          <p:cNvSpPr txBox="1"/>
          <p:nvPr>
            <p:ph idx="1" type="body"/>
          </p:nvPr>
        </p:nvSpPr>
        <p:spPr>
          <a:xfrm>
            <a:off x="252000" y="1221500"/>
            <a:ext cx="4320000" cy="28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09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Complementar la página web de pronavid con un sistema de información interno para la gestión de ventas en Industrias Alimenticias Pronavid S.A.S., que permita registrar cotizaciones y pedidos, controlar su estado y generar reportes comerciales básicos, con el fin de optimizar el proceso de ventas y facilitar la toma de decisiones basada en datos.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08107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9" name="Google Shape;7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1325" y="179125"/>
            <a:ext cx="751575" cy="73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1900" y="899275"/>
            <a:ext cx="3835475" cy="3704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"/>
          <p:cNvSpPr txBox="1"/>
          <p:nvPr>
            <p:ph type="title"/>
          </p:nvPr>
        </p:nvSpPr>
        <p:spPr>
          <a:xfrm>
            <a:off x="3095250" y="260200"/>
            <a:ext cx="2953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-419" sz="2020">
                <a:latin typeface="Times New Roman"/>
                <a:ea typeface="Times New Roman"/>
                <a:cs typeface="Times New Roman"/>
                <a:sym typeface="Times New Roman"/>
              </a:rPr>
              <a:t>4. Objetivos específicos</a:t>
            </a:r>
            <a:endParaRPr b="1" sz="20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6" name="Google Shape;8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1325" y="179125"/>
            <a:ext cx="751575" cy="7348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5"/>
          <p:cNvSpPr txBox="1"/>
          <p:nvPr>
            <p:ph type="title"/>
          </p:nvPr>
        </p:nvSpPr>
        <p:spPr>
          <a:xfrm>
            <a:off x="-100" y="796600"/>
            <a:ext cx="9144000" cy="43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27879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48769"/>
              <a:buChar char="●"/>
            </a:pPr>
            <a:r>
              <a:rPr lang="es-419" sz="1795">
                <a:latin typeface="Times New Roman"/>
                <a:ea typeface="Times New Roman"/>
                <a:cs typeface="Times New Roman"/>
                <a:sym typeface="Times New Roman"/>
              </a:rPr>
              <a:t>Registrar de manera estructurada las cotizaciones y pedidos realizados por los clientes.</a:t>
            </a:r>
            <a:br>
              <a:rPr lang="es-419" sz="1795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9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879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48769"/>
              <a:buChar char="●"/>
            </a:pPr>
            <a:r>
              <a:rPr lang="es-419" sz="1795">
                <a:latin typeface="Times New Roman"/>
                <a:ea typeface="Times New Roman"/>
                <a:cs typeface="Times New Roman"/>
                <a:sym typeface="Times New Roman"/>
              </a:rPr>
              <a:t>Controlar el estado de los pedidos (pendiente, en proceso, entregado o cancelado).</a:t>
            </a:r>
            <a:br>
              <a:rPr lang="es-419" sz="1795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9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879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48769"/>
              <a:buChar char="●"/>
            </a:pPr>
            <a:r>
              <a:rPr lang="es-419" sz="1795">
                <a:latin typeface="Times New Roman"/>
                <a:ea typeface="Times New Roman"/>
                <a:cs typeface="Times New Roman"/>
                <a:sym typeface="Times New Roman"/>
              </a:rPr>
              <a:t>Visualizar el historial de compras y pedidos por cliente.</a:t>
            </a:r>
            <a:br>
              <a:rPr lang="es-419" sz="1795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9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879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48769"/>
              <a:buChar char="●"/>
            </a:pPr>
            <a:r>
              <a:rPr lang="es-419" sz="1795">
                <a:latin typeface="Times New Roman"/>
                <a:ea typeface="Times New Roman"/>
                <a:cs typeface="Times New Roman"/>
                <a:sym typeface="Times New Roman"/>
              </a:rPr>
              <a:t>Generar reportes básicos de ventas, como productos más vendidos o clientes frecuentes.</a:t>
            </a:r>
            <a:br>
              <a:rPr lang="es-419" sz="1795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9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879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48769"/>
              <a:buChar char="●"/>
            </a:pPr>
            <a:r>
              <a:rPr lang="es-419" sz="1795">
                <a:latin typeface="Times New Roman"/>
                <a:ea typeface="Times New Roman"/>
                <a:cs typeface="Times New Roman"/>
                <a:sym typeface="Times New Roman"/>
              </a:rPr>
              <a:t>Implementar autenticación por roles (asesor comercial y administrador) para garantizar la seguridad del acceso.</a:t>
            </a:r>
            <a:br>
              <a:rPr lang="es-419" sz="1795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9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879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48769"/>
              <a:buChar char="●"/>
            </a:pPr>
            <a:r>
              <a:rPr lang="es-419" sz="1795">
                <a:latin typeface="Times New Roman"/>
                <a:ea typeface="Times New Roman"/>
                <a:cs typeface="Times New Roman"/>
                <a:sym typeface="Times New Roman"/>
              </a:rPr>
              <a:t>Integrar el sistema con los datos del inventario de la empresa para consultar productos disponibles sin gestionarlos directamente.</a:t>
            </a:r>
            <a:endParaRPr sz="179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54015"/>
              <a:buNone/>
            </a:pPr>
            <a:r>
              <a:t/>
            </a:r>
            <a:endParaRPr sz="20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49009"/>
              <a:buNone/>
            </a:pPr>
            <a:r>
              <a:t/>
            </a:r>
            <a:endParaRPr b="1" sz="20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"/>
          <p:cNvSpPr txBox="1"/>
          <p:nvPr>
            <p:ph type="title"/>
          </p:nvPr>
        </p:nvSpPr>
        <p:spPr>
          <a:xfrm>
            <a:off x="229600" y="4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-419" sz="2000">
                <a:highlight>
                  <a:srgbClr val="FFFFFF"/>
                </a:highlight>
              </a:rPr>
              <a:t>5. Justificación </a:t>
            </a:r>
            <a:endParaRPr b="1" sz="2000"/>
          </a:p>
        </p:txBody>
      </p:sp>
      <p:sp>
        <p:nvSpPr>
          <p:cNvPr id="93" name="Google Shape;93;p6"/>
          <p:cNvSpPr txBox="1"/>
          <p:nvPr>
            <p:ph idx="1" type="body"/>
          </p:nvPr>
        </p:nvSpPr>
        <p:spPr>
          <a:xfrm>
            <a:off x="147600" y="1108600"/>
            <a:ext cx="8996400" cy="31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-419" sz="7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Actualmente, Industrias Alimenticias Pronavid S.A.S. carece de un sistema automatizado que le permita gestionar de forma eficiente y segura su proceso de ventas. El uso de herramientas manuales ha ocasionado errores frecuentes, pérdida de información, retrasos en la atención al cliente y una limitada capacidad para analizar datos comerciales.</a:t>
            </a:r>
            <a:endParaRPr sz="7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-419" sz="7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implementación de un sistema de información interno, con enfoque en la gestión de ventas y dependiente del inventario como fuente de datos para los productos ofrecidos, permitirá centralizar el registro de pedidos y cotizaciones, mejorar el seguimiento de las ventas, generar reportes útiles, y brindar soporte a las decisiones estratégicas de la empresa. Al ser de uso exclusivo para personal autorizado (asesores y administradores), se garantiza un entorno controlado, seguro y adaptado a las necesidades específicas del área comercial.</a:t>
            </a:r>
            <a:endParaRPr sz="7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7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7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09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09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09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09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94" name="Google Shape;9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1325" y="179125"/>
            <a:ext cx="751575" cy="73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"/>
          <p:cNvSpPr txBox="1"/>
          <p:nvPr>
            <p:ph type="title"/>
          </p:nvPr>
        </p:nvSpPr>
        <p:spPr>
          <a:xfrm>
            <a:off x="598600" y="736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6. </a:t>
            </a:r>
            <a:r>
              <a:rPr b="1"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Alcance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4957275" y="1309600"/>
            <a:ext cx="3810900" cy="3617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419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sistema estará limitado a uso interno del personal comercial, sin incluir pagos electrónicos, facturación automática, portal de compras para clientes externos, integración con las áreas de producción, finanzas o logística, ni un sistema completo de inventario, y su disponibilidad será exclusivamente en versión web.</a:t>
            </a:r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262750" y="1309600"/>
            <a:ext cx="4309200" cy="3617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br>
              <a:rPr b="0" i="0" lang="es-419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7"/>
          <p:cNvSpPr txBox="1"/>
          <p:nvPr/>
        </p:nvSpPr>
        <p:spPr>
          <a:xfrm>
            <a:off x="5960625" y="1812400"/>
            <a:ext cx="2018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419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Delimitación</a:t>
            </a:r>
            <a:endParaRPr b="0" i="0" sz="2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7"/>
          <p:cNvSpPr txBox="1"/>
          <p:nvPr/>
        </p:nvSpPr>
        <p:spPr>
          <a:xfrm>
            <a:off x="1838650" y="1606675"/>
            <a:ext cx="1157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419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Alcance</a:t>
            </a:r>
            <a:endParaRPr b="0" i="0" sz="2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7"/>
          <p:cNvSpPr txBox="1"/>
          <p:nvPr>
            <p:ph type="title"/>
          </p:nvPr>
        </p:nvSpPr>
        <p:spPr>
          <a:xfrm>
            <a:off x="5583150" y="683450"/>
            <a:ext cx="2018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7. </a:t>
            </a:r>
            <a:r>
              <a:rPr b="1"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Delimitación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5" name="Google Shape;10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1325" y="179125"/>
            <a:ext cx="751575" cy="73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7"/>
          <p:cNvSpPr txBox="1"/>
          <p:nvPr/>
        </p:nvSpPr>
        <p:spPr>
          <a:xfrm>
            <a:off x="385900" y="2272975"/>
            <a:ext cx="4062900" cy="20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419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sistema de información interno estará orientado a la gestión del proceso de ventas en Industrias Alimenticias Pronavid S.A.S., incluyendo el registro de cotizaciones y pedidos, seguimiento de pedido, historial de compras por cliente, generación de reportes básicos y autenticación de usuarios internos (asesores y administradores), con almacenamiento de datos en servidores locales o en la nube de la propia empresa (dependiendo los recursos ). El proyecto se desarrollará e implementará progresivamente en un plazo estimado de seis (6) a siete (7) trimestres.</a:t>
            </a:r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/>
          <p:nvPr>
            <p:ph type="title"/>
          </p:nvPr>
        </p:nvSpPr>
        <p:spPr>
          <a:xfrm>
            <a:off x="0" y="-821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8. Técnicas e instrumentos de recolección (Asesor )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2" name="Google Shape;11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575" y="397700"/>
            <a:ext cx="3041025" cy="2961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56600" y="397696"/>
            <a:ext cx="3041036" cy="2961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02975" y="397700"/>
            <a:ext cx="3041026" cy="3223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"/>
          <p:cNvSpPr txBox="1"/>
          <p:nvPr>
            <p:ph type="title"/>
          </p:nvPr>
        </p:nvSpPr>
        <p:spPr>
          <a:xfrm>
            <a:off x="0" y="-821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8. Técnicas e instrumentos de recolección (asesor)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9"/>
          <p:cNvSpPr txBox="1"/>
          <p:nvPr>
            <p:ph idx="1" type="body"/>
          </p:nvPr>
        </p:nvSpPr>
        <p:spPr>
          <a:xfrm>
            <a:off x="384475" y="364200"/>
            <a:ext cx="4992300" cy="47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br>
              <a:rPr lang="es-419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982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982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br>
              <a:rPr lang="es-419" sz="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71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68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68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9"/>
          <p:cNvSpPr txBox="1"/>
          <p:nvPr/>
        </p:nvSpPr>
        <p:spPr>
          <a:xfrm>
            <a:off x="445875" y="3641950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s-419" sz="9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https://docs.google.com/forms/d/e/1FAIpQLSdm0l6DoFSsKgOwhQhKWB0ZliHal31-0OVelrCrDQT7iUvXXw/viewform?usp=header</a:t>
            </a:r>
            <a:endParaRPr b="0" i="1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64200"/>
            <a:ext cx="2995251" cy="290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74375" y="355400"/>
            <a:ext cx="2995251" cy="291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625" y="437450"/>
            <a:ext cx="3074376" cy="275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8. Técnicas e instrumentos de recolección (Administrador)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10"/>
          <p:cNvSpPr txBox="1"/>
          <p:nvPr>
            <p:ph idx="1" type="body"/>
          </p:nvPr>
        </p:nvSpPr>
        <p:spPr>
          <a:xfrm>
            <a:off x="-114950" y="572700"/>
            <a:ext cx="5162700" cy="38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4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1" name="Google Shape;13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225" y="572700"/>
            <a:ext cx="2871974" cy="274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89200" y="572700"/>
            <a:ext cx="2821291" cy="2741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500" y="576450"/>
            <a:ext cx="2821300" cy="27519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8. Técnicas e instrumentos de recolección (Administrador)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11"/>
          <p:cNvSpPr txBox="1"/>
          <p:nvPr/>
        </p:nvSpPr>
        <p:spPr>
          <a:xfrm>
            <a:off x="1203700" y="4689600"/>
            <a:ext cx="6931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s-419" sz="10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https://docs.google.com/forms/d/e/1FAIpQLSftLaRVAAo66gklueiwOyMRtcFkgAFqLOk_gS0zpw7TVIlroQ/viewform?usp=header</a:t>
            </a:r>
            <a:endParaRPr b="0" i="1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0" name="Google Shape;14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572700"/>
            <a:ext cx="3032075" cy="290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32075" y="572700"/>
            <a:ext cx="3032076" cy="2856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60550" y="572700"/>
            <a:ext cx="3032076" cy="28386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8. Técnicas e instrumentos de recolección (Administrador)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12"/>
          <p:cNvSpPr txBox="1"/>
          <p:nvPr/>
        </p:nvSpPr>
        <p:spPr>
          <a:xfrm>
            <a:off x="1203700" y="4689600"/>
            <a:ext cx="6931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s-419" sz="10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https://docs.google.com/forms/d/e/1FAIpQLSftLaRVAAo66gklueiwOyMRtcFkgAFqLOk_gS0zpw7TVIlroQ/viewform?usp=header</a:t>
            </a:r>
            <a:endParaRPr b="0" i="1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9" name="Google Shape;14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63825" y="511275"/>
            <a:ext cx="4308890" cy="381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"/>
          <p:cNvSpPr txBox="1"/>
          <p:nvPr>
            <p:ph type="title"/>
          </p:nvPr>
        </p:nvSpPr>
        <p:spPr>
          <a:xfrm>
            <a:off x="170275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9. BPMN 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5" name="Google Shape;15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2425" y="0"/>
            <a:ext cx="751575" cy="73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850" y="411625"/>
            <a:ext cx="7966526" cy="4172942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3"/>
          <p:cNvSpPr txBox="1"/>
          <p:nvPr/>
        </p:nvSpPr>
        <p:spPr>
          <a:xfrm>
            <a:off x="319175" y="4726125"/>
            <a:ext cx="2602500" cy="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419" sz="1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Link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 txBox="1"/>
          <p:nvPr>
            <p:ph type="title"/>
          </p:nvPr>
        </p:nvSpPr>
        <p:spPr>
          <a:xfrm>
            <a:off x="243925" y="683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9. BPMN 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3" name="Google Shape;16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1325" y="179125"/>
            <a:ext cx="751575" cy="73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793400"/>
            <a:ext cx="7966525" cy="41475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 txBox="1"/>
          <p:nvPr>
            <p:ph type="title"/>
          </p:nvPr>
        </p:nvSpPr>
        <p:spPr>
          <a:xfrm>
            <a:off x="243925" y="683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9. BPMN 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0" name="Google Shape;17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1325" y="179125"/>
            <a:ext cx="751575" cy="73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9200" y="782275"/>
            <a:ext cx="8513309" cy="3924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"/>
          <p:cNvSpPr txBox="1"/>
          <p:nvPr>
            <p:ph type="title"/>
          </p:nvPr>
        </p:nvSpPr>
        <p:spPr>
          <a:xfrm>
            <a:off x="243925" y="683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9. BPMN 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7" name="Google Shape;17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1325" y="179125"/>
            <a:ext cx="751575" cy="73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066375"/>
            <a:ext cx="8092575" cy="392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"/>
          <p:cNvSpPr txBox="1"/>
          <p:nvPr>
            <p:ph type="title"/>
          </p:nvPr>
        </p:nvSpPr>
        <p:spPr>
          <a:xfrm>
            <a:off x="243925" y="683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9. BPMN 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4" name="Google Shape;18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1325" y="179125"/>
            <a:ext cx="751575" cy="73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0100" y="969200"/>
            <a:ext cx="6848475" cy="343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 txBox="1"/>
          <p:nvPr>
            <p:ph type="title"/>
          </p:nvPr>
        </p:nvSpPr>
        <p:spPr>
          <a:xfrm>
            <a:off x="241100" y="2071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-419" sz="2120">
                <a:latin typeface="Times New Roman"/>
                <a:ea typeface="Times New Roman"/>
                <a:cs typeface="Times New Roman"/>
                <a:sym typeface="Times New Roman"/>
              </a:rPr>
              <a:t>Requisitos de software</a:t>
            </a:r>
            <a:endParaRPr b="1" sz="21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18"/>
          <p:cNvSpPr txBox="1"/>
          <p:nvPr>
            <p:ph idx="1" type="body"/>
          </p:nvPr>
        </p:nvSpPr>
        <p:spPr>
          <a:xfrm>
            <a:off x="64400" y="1117250"/>
            <a:ext cx="4725000" cy="3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s-419" sz="900">
                <a:solidFill>
                  <a:schemeClr val="dk1"/>
                </a:solidFill>
              </a:rPr>
              <a:t>Registro de usuario</a:t>
            </a:r>
            <a:endParaRPr sz="9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s-419" sz="900">
                <a:solidFill>
                  <a:schemeClr val="dk1"/>
                </a:solidFill>
              </a:rPr>
              <a:t>Inicio de sesión</a:t>
            </a:r>
            <a:endParaRPr sz="9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s-419" sz="900">
                <a:solidFill>
                  <a:schemeClr val="dk1"/>
                </a:solidFill>
              </a:rPr>
              <a:t>Recuperación de contraseña</a:t>
            </a:r>
            <a:endParaRPr sz="9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s-419" sz="900">
                <a:solidFill>
                  <a:schemeClr val="dk1"/>
                </a:solidFill>
              </a:rPr>
              <a:t>control  de roles y permisos</a:t>
            </a:r>
            <a:endParaRPr sz="9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s-419" sz="900">
                <a:solidFill>
                  <a:schemeClr val="dk1"/>
                </a:solidFill>
              </a:rPr>
              <a:t>control de productos</a:t>
            </a:r>
            <a:endParaRPr sz="9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s-419" sz="900">
                <a:solidFill>
                  <a:schemeClr val="dk1"/>
                </a:solidFill>
              </a:rPr>
              <a:t>Cómo ingresar productos</a:t>
            </a:r>
            <a:endParaRPr sz="9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s-419" sz="900">
                <a:solidFill>
                  <a:schemeClr val="dk1"/>
                </a:solidFill>
              </a:rPr>
              <a:t>Gestión de ventas</a:t>
            </a:r>
            <a:endParaRPr sz="9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s-419" sz="900">
                <a:solidFill>
                  <a:schemeClr val="dk1"/>
                </a:solidFill>
              </a:rPr>
              <a:t>Generación de cotización</a:t>
            </a:r>
            <a:endParaRPr sz="9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s-419" sz="900">
                <a:solidFill>
                  <a:schemeClr val="dk1"/>
                </a:solidFill>
              </a:rPr>
              <a:t>Seguimiento de pedidos</a:t>
            </a:r>
            <a:endParaRPr sz="9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s-419" sz="900">
                <a:solidFill>
                  <a:schemeClr val="dk1"/>
                </a:solidFill>
              </a:rPr>
              <a:t>Historial de ventas por cliente</a:t>
            </a:r>
            <a:endParaRPr sz="9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s-419" sz="900">
                <a:solidFill>
                  <a:schemeClr val="dk1"/>
                </a:solidFill>
              </a:rPr>
              <a:t>Registro de devoluciones o cancelaciones</a:t>
            </a:r>
            <a:endParaRPr sz="9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s-419" sz="900">
                <a:solidFill>
                  <a:schemeClr val="dk1"/>
                </a:solidFill>
              </a:rPr>
              <a:t>Notificaciones de pedidos</a:t>
            </a:r>
            <a:endParaRPr sz="9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s-419" sz="900">
                <a:solidFill>
                  <a:schemeClr val="dk1"/>
                </a:solidFill>
              </a:rPr>
              <a:t>Búsqueda avanzada de ventas</a:t>
            </a:r>
            <a:endParaRPr sz="9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s-419" sz="900">
                <a:solidFill>
                  <a:schemeClr val="dk1"/>
                </a:solidFill>
              </a:rPr>
              <a:t>Generación de reportes</a:t>
            </a:r>
            <a:endParaRPr sz="9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s-419" sz="900">
                <a:solidFill>
                  <a:schemeClr val="dk1"/>
                </a:solidFill>
              </a:rPr>
              <a:t>Cierre de sesión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18"/>
          <p:cNvSpPr txBox="1"/>
          <p:nvPr/>
        </p:nvSpPr>
        <p:spPr>
          <a:xfrm>
            <a:off x="64400" y="695738"/>
            <a:ext cx="364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Requisitos funcionales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18"/>
          <p:cNvSpPr txBox="1"/>
          <p:nvPr>
            <p:ph idx="1" type="body"/>
          </p:nvPr>
        </p:nvSpPr>
        <p:spPr>
          <a:xfrm>
            <a:off x="5697300" y="1247375"/>
            <a:ext cx="3762600" cy="3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s-419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Disponibilidad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s-419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Rendimiento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s-419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Seguridad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s-419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Escalabilidad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s-419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Compatibilidad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s-419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Usabilidad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s-419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Mantenibilidad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s-419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Respaldo de información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s-419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confiabilidad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s-419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Conformidad legal.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s-419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Interoperabilidad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5697300" y="820125"/>
            <a:ext cx="344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Requisitos no funcionales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5" name="Google Shape;19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9775" y="44975"/>
            <a:ext cx="751575" cy="73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0" name="Google Shape;200;p19"/>
          <p:cNvGraphicFramePr/>
          <p:nvPr/>
        </p:nvGraphicFramePr>
        <p:xfrm>
          <a:off x="1243900" y="41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{F80606C0-EEEC-49F8-A7C8-D43241E0F128}</a:tableStyleId>
              </a:tblPr>
              <a:tblGrid>
                <a:gridCol w="1257300"/>
                <a:gridCol w="5054600"/>
              </a:tblGrid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Registro de usuario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formulario de registro debe estar disponible desde la pantalla de inicio mediante un botón o enlace claramente visible.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que una persona cree una cuenta personal proporcionando su información básica a través de un formulario de registro.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RNF04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RNF03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RNF010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" name="Google Shape;205;p20"/>
          <p:cNvGraphicFramePr/>
          <p:nvPr/>
        </p:nvGraphicFramePr>
        <p:xfrm>
          <a:off x="1572825" y="750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{F80606C0-EEEC-49F8-A7C8-D43241E0F128}</a:tableStyleId>
              </a:tblPr>
              <a:tblGrid>
                <a:gridCol w="1257300"/>
                <a:gridCol w="5054600"/>
              </a:tblGrid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RF02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Inicio de sesión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formulario de inicio de sesión debe estar accesible desde la pantalla principal de la aplicación o sitio web.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que los usuarios registrados puedan acceder a su cuenta introduciendo su correo electrónico y contraseña en un formulario de autenticación, validando las credenciales y redirigiendo según su rol.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RNF08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RNF03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0" name="Google Shape;210;p21"/>
          <p:cNvGraphicFramePr/>
          <p:nvPr/>
        </p:nvGraphicFramePr>
        <p:xfrm>
          <a:off x="1416050" y="690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{F80606C0-EEEC-49F8-A7C8-D43241E0F128}</a:tableStyleId>
              </a:tblPr>
              <a:tblGrid>
                <a:gridCol w="1257300"/>
                <a:gridCol w="5054600"/>
              </a:tblGrid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RF03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419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Recuperación de contraseña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Desde la pantalla de inicio de sesión, el sistema debe ofrecer una opción para recuperar la contraseña olvidada.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a los usuarios solicitar un enlace de recuperación de contraseña, enviado al correo registrado, para establecer una nueva contraseña de forma segura.</a:t>
                      </a:r>
                      <a:br>
                        <a:rPr lang="es-419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RNF03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RNF06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" name="Google Shape;215;p22"/>
          <p:cNvGraphicFramePr/>
          <p:nvPr/>
        </p:nvGraphicFramePr>
        <p:xfrm>
          <a:off x="1416050" y="369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{F80606C0-EEEC-49F8-A7C8-D43241E0F128}</a:tableStyleId>
              </a:tblPr>
              <a:tblGrid>
                <a:gridCol w="1257300"/>
                <a:gridCol w="5054600"/>
              </a:tblGrid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RF04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Control de roles y permisos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definir y administrar distintos roles de usuario con permisos específicos sobre las funciones del sistema.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que los administradores configuren roles como “Asesor” y “Administrador”, asignando a cada uno diferentes niveles de acceso y privilegios sobre las funciones del sistema.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RNF03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RNF06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0" name="Google Shape;220;p23"/>
          <p:cNvGraphicFramePr/>
          <p:nvPr/>
        </p:nvGraphicFramePr>
        <p:xfrm>
          <a:off x="1416050" y="223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{F80606C0-EEEC-49F8-A7C8-D43241E0F128}</a:tableStyleId>
              </a:tblPr>
              <a:tblGrid>
                <a:gridCol w="1257300"/>
                <a:gridCol w="5054600"/>
              </a:tblGrid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RF05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Control de productos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registrar, consultar, actualizar y eliminar productos, incluyendo información como nombre, categoría, precio, cantidad en stock y descripción.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Desde el módulo de productos, los usuarios autorizados podrán dar de alta nuevos productos, editar los existentes, eliminarlos o consultar su información para mantener actualizado el catálogo de ventas.</a:t>
                      </a:r>
                      <a:br>
                        <a:rPr lang="es-419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RNF02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RNF03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RNF06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" name="Google Shape;225;p24"/>
          <p:cNvGraphicFramePr/>
          <p:nvPr/>
        </p:nvGraphicFramePr>
        <p:xfrm>
          <a:off x="1416050" y="242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{F80606C0-EEEC-49F8-A7C8-D43241E0F128}</a:tableStyleId>
              </a:tblPr>
              <a:tblGrid>
                <a:gridCol w="1257300"/>
                <a:gridCol w="5054600"/>
              </a:tblGrid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RF06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Ingreso de productos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incluir un flujo claro para el ingreso de productos, con validaciones y confirmación.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Los usuarios administradores, desde el módulo de productos, podrán registrar un nuevo producto accediendo al menú “Productos” desde el panel principal, haciendo clic en “Registrar producto” y llenando un formulario con los campos: nombre, categoría, precio unitario, cantidad inicial en stock, descripción y código interno. Una vez completado, deberán validar los datos antes de guardarlos y, al finalizar, el sistema mostrará una confirmación visual del registro exitoso.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RNF02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RNF06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p25"/>
          <p:cNvGraphicFramePr/>
          <p:nvPr/>
        </p:nvGraphicFramePr>
        <p:xfrm>
          <a:off x="1416050" y="86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{F80606C0-EEEC-49F8-A7C8-D43241E0F128}</a:tableStyleId>
              </a:tblPr>
              <a:tblGrid>
                <a:gridCol w="1257300"/>
                <a:gridCol w="5054600"/>
              </a:tblGrid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RF07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Registrar  ventas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usuario puede registrar una nueva venta.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registrar, consultar, modificar y eliminar ventas realizadas, así como generar reportes relacionados.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RNF02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RNF03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" name="Google Shape;235;p26"/>
          <p:cNvGraphicFramePr/>
          <p:nvPr/>
        </p:nvGraphicFramePr>
        <p:xfrm>
          <a:off x="1416050" y="51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{F80606C0-EEEC-49F8-A7C8-D43241E0F128}</a:tableStyleId>
              </a:tblPr>
              <a:tblGrid>
                <a:gridCol w="1257300"/>
                <a:gridCol w="5054600"/>
              </a:tblGrid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RF08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Generación de cotización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ingresar datos del cliente y detallar productos o servicios, incluyendo cantidad, precio unitario, descuentos e impuestos, con cálculo automático del total.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a los usuarios generar cotizaciones de productos o servicios seleccionados, incluyendo detalles como cliente, precios y condiciones de pago.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RNF05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0" name="Google Shape;240;p27"/>
          <p:cNvGraphicFramePr/>
          <p:nvPr/>
        </p:nvGraphicFramePr>
        <p:xfrm>
          <a:off x="1416050" y="695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{F80606C0-EEEC-49F8-A7C8-D43241E0F128}</a:tableStyleId>
              </a:tblPr>
              <a:tblGrid>
                <a:gridCol w="1257300"/>
                <a:gridCol w="5054600"/>
              </a:tblGrid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RF09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Seguimiento de pedidos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mostrar el estado actual del pedido.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a los usuarios (clientes y personal autorizado) consultar el estado de los pedidos realizados, desde su creación hasta su entrega final.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RNF03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RNF04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" name="Google Shape;245;p28"/>
          <p:cNvGraphicFramePr/>
          <p:nvPr/>
        </p:nvGraphicFramePr>
        <p:xfrm>
          <a:off x="1416050" y="51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{F80606C0-EEEC-49F8-A7C8-D43241E0F128}</a:tableStyleId>
              </a:tblPr>
              <a:tblGrid>
                <a:gridCol w="1257300"/>
                <a:gridCol w="5054600"/>
              </a:tblGrid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RF010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Historial de ventas por cliente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El sistema debe mostrar un listado cronológico de todas las ventas asociadas a un cliente.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consultar todas las ventas realizadas a un cliente específico, mostrando un registro detallado de cada transacción.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RNF02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RNF06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RNF08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0" name="Google Shape;250;p29"/>
          <p:cNvGraphicFramePr/>
          <p:nvPr/>
        </p:nvGraphicFramePr>
        <p:xfrm>
          <a:off x="1416050" y="51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{F80606C0-EEEC-49F8-A7C8-D43241E0F128}</a:tableStyleId>
              </a:tblPr>
              <a:tblGrid>
                <a:gridCol w="1257300"/>
                <a:gridCol w="5054600"/>
              </a:tblGrid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RF011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Registro de devoluciones o cancelaciones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Cada devolución o cancelación debe registrarse con datos específicos como número de venta, productos involucrados, cantidades, motivo, fecha y usuario responsable..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registrar y gestionar las devoluciones o cancelaciones de ventas realizadas, asegurando que estos procesos se documenten correctamente.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RNF06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RNF03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5" name="Google Shape;255;p30"/>
          <p:cNvGraphicFramePr/>
          <p:nvPr/>
        </p:nvGraphicFramePr>
        <p:xfrm>
          <a:off x="1416050" y="51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{F80606C0-EEEC-49F8-A7C8-D43241E0F128}</a:tableStyleId>
              </a:tblPr>
              <a:tblGrid>
                <a:gridCol w="1257300"/>
                <a:gridCol w="5054600"/>
              </a:tblGrid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RF012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Notificaciones de pedidos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enviar alertas para eventos clave como la creación del pedido, aprobación, despacho, entrega o cancelación.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enviar notificaciones automáticas a los usuarios relevantes sobre cambios importantes en el estado de los pedidos.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RNF03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RNF06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RNF07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0" name="Google Shape;260;p31"/>
          <p:cNvGraphicFramePr/>
          <p:nvPr/>
        </p:nvGraphicFramePr>
        <p:xfrm>
          <a:off x="1416050" y="604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{F80606C0-EEEC-49F8-A7C8-D43241E0F128}</a:tableStyleId>
              </a:tblPr>
              <a:tblGrid>
                <a:gridCol w="1257300"/>
                <a:gridCol w="5054600"/>
              </a:tblGrid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RF013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Búsqueda avanzada de ventas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 búsqueda debe permitir filtrar ventas por fecha, cliente, productos, estado, método de pago, rango de montos y empleado responsable.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proporcionar una funcionalidad de búsqueda avanzada que permita a los usuarios localizar ventas específicas mediante múltiples filtros.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RNF02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RNF06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5" name="Google Shape;265;p32"/>
          <p:cNvGraphicFramePr/>
          <p:nvPr/>
        </p:nvGraphicFramePr>
        <p:xfrm>
          <a:off x="1416050" y="419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{F80606C0-EEEC-49F8-A7C8-D43241E0F128}</a:tableStyleId>
              </a:tblPr>
              <a:tblGrid>
                <a:gridCol w="1257300"/>
                <a:gridCol w="5054600"/>
              </a:tblGrid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RF014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Generación de reportes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generar y exportar reportes detallados de ventas, productos más vendidos, ingresos por períodos, clientes frecuentes y desempeño comercial.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generar reportes automáticos con filtros configurables (por cliente, producto, período, estado, etc.) y permitir su exportación a formatos como PDF y Excel para análisis externo.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RNF02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RNF06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0" name="Google Shape;270;p33"/>
          <p:cNvGraphicFramePr/>
          <p:nvPr/>
        </p:nvGraphicFramePr>
        <p:xfrm>
          <a:off x="1416050" y="604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{F80606C0-EEEC-49F8-A7C8-D43241E0F128}</a:tableStyleId>
              </a:tblPr>
              <a:tblGrid>
                <a:gridCol w="1257300"/>
                <a:gridCol w="5054600"/>
              </a:tblGrid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RF015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Cierre de sesión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a los usuarios cerrar sesión desde cualquier pantalla de la aplicación mediante un botón claramente visible.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finalizar la sesión activa del usuario, liberando sus recursos y redirigiendo a la pantalla de inicio de sesión.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RNF03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RNF06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4"/>
          <p:cNvSpPr txBox="1"/>
          <p:nvPr>
            <p:ph type="title"/>
          </p:nvPr>
        </p:nvSpPr>
        <p:spPr>
          <a:xfrm>
            <a:off x="197400" y="178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>
                <a:latin typeface="Times New Roman"/>
                <a:ea typeface="Times New Roman"/>
                <a:cs typeface="Times New Roman"/>
                <a:sym typeface="Times New Roman"/>
              </a:rPr>
              <a:t>Requerimientos no funcionales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76" name="Google Shape;276;p34"/>
          <p:cNvGraphicFramePr/>
          <p:nvPr/>
        </p:nvGraphicFramePr>
        <p:xfrm>
          <a:off x="962013" y="1339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{F80606C0-EEEC-49F8-A7C8-D43241E0F128}</a:tableStyleId>
              </a:tblPr>
              <a:tblGrid>
                <a:gridCol w="1374150"/>
                <a:gridCol w="5541000"/>
              </a:tblGrid>
              <a:tr h="574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RNF01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479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Disponibilidad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</a:tr>
              <a:tr h="41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es accesible para el usuario de acuerdo a la disposición de jornada laboral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56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estar disponible al menos el 99% del tiempo durante el horario laboral de la empresa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</a:tr>
              <a:tr h="479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1" name="Google Shape;281;p35"/>
          <p:cNvGraphicFramePr/>
          <p:nvPr/>
        </p:nvGraphicFramePr>
        <p:xfrm>
          <a:off x="962013" y="113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{F80606C0-EEEC-49F8-A7C8-D43241E0F128}</a:tableStyleId>
              </a:tblPr>
              <a:tblGrid>
                <a:gridCol w="1374150"/>
                <a:gridCol w="5541000"/>
              </a:tblGrid>
              <a:tr h="574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RNF02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479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Rendimiento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</a:tr>
              <a:tr h="41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está optimizado para la respuesta inmediata al usuario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56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responder a cualquier consulta o acción del usuario en menos de 3 segundos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</a:tr>
              <a:tr h="479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" name="Google Shape;286;p36"/>
          <p:cNvGraphicFramePr/>
          <p:nvPr/>
        </p:nvGraphicFramePr>
        <p:xfrm>
          <a:off x="1038213" y="755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{F80606C0-EEEC-49F8-A7C8-D43241E0F128}</a:tableStyleId>
              </a:tblPr>
              <a:tblGrid>
                <a:gridCol w="1374150"/>
                <a:gridCol w="5541000"/>
              </a:tblGrid>
              <a:tr h="574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RNF03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Seguridad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</a:tr>
              <a:tr h="41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le permitirá al usuario hacer un 2FA (autenticación de dos factores) y el resguardo de sus datos sensibles mediante encriptación de estos.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56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contar con autenticación de usuarios y encriptación de datos sensibles como contraseñas y correos.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</a:tr>
              <a:tr h="479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1" name="Google Shape;291;p37"/>
          <p:cNvGraphicFramePr/>
          <p:nvPr/>
        </p:nvGraphicFramePr>
        <p:xfrm>
          <a:off x="1114413" y="83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{F80606C0-EEEC-49F8-A7C8-D43241E0F128}</a:tableStyleId>
              </a:tblPr>
              <a:tblGrid>
                <a:gridCol w="1374150"/>
                <a:gridCol w="5541000"/>
              </a:tblGrid>
              <a:tr h="574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RNF04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Escalabilidad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</a:tr>
              <a:tr h="41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estará sujeto a constante actualización.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56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poder adaptarse al crecimiento del número de clientes y usuarios sin pérdida de rendimiento.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</a:tr>
              <a:tr h="479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6" name="Google Shape;296;p38"/>
          <p:cNvGraphicFramePr/>
          <p:nvPr/>
        </p:nvGraphicFramePr>
        <p:xfrm>
          <a:off x="1038213" y="908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{F80606C0-EEEC-49F8-A7C8-D43241E0F128}</a:tableStyleId>
              </a:tblPr>
              <a:tblGrid>
                <a:gridCol w="1374150"/>
                <a:gridCol w="5541000"/>
              </a:tblGrid>
              <a:tr h="574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RNF05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Compatibilidad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</a:tr>
              <a:tr h="41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es afín y de fácil acceso desde cualquier navegador web.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56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ser accesible desde navegadores web modernos (Chrome, Firefox, Edge).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</a:tr>
              <a:tr h="479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1" name="Google Shape;301;p39"/>
          <p:cNvGraphicFramePr/>
          <p:nvPr/>
        </p:nvGraphicFramePr>
        <p:xfrm>
          <a:off x="1276750" y="765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{08115DBD-F188-4546-ACA5-2C52338B517F}</a:tableStyleId>
              </a:tblPr>
              <a:tblGrid>
                <a:gridCol w="1622050"/>
                <a:gridCol w="46636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RNF06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>
                        <a:highlight>
                          <a:schemeClr val="dk2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cap="none" strike="noStrike">
                          <a:highlight>
                            <a:srgbClr val="B7B7B7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Usabilidad</a:t>
                      </a:r>
                      <a:endParaRPr sz="1400" u="none" cap="none" strike="noStrike">
                        <a:highlight>
                          <a:srgbClr val="B7B7B7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tendrá una interfaz sencilla y clara, pensada para usuarios sin conocimientos técnicos.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 interfaz del sistema debe ser intuitiva y amigable para usuarios sin conocimientos técnicos avanzados.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6" name="Google Shape;306;p40"/>
          <p:cNvGraphicFramePr/>
          <p:nvPr/>
        </p:nvGraphicFramePr>
        <p:xfrm>
          <a:off x="1429150" y="1146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{08115DBD-F188-4546-ACA5-2C52338B517F}</a:tableStyleId>
              </a:tblPr>
              <a:tblGrid>
                <a:gridCol w="1622050"/>
                <a:gridCol w="46636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RNF07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>
                        <a:highlight>
                          <a:schemeClr val="dk2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cap="none" strike="noStrike">
                          <a:highlight>
                            <a:srgbClr val="B7B7B7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Mantenibilidad</a:t>
                      </a:r>
                      <a:endParaRPr sz="1400" u="none" cap="none" strike="noStrike">
                        <a:highlight>
                          <a:srgbClr val="B7B7B7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código será limpio y modular, permitiendo actualizaciones y correcciones con facilidad.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estar desarrollado con buenas prácticas que permitan su fácil mantenimiento y actualización.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1" name="Google Shape;311;p41"/>
          <p:cNvGraphicFramePr/>
          <p:nvPr/>
        </p:nvGraphicFramePr>
        <p:xfrm>
          <a:off x="1429150" y="1146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{08115DBD-F188-4546-ACA5-2C52338B517F}</a:tableStyleId>
              </a:tblPr>
              <a:tblGrid>
                <a:gridCol w="1622050"/>
                <a:gridCol w="46636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RNF08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>
                        <a:highlight>
                          <a:schemeClr val="dk2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cap="none" strike="noStrike">
                          <a:highlight>
                            <a:srgbClr val="B7B7B7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Respaldo de información</a:t>
                      </a:r>
                      <a:endParaRPr sz="1400" u="none" cap="none" strike="noStrike">
                        <a:highlight>
                          <a:srgbClr val="B7B7B7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 harán copias de seguridad automáticas diarias para proteger la base de datos.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realizar respaldos automáticos diarios de la base de datos.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6" name="Google Shape;316;p42"/>
          <p:cNvGraphicFramePr/>
          <p:nvPr/>
        </p:nvGraphicFramePr>
        <p:xfrm>
          <a:off x="1305625" y="37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{08115DBD-F188-4546-ACA5-2C52338B517F}</a:tableStyleId>
              </a:tblPr>
              <a:tblGrid>
                <a:gridCol w="1665625"/>
                <a:gridCol w="46200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RNF09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>
                        <a:highlight>
                          <a:schemeClr val="dk2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s-419" sz="1150" u="none" cap="none" strike="noStrike">
                          <a:solidFill>
                            <a:srgbClr val="222222"/>
                          </a:solidFill>
                        </a:rPr>
                        <a:t>confiabilidad 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deberá tener un tiempo de disponibilidad del 99% mensual, evitando caídas prolongadas.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garantizar una alta disponibilidad y funcionamiento continuo, asegurando que los datos procesados y almacenados sean consistentes y libres de errores, minimizando el riesgo de fallos o pérdidas de información durante las operaciones.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1" name="Google Shape;321;p43"/>
          <p:cNvGraphicFramePr/>
          <p:nvPr/>
        </p:nvGraphicFramePr>
        <p:xfrm>
          <a:off x="1429150" y="1040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{08115DBD-F188-4546-ACA5-2C52338B517F}</a:tableStyleId>
              </a:tblPr>
              <a:tblGrid>
                <a:gridCol w="1622050"/>
                <a:gridCol w="46636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RNF10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>
                        <a:highlight>
                          <a:schemeClr val="dk2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cap="none" strike="noStrike">
                          <a:highlight>
                            <a:srgbClr val="B7B7B7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Conformidad legal</a:t>
                      </a:r>
                      <a:endParaRPr sz="1400" u="none" cap="none" strike="noStrike">
                        <a:highlight>
                          <a:srgbClr val="B7B7B7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Cumplirá con la Ley 1581 de 2012, protegiendo los datos personales de los usuarios.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cumplir con las normativas de protección de datos vigentes en Colombia (Ley 1581 de 2012).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6" name="Google Shape;326;p44"/>
          <p:cNvGraphicFramePr/>
          <p:nvPr/>
        </p:nvGraphicFramePr>
        <p:xfrm>
          <a:off x="1137575" y="150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{08115DBD-F188-4546-ACA5-2C52338B517F}</a:tableStyleId>
              </a:tblPr>
              <a:tblGrid>
                <a:gridCol w="1622050"/>
                <a:gridCol w="46636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RNF11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>
                        <a:highlight>
                          <a:schemeClr val="dk2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cap="none" strike="noStrike">
                          <a:highlight>
                            <a:srgbClr val="B7B7B7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Interoperabilidad</a:t>
                      </a:r>
                      <a:endParaRPr sz="1400" u="none" cap="none" strike="noStrike">
                        <a:highlight>
                          <a:srgbClr val="B7B7B7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será capaz de comunicarse e intercambiar información de forma segura con la página web adyacente, garantizando la compatibilidad de datos y el uso de estándares abiertos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la recepción de datos en tiempo real desde una página adyacente (por ejemplo, información de inventario) mediante servicios web o APIs REST. Toda comunicación debe realizarse mediante protocolo HTTPS para proteger la integridad y confidencialidad de la información, y el sistema debe procesar correctamente el 100% de los mensajes válidos recibidos.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68a5b320b8_0_0"/>
          <p:cNvSpPr txBox="1"/>
          <p:nvPr/>
        </p:nvSpPr>
        <p:spPr>
          <a:xfrm>
            <a:off x="0" y="0"/>
            <a:ext cx="914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dk1"/>
                </a:solidFill>
              </a:rPr>
              <a:t>Normalización</a:t>
            </a:r>
            <a:endParaRPr b="1" sz="2800">
              <a:solidFill>
                <a:schemeClr val="dk1"/>
              </a:solidFill>
            </a:endParaRPr>
          </a:p>
        </p:txBody>
      </p:sp>
      <p:pic>
        <p:nvPicPr>
          <p:cNvPr id="332" name="Google Shape;332;g368a5b320b8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11538"/>
            <a:ext cx="8839200" cy="1920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68a5b320b8_0_5"/>
          <p:cNvSpPr txBox="1"/>
          <p:nvPr>
            <p:ph type="title"/>
          </p:nvPr>
        </p:nvSpPr>
        <p:spPr>
          <a:xfrm>
            <a:off x="311700" y="35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1FN</a:t>
            </a:r>
            <a:endParaRPr/>
          </a:p>
        </p:txBody>
      </p:sp>
      <p:sp>
        <p:nvSpPr>
          <p:cNvPr id="338" name="Google Shape;338;g368a5b320b8_0_5"/>
          <p:cNvSpPr txBox="1"/>
          <p:nvPr/>
        </p:nvSpPr>
        <p:spPr>
          <a:xfrm>
            <a:off x="0" y="0"/>
            <a:ext cx="914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dk1"/>
                </a:solidFill>
              </a:rPr>
              <a:t>Normalización</a:t>
            </a:r>
            <a:endParaRPr b="1" sz="2800">
              <a:solidFill>
                <a:schemeClr val="dk1"/>
              </a:solidFill>
            </a:endParaRPr>
          </a:p>
        </p:txBody>
      </p:sp>
      <p:pic>
        <p:nvPicPr>
          <p:cNvPr id="339" name="Google Shape;339;g368a5b320b8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36325"/>
            <a:ext cx="8839198" cy="174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68a5b320b8_0_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2FN</a:t>
            </a:r>
            <a:endParaRPr/>
          </a:p>
        </p:txBody>
      </p:sp>
      <p:sp>
        <p:nvSpPr>
          <p:cNvPr id="345" name="Google Shape;345;g368a5b320b8_0_10"/>
          <p:cNvSpPr txBox="1"/>
          <p:nvPr/>
        </p:nvSpPr>
        <p:spPr>
          <a:xfrm>
            <a:off x="0" y="0"/>
            <a:ext cx="914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dk1"/>
                </a:solidFill>
              </a:rPr>
              <a:t>Normalización</a:t>
            </a:r>
            <a:endParaRPr b="1" sz="2800">
              <a:solidFill>
                <a:schemeClr val="dk1"/>
              </a:solidFill>
            </a:endParaRPr>
          </a:p>
        </p:txBody>
      </p:sp>
      <p:pic>
        <p:nvPicPr>
          <p:cNvPr id="346" name="Google Shape;346;g368a5b320b8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9" cy="268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68a5b320b8_0_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3FN</a:t>
            </a:r>
            <a:endParaRPr/>
          </a:p>
        </p:txBody>
      </p:sp>
      <p:sp>
        <p:nvSpPr>
          <p:cNvPr id="352" name="Google Shape;352;g368a5b320b8_0_25"/>
          <p:cNvSpPr txBox="1"/>
          <p:nvPr/>
        </p:nvSpPr>
        <p:spPr>
          <a:xfrm>
            <a:off x="0" y="0"/>
            <a:ext cx="914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dk1"/>
                </a:solidFill>
              </a:rPr>
              <a:t>Normalización</a:t>
            </a:r>
            <a:endParaRPr b="1" sz="2800">
              <a:solidFill>
                <a:schemeClr val="dk1"/>
              </a:solidFill>
            </a:endParaRPr>
          </a:p>
        </p:txBody>
      </p:sp>
      <p:pic>
        <p:nvPicPr>
          <p:cNvPr id="353" name="Google Shape;353;g368a5b320b8_0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950" y="977175"/>
            <a:ext cx="7995742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g368a5b320b8_0_25"/>
          <p:cNvSpPr txBox="1"/>
          <p:nvPr/>
        </p:nvSpPr>
        <p:spPr>
          <a:xfrm>
            <a:off x="311700" y="4761000"/>
            <a:ext cx="803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>
                <a:solidFill>
                  <a:schemeClr val="hlink"/>
                </a:solidFill>
                <a:hlinkClick r:id="rId4"/>
              </a:rPr>
              <a:t>https://drive.google.com/drive/folders/1EBwAUDAvmIZQ4Ammexd5fReLHM30c8OB?usp=sharing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7"/>
          <p:cNvSpPr txBox="1"/>
          <p:nvPr>
            <p:ph type="title"/>
          </p:nvPr>
        </p:nvSpPr>
        <p:spPr>
          <a:xfrm>
            <a:off x="311700" y="1986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-419" sz="1800"/>
              <a:t>Modelo entidad relación</a:t>
            </a:r>
            <a:endParaRPr b="1"/>
          </a:p>
        </p:txBody>
      </p:sp>
      <p:sp>
        <p:nvSpPr>
          <p:cNvPr id="360" name="Google Shape;360;p67"/>
          <p:cNvSpPr txBox="1"/>
          <p:nvPr/>
        </p:nvSpPr>
        <p:spPr>
          <a:xfrm>
            <a:off x="1179600" y="4820400"/>
            <a:ext cx="7964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419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https://drive.google.com/file/d/1OdRn2jJEu6uaRH__xc0IfHEfHp5JtbXy/view?usp=sharing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1" name="Google Shape;361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668575"/>
            <a:ext cx="8478949" cy="404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68"/>
          <p:cNvSpPr txBox="1"/>
          <p:nvPr>
            <p:ph type="title"/>
          </p:nvPr>
        </p:nvSpPr>
        <p:spPr>
          <a:xfrm>
            <a:off x="311700" y="1986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-419" sz="1800"/>
              <a:t>Modelo entidad relación extendido</a:t>
            </a:r>
            <a:endParaRPr b="1"/>
          </a:p>
        </p:txBody>
      </p:sp>
      <p:pic>
        <p:nvPicPr>
          <p:cNvPr id="367" name="Google Shape;367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125" y="637550"/>
            <a:ext cx="7306899" cy="4349001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68"/>
          <p:cNvSpPr txBox="1"/>
          <p:nvPr/>
        </p:nvSpPr>
        <p:spPr>
          <a:xfrm>
            <a:off x="589800" y="4882525"/>
            <a:ext cx="7964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419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https://drive.google.com/file/d/1onux12qJvwKdPzgZfl-YvKdl1ET0dhKR/view?usp=sharing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9"/>
          <p:cNvSpPr txBox="1"/>
          <p:nvPr>
            <p:ph type="title"/>
          </p:nvPr>
        </p:nvSpPr>
        <p:spPr>
          <a:xfrm>
            <a:off x="363675" y="0"/>
            <a:ext cx="2983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Modelo Relacional</a:t>
            </a:r>
            <a:endParaRPr/>
          </a:p>
        </p:txBody>
      </p:sp>
      <p:pic>
        <p:nvPicPr>
          <p:cNvPr id="374" name="Google Shape;37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600" y="541200"/>
            <a:ext cx="6682405" cy="426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70"/>
          <p:cNvSpPr txBox="1"/>
          <p:nvPr>
            <p:ph type="title"/>
          </p:nvPr>
        </p:nvSpPr>
        <p:spPr>
          <a:xfrm>
            <a:off x="363675" y="0"/>
            <a:ext cx="2983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diccionario base de datos pronavid</a:t>
            </a:r>
            <a:endParaRPr/>
          </a:p>
        </p:txBody>
      </p:sp>
      <p:pic>
        <p:nvPicPr>
          <p:cNvPr id="380" name="Google Shape;380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925" y="1084538"/>
            <a:ext cx="7830751" cy="3724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71"/>
          <p:cNvSpPr txBox="1"/>
          <p:nvPr>
            <p:ph type="title"/>
          </p:nvPr>
        </p:nvSpPr>
        <p:spPr>
          <a:xfrm>
            <a:off x="363675" y="0"/>
            <a:ext cx="2983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diccionario base de datos pronavid</a:t>
            </a:r>
            <a:endParaRPr/>
          </a:p>
        </p:txBody>
      </p:sp>
      <p:pic>
        <p:nvPicPr>
          <p:cNvPr id="386" name="Google Shape;386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675" y="851475"/>
            <a:ext cx="8621025" cy="4055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72"/>
          <p:cNvSpPr txBox="1"/>
          <p:nvPr>
            <p:ph type="title"/>
          </p:nvPr>
        </p:nvSpPr>
        <p:spPr>
          <a:xfrm>
            <a:off x="363675" y="0"/>
            <a:ext cx="2983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diccionario base de datos pronavid</a:t>
            </a:r>
            <a:endParaRPr/>
          </a:p>
        </p:txBody>
      </p:sp>
      <p:pic>
        <p:nvPicPr>
          <p:cNvPr id="392" name="Google Shape;392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076500"/>
            <a:ext cx="8839201" cy="3413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73"/>
          <p:cNvSpPr txBox="1"/>
          <p:nvPr>
            <p:ph type="title"/>
          </p:nvPr>
        </p:nvSpPr>
        <p:spPr>
          <a:xfrm>
            <a:off x="363675" y="0"/>
            <a:ext cx="2983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diccionario base de datos pronavid </a:t>
            </a:r>
            <a:endParaRPr/>
          </a:p>
        </p:txBody>
      </p:sp>
      <p:pic>
        <p:nvPicPr>
          <p:cNvPr id="398" name="Google Shape;398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995425"/>
            <a:ext cx="8839201" cy="4148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74"/>
          <p:cNvSpPr txBox="1"/>
          <p:nvPr>
            <p:ph type="title"/>
          </p:nvPr>
        </p:nvSpPr>
        <p:spPr>
          <a:xfrm>
            <a:off x="363675" y="0"/>
            <a:ext cx="2983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diccionario base de datos pronavid</a:t>
            </a:r>
            <a:endParaRPr/>
          </a:p>
        </p:txBody>
      </p:sp>
      <p:pic>
        <p:nvPicPr>
          <p:cNvPr id="404" name="Google Shape;404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400" y="1187475"/>
            <a:ext cx="8839200" cy="367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75"/>
          <p:cNvSpPr txBox="1"/>
          <p:nvPr>
            <p:ph type="title"/>
          </p:nvPr>
        </p:nvSpPr>
        <p:spPr>
          <a:xfrm>
            <a:off x="1155200" y="2115300"/>
            <a:ext cx="64917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9301"/>
              <a:buNone/>
            </a:pPr>
            <a:r>
              <a:rPr lang="es-419" sz="3133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link de el diccionario de datos pronavid</a:t>
            </a:r>
            <a:endParaRPr sz="3133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6643e952c8_0_6"/>
          <p:cNvSpPr txBox="1"/>
          <p:nvPr>
            <p:ph type="title"/>
          </p:nvPr>
        </p:nvSpPr>
        <p:spPr>
          <a:xfrm>
            <a:off x="303875" y="0"/>
            <a:ext cx="4465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Diagrama de clases</a:t>
            </a:r>
            <a:endParaRPr/>
          </a:p>
        </p:txBody>
      </p:sp>
      <p:sp>
        <p:nvSpPr>
          <p:cNvPr id="415" name="Google Shape;415;g36643e952c8_0_6"/>
          <p:cNvSpPr txBox="1"/>
          <p:nvPr/>
        </p:nvSpPr>
        <p:spPr>
          <a:xfrm>
            <a:off x="48725" y="4804800"/>
            <a:ext cx="877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419" sz="1000" u="sng">
                <a:solidFill>
                  <a:schemeClr val="hlink"/>
                </a:solidFill>
                <a:hlinkClick r:id="rId3"/>
              </a:rPr>
              <a:t>https://drive.google.com/file/d/1Up_qrGYxYm0fThy6k7KZK653tgKAGRaX/view?usp=sharing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g36643e952c8_0_6" title="Diagrama 3.0.drawio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1063" y="608100"/>
            <a:ext cx="6381865" cy="3927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6642fba92e_0_0"/>
          <p:cNvSpPr txBox="1"/>
          <p:nvPr>
            <p:ph type="title"/>
          </p:nvPr>
        </p:nvSpPr>
        <p:spPr>
          <a:xfrm>
            <a:off x="363675" y="0"/>
            <a:ext cx="2983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Casos de uso</a:t>
            </a:r>
            <a:endParaRPr/>
          </a:p>
        </p:txBody>
      </p:sp>
      <p:sp>
        <p:nvSpPr>
          <p:cNvPr id="422" name="Google Shape;422;g36642fba92e_0_0"/>
          <p:cNvSpPr txBox="1"/>
          <p:nvPr/>
        </p:nvSpPr>
        <p:spPr>
          <a:xfrm>
            <a:off x="231725" y="374547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https://drive.google.com/file/d/1F4_22_oA_h1r7fPFinY5QEBbGVYGVoY0/view?usp=sharing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3" name="Google Shape;423;g36642fba92e_0_0" title="Pronavid(Casos de uso)-Página-1.drawio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9575" y="152400"/>
            <a:ext cx="5111355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6642fba92e_0_9"/>
          <p:cNvSpPr txBox="1"/>
          <p:nvPr>
            <p:ph type="title"/>
          </p:nvPr>
        </p:nvSpPr>
        <p:spPr>
          <a:xfrm>
            <a:off x="131925" y="74750"/>
            <a:ext cx="590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Casos de uso extendido</a:t>
            </a:r>
            <a:endParaRPr/>
          </a:p>
        </p:txBody>
      </p:sp>
      <p:pic>
        <p:nvPicPr>
          <p:cNvPr id="429" name="Google Shape;429;g36642fba92e_0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350" y="647450"/>
            <a:ext cx="4196437" cy="419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g36642fba92e_0_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31137" y="647450"/>
            <a:ext cx="3865666" cy="419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6642fba92e_0_37"/>
          <p:cNvSpPr txBox="1"/>
          <p:nvPr>
            <p:ph type="title"/>
          </p:nvPr>
        </p:nvSpPr>
        <p:spPr>
          <a:xfrm>
            <a:off x="131925" y="74750"/>
            <a:ext cx="590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Casos de uso extendido</a:t>
            </a:r>
            <a:endParaRPr/>
          </a:p>
        </p:txBody>
      </p:sp>
      <p:pic>
        <p:nvPicPr>
          <p:cNvPr id="436" name="Google Shape;436;g36642fba92e_0_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650" y="612925"/>
            <a:ext cx="3823135" cy="419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g36642fba92e_0_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20410" y="612925"/>
            <a:ext cx="3522707" cy="419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6642fba92e_0_41"/>
          <p:cNvSpPr txBox="1"/>
          <p:nvPr>
            <p:ph type="title"/>
          </p:nvPr>
        </p:nvSpPr>
        <p:spPr>
          <a:xfrm>
            <a:off x="131925" y="74750"/>
            <a:ext cx="590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Casos de uso extendido</a:t>
            </a:r>
            <a:endParaRPr/>
          </a:p>
        </p:txBody>
      </p:sp>
      <p:pic>
        <p:nvPicPr>
          <p:cNvPr id="443" name="Google Shape;443;g36642fba92e_0_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799850"/>
            <a:ext cx="3633793" cy="419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g36642fba92e_0_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2593" y="799850"/>
            <a:ext cx="3539278" cy="419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6642fba92e_0_45"/>
          <p:cNvSpPr txBox="1"/>
          <p:nvPr>
            <p:ph type="title"/>
          </p:nvPr>
        </p:nvSpPr>
        <p:spPr>
          <a:xfrm>
            <a:off x="131925" y="74750"/>
            <a:ext cx="590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Casos de uso extendido</a:t>
            </a:r>
            <a:endParaRPr/>
          </a:p>
        </p:txBody>
      </p:sp>
      <p:pic>
        <p:nvPicPr>
          <p:cNvPr id="450" name="Google Shape;450;g36642fba92e_0_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4250" y="647450"/>
            <a:ext cx="3410528" cy="4191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g36642fba92e_0_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503" y="647450"/>
            <a:ext cx="3317858" cy="419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6642fba92e_0_49"/>
          <p:cNvSpPr txBox="1"/>
          <p:nvPr>
            <p:ph type="title"/>
          </p:nvPr>
        </p:nvSpPr>
        <p:spPr>
          <a:xfrm>
            <a:off x="131925" y="74750"/>
            <a:ext cx="590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Casos de uso extendido</a:t>
            </a:r>
            <a:endParaRPr/>
          </a:p>
        </p:txBody>
      </p:sp>
      <p:pic>
        <p:nvPicPr>
          <p:cNvPr id="457" name="Google Shape;457;g36642fba92e_0_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725" y="695200"/>
            <a:ext cx="3624423" cy="419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g36642fba92e_0_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4098" y="695200"/>
            <a:ext cx="3324989" cy="419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6642fba92e_0_53"/>
          <p:cNvSpPr txBox="1"/>
          <p:nvPr>
            <p:ph type="title"/>
          </p:nvPr>
        </p:nvSpPr>
        <p:spPr>
          <a:xfrm>
            <a:off x="131925" y="74750"/>
            <a:ext cx="590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Casos de uso extendido</a:t>
            </a:r>
            <a:endParaRPr/>
          </a:p>
        </p:txBody>
      </p:sp>
      <p:pic>
        <p:nvPicPr>
          <p:cNvPr id="464" name="Google Shape;464;g36642fba92e_0_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799850"/>
            <a:ext cx="3893807" cy="419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g36642fba92e_0_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03282" y="799850"/>
            <a:ext cx="4331496" cy="4191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6642fba92e_0_57"/>
          <p:cNvSpPr txBox="1"/>
          <p:nvPr>
            <p:ph type="title"/>
          </p:nvPr>
        </p:nvSpPr>
        <p:spPr>
          <a:xfrm>
            <a:off x="131925" y="74750"/>
            <a:ext cx="590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Casos de uso extendido</a:t>
            </a:r>
            <a:endParaRPr/>
          </a:p>
        </p:txBody>
      </p:sp>
      <p:pic>
        <p:nvPicPr>
          <p:cNvPr id="471" name="Google Shape;471;g36642fba92e_0_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700" y="647450"/>
            <a:ext cx="4495768" cy="4191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g36642fba92e_0_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5543" y="682250"/>
            <a:ext cx="4123732" cy="4156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6642fba92e_0_61"/>
          <p:cNvSpPr txBox="1"/>
          <p:nvPr>
            <p:ph type="title"/>
          </p:nvPr>
        </p:nvSpPr>
        <p:spPr>
          <a:xfrm>
            <a:off x="131925" y="74750"/>
            <a:ext cx="590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Casos de uso extendido</a:t>
            </a:r>
            <a:endParaRPr/>
          </a:p>
        </p:txBody>
      </p:sp>
      <p:pic>
        <p:nvPicPr>
          <p:cNvPr id="478" name="Google Shape;478;g36642fba92e_0_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925" y="590525"/>
            <a:ext cx="4425648" cy="419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g36642fba92e_0_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95023" y="732550"/>
            <a:ext cx="4281627" cy="4144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6642fba92e_0_77"/>
          <p:cNvSpPr txBox="1"/>
          <p:nvPr>
            <p:ph type="title"/>
          </p:nvPr>
        </p:nvSpPr>
        <p:spPr>
          <a:xfrm>
            <a:off x="131925" y="74750"/>
            <a:ext cx="590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Casos de uso extendido</a:t>
            </a:r>
            <a:endParaRPr/>
          </a:p>
        </p:txBody>
      </p:sp>
      <p:pic>
        <p:nvPicPr>
          <p:cNvPr id="485" name="Google Shape;485;g36642fba92e_0_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800" y="647450"/>
            <a:ext cx="4130824" cy="4191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g36642fba92e_0_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5449" y="710150"/>
            <a:ext cx="4164621" cy="4191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6642fba92e_0_81"/>
          <p:cNvSpPr txBox="1"/>
          <p:nvPr>
            <p:ph type="title"/>
          </p:nvPr>
        </p:nvSpPr>
        <p:spPr>
          <a:xfrm>
            <a:off x="131925" y="74750"/>
            <a:ext cx="590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Casos de uso extendido</a:t>
            </a:r>
            <a:endParaRPr/>
          </a:p>
        </p:txBody>
      </p:sp>
      <p:pic>
        <p:nvPicPr>
          <p:cNvPr id="492" name="Google Shape;492;g36642fba92e_0_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800" y="647450"/>
            <a:ext cx="4290778" cy="4191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g36642fba92e_0_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2978" y="647450"/>
            <a:ext cx="4252886" cy="419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6642fba92e_0_85"/>
          <p:cNvSpPr txBox="1"/>
          <p:nvPr>
            <p:ph type="title"/>
          </p:nvPr>
        </p:nvSpPr>
        <p:spPr>
          <a:xfrm>
            <a:off x="131925" y="74750"/>
            <a:ext cx="590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Casos de uso extendido</a:t>
            </a:r>
            <a:endParaRPr/>
          </a:p>
        </p:txBody>
      </p:sp>
      <p:pic>
        <p:nvPicPr>
          <p:cNvPr id="499" name="Google Shape;499;g36642fba92e_0_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625" y="680225"/>
            <a:ext cx="4030048" cy="419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g36642fba92e_0_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09598" y="717625"/>
            <a:ext cx="4046916" cy="419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6642fba92e_0_89"/>
          <p:cNvSpPr txBox="1"/>
          <p:nvPr>
            <p:ph type="title"/>
          </p:nvPr>
        </p:nvSpPr>
        <p:spPr>
          <a:xfrm>
            <a:off x="131925" y="74750"/>
            <a:ext cx="590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Casos de uso extendido</a:t>
            </a:r>
            <a:endParaRPr/>
          </a:p>
        </p:txBody>
      </p:sp>
      <p:pic>
        <p:nvPicPr>
          <p:cNvPr id="506" name="Google Shape;506;g36642fba92e_0_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675" y="680225"/>
            <a:ext cx="4095612" cy="4191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g36642fba92e_0_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67687" y="799850"/>
            <a:ext cx="4213280" cy="4191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6642fba92e_0_111"/>
          <p:cNvSpPr txBox="1"/>
          <p:nvPr>
            <p:ph type="title"/>
          </p:nvPr>
        </p:nvSpPr>
        <p:spPr>
          <a:xfrm>
            <a:off x="131925" y="74750"/>
            <a:ext cx="590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Casos de uso extendido</a:t>
            </a:r>
            <a:endParaRPr/>
          </a:p>
        </p:txBody>
      </p:sp>
      <p:pic>
        <p:nvPicPr>
          <p:cNvPr id="513" name="Google Shape;513;g36642fba92e_0_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799850"/>
            <a:ext cx="4514083" cy="4191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g36642fba92e_0_1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8883" y="799850"/>
            <a:ext cx="4172717" cy="4102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6642fba92e_0_117"/>
          <p:cNvSpPr txBox="1"/>
          <p:nvPr>
            <p:ph type="title"/>
          </p:nvPr>
        </p:nvSpPr>
        <p:spPr>
          <a:xfrm>
            <a:off x="131925" y="74750"/>
            <a:ext cx="590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Casos de uso extendido</a:t>
            </a:r>
            <a:endParaRPr/>
          </a:p>
        </p:txBody>
      </p:sp>
      <p:pic>
        <p:nvPicPr>
          <p:cNvPr id="520" name="Google Shape;520;g36642fba92e_0_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925" y="702675"/>
            <a:ext cx="4481070" cy="4191249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g36642fba92e_0_117"/>
          <p:cNvSpPr txBox="1"/>
          <p:nvPr/>
        </p:nvSpPr>
        <p:spPr>
          <a:xfrm>
            <a:off x="22950" y="4804800"/>
            <a:ext cx="9098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https://docs.google.com/document/d/1UXrVUhVzdxVRxnV5ZT91uQmsiAuR6h5l/edit?usp=sharing&amp;ouid=100583172839135054193&amp;rtpof=true&amp;sd=true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6642fba92e_0_105"/>
          <p:cNvSpPr txBox="1"/>
          <p:nvPr>
            <p:ph type="title"/>
          </p:nvPr>
        </p:nvSpPr>
        <p:spPr>
          <a:xfrm>
            <a:off x="131925" y="74750"/>
            <a:ext cx="590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Casos de uso extendido</a:t>
            </a:r>
            <a:endParaRPr/>
          </a:p>
        </p:txBody>
      </p:sp>
      <p:pic>
        <p:nvPicPr>
          <p:cNvPr id="527" name="Google Shape;527;g36642fba92e_0_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675" y="680225"/>
            <a:ext cx="4095612" cy="4191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g36642fba92e_0_10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67687" y="799850"/>
            <a:ext cx="4213280" cy="4191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6b253f3e46e25224_0"/>
          <p:cNvSpPr txBox="1"/>
          <p:nvPr>
            <p:ph type="title"/>
          </p:nvPr>
        </p:nvSpPr>
        <p:spPr>
          <a:xfrm>
            <a:off x="131925" y="74750"/>
            <a:ext cx="590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Fichas técnicas </a:t>
            </a:r>
            <a:endParaRPr/>
          </a:p>
        </p:txBody>
      </p:sp>
      <p:sp>
        <p:nvSpPr>
          <p:cNvPr id="534" name="Google Shape;534;g6b253f3e46e25224_0"/>
          <p:cNvSpPr txBox="1"/>
          <p:nvPr/>
        </p:nvSpPr>
        <p:spPr>
          <a:xfrm>
            <a:off x="22950" y="4804800"/>
            <a:ext cx="9098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419" sz="10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https://docs.google.com/spreadsheets/u/0/d/1lsQQl8S254rgy8gh50jahIwvLu9-TH7C/htmlview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5" name="Google Shape;535;g6b253f3e46e25224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799850"/>
            <a:ext cx="8267973" cy="38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66474c7a81_0_0"/>
          <p:cNvSpPr txBox="1"/>
          <p:nvPr>
            <p:ph type="title"/>
          </p:nvPr>
        </p:nvSpPr>
        <p:spPr>
          <a:xfrm>
            <a:off x="131925" y="74750"/>
            <a:ext cx="590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diagrama de despliegue</a:t>
            </a:r>
            <a:endParaRPr/>
          </a:p>
        </p:txBody>
      </p:sp>
      <p:sp>
        <p:nvSpPr>
          <p:cNvPr id="541" name="Google Shape;541;g366474c7a81_0_0"/>
          <p:cNvSpPr txBox="1"/>
          <p:nvPr/>
        </p:nvSpPr>
        <p:spPr>
          <a:xfrm>
            <a:off x="22950" y="4804800"/>
            <a:ext cx="9098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g366474c7a81_0_0"/>
          <p:cNvSpPr txBox="1"/>
          <p:nvPr/>
        </p:nvSpPr>
        <p:spPr>
          <a:xfrm>
            <a:off x="2112925" y="41462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Link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3" name="Google Shape;543;g366474c7a81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8625" y="863025"/>
            <a:ext cx="5491925" cy="292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
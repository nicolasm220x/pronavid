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ABA0C7-D497-457B-B79C-E3033A1D3BA2}">
  <a:tblStyle styleId="{B8ABA0C7-D497-457B-B79C-E3033A1D3BA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F108712-4F53-4304-8001-77F26326E2D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1068942d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1068942d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1068942d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1068942d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1068942d3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1068942d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1068942d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1068942d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6274d32ef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6274d32ef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1068942d3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1068942d3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61068942d3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61068942d3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1068942d3_8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1068942d3_8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1068942d3_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1068942d3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1068942d3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1068942d3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211976e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211976e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210b9df4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210b9df4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210b9df4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210b9df4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210b9df4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210b9df4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210b9df4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210b9df4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211976e7a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211976e7a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210b9df4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210b9df4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210b9df4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210b9df4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210b9df4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6210b9df4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210b9df4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210b9df4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210b9df4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210b9df4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210b9df4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6210b9df4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210b9df4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210b9df4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6210b9df4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6210b9df4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6210b9df4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6210b9df4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6210b9df4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6210b9df4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6210b9df4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6210b9df4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210b9df4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6210b9df4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6210b9df4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6210b9df4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210b9df4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210b9df4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210b9df4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210b9df4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41275" y="2229550"/>
            <a:ext cx="8520600" cy="1265400"/>
          </a:xfrm>
          <a:prstGeom prst="rect">
            <a:avLst/>
          </a:prstGeom>
        </p:spPr>
        <p:txBody>
          <a:bodyPr anchorCtr="0" anchor="b" bIns="91425" lIns="91425" spcFirstLastPara="1" rIns="91425" wrap="square" tIns="91425">
            <a:normAutofit fontScale="90000"/>
          </a:bodyPr>
          <a:lstStyle/>
          <a:p>
            <a:pPr indent="0" lvl="0" marL="0" rtl="0" algn="ctr">
              <a:lnSpc>
                <a:spcPct val="115000"/>
              </a:lnSpc>
              <a:spcBef>
                <a:spcPts val="1200"/>
              </a:spcBef>
              <a:spcAft>
                <a:spcPts val="0"/>
              </a:spcAft>
              <a:buNone/>
            </a:pPr>
            <a:r>
              <a:t/>
            </a:r>
            <a:endParaRPr sz="2200">
              <a:latin typeface="Times New Roman"/>
              <a:ea typeface="Times New Roman"/>
              <a:cs typeface="Times New Roman"/>
              <a:sym typeface="Times New Roman"/>
            </a:endParaRPr>
          </a:p>
          <a:p>
            <a:pPr indent="0" lvl="0" marL="0" rtl="0" algn="ctr">
              <a:lnSpc>
                <a:spcPct val="115000"/>
              </a:lnSpc>
              <a:spcBef>
                <a:spcPts val="1200"/>
              </a:spcBef>
              <a:spcAft>
                <a:spcPts val="0"/>
              </a:spcAft>
              <a:buNone/>
            </a:pPr>
            <a:r>
              <a:rPr b="1" lang="es-419" sz="2644">
                <a:latin typeface="Times New Roman"/>
                <a:ea typeface="Times New Roman"/>
                <a:cs typeface="Times New Roman"/>
                <a:sym typeface="Times New Roman"/>
              </a:rPr>
              <a:t>Industrias Alimenticias Pronavid S.A.S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None/>
            </a:pPr>
            <a:r>
              <a:rPr b="1" lang="es-419" sz="2644">
                <a:latin typeface="Times New Roman"/>
                <a:ea typeface="Times New Roman"/>
                <a:cs typeface="Times New Roman"/>
                <a:sym typeface="Times New Roman"/>
              </a:rPr>
              <a:t>Gestión</a:t>
            </a:r>
            <a:r>
              <a:rPr b="1" lang="es-419" sz="2644">
                <a:latin typeface="Times New Roman"/>
                <a:ea typeface="Times New Roman"/>
                <a:cs typeface="Times New Roman"/>
                <a:sym typeface="Times New Roman"/>
              </a:rPr>
              <a:t> de ventas</a:t>
            </a:r>
            <a:endParaRPr b="1" sz="2644">
              <a:latin typeface="Times New Roman"/>
              <a:ea typeface="Times New Roman"/>
              <a:cs typeface="Times New Roman"/>
              <a:sym typeface="Times New Roman"/>
            </a:endParaRPr>
          </a:p>
          <a:p>
            <a:pPr indent="0" lvl="0" marL="0" rtl="0" algn="ctr">
              <a:lnSpc>
                <a:spcPct val="115000"/>
              </a:lnSpc>
              <a:spcBef>
                <a:spcPts val="1200"/>
              </a:spcBef>
              <a:spcAft>
                <a:spcPts val="0"/>
              </a:spcAft>
              <a:buNone/>
            </a:pPr>
            <a:r>
              <a:t/>
            </a:r>
            <a:endParaRPr b="1" sz="1644">
              <a:latin typeface="Times New Roman"/>
              <a:ea typeface="Times New Roman"/>
              <a:cs typeface="Times New Roman"/>
              <a:sym typeface="Times New Roman"/>
            </a:endParaRPr>
          </a:p>
          <a:p>
            <a:pPr indent="0" lvl="0" marL="0" rtl="0" algn="ctr">
              <a:spcBef>
                <a:spcPts val="1200"/>
              </a:spcBef>
              <a:spcAft>
                <a:spcPts val="0"/>
              </a:spcAft>
              <a:buNone/>
            </a:pPr>
            <a:r>
              <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922825"/>
            <a:ext cx="8520600" cy="1489200"/>
          </a:xfrm>
          <a:prstGeom prst="rect">
            <a:avLst/>
          </a:prstGeom>
        </p:spPr>
        <p:txBody>
          <a:bodyPr anchorCtr="0" anchor="t" bIns="91425" lIns="91425" spcFirstLastPara="1" rIns="91425" wrap="square" tIns="91425">
            <a:normAutofit fontScale="85000" lnSpcReduction="20000"/>
          </a:bodyPr>
          <a:lstStyle/>
          <a:p>
            <a:pPr indent="0" lvl="0" marL="0" rtl="0" algn="l">
              <a:lnSpc>
                <a:spcPct val="115000"/>
              </a:lnSpc>
              <a:spcBef>
                <a:spcPts val="1200"/>
              </a:spcBef>
              <a:spcAft>
                <a:spcPts val="1200"/>
              </a:spcAft>
              <a:buClr>
                <a:schemeClr val="dk1"/>
              </a:buClr>
              <a:buSzPct val="91666"/>
              <a:buFont typeface="Arial"/>
              <a:buNone/>
            </a:pPr>
            <a:r>
              <a:rPr lang="es-419" sz="1200">
                <a:solidFill>
                  <a:schemeClr val="dk1"/>
                </a:solidFill>
                <a:latin typeface="Times New Roman"/>
                <a:ea typeface="Times New Roman"/>
                <a:cs typeface="Times New Roman"/>
                <a:sym typeface="Times New Roman"/>
              </a:rPr>
              <a:t> </a:t>
            </a:r>
            <a:r>
              <a:rPr lang="es-419" sz="2550">
                <a:solidFill>
                  <a:schemeClr val="dk1"/>
                </a:solidFill>
                <a:latin typeface="Times New Roman"/>
                <a:ea typeface="Times New Roman"/>
                <a:cs typeface="Times New Roman"/>
                <a:sym typeface="Times New Roman"/>
              </a:rPr>
              <a:t>Jhon Alexander Merchan Trujillo</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Sebastián Espinosa Misas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Juan Benjamín Santos Gonzales</a:t>
            </a:r>
            <a:br>
              <a:rPr lang="es-419" sz="2550">
                <a:solidFill>
                  <a:schemeClr val="dk1"/>
                </a:solidFill>
                <a:latin typeface="Times New Roman"/>
                <a:ea typeface="Times New Roman"/>
                <a:cs typeface="Times New Roman"/>
                <a:sym typeface="Times New Roman"/>
              </a:rPr>
            </a:br>
            <a:r>
              <a:rPr lang="es-419" sz="2550">
                <a:solidFill>
                  <a:schemeClr val="dk1"/>
                </a:solidFill>
                <a:latin typeface="Times New Roman"/>
                <a:ea typeface="Times New Roman"/>
                <a:cs typeface="Times New Roman"/>
                <a:sym typeface="Times New Roman"/>
              </a:rPr>
              <a:t> Jhosuaht Julián Rojas Castañeda</a:t>
            </a:r>
            <a:endParaRPr sz="2550">
              <a:latin typeface="Times New Roman"/>
              <a:ea typeface="Times New Roman"/>
              <a:cs typeface="Times New Roman"/>
              <a:sym typeface="Times New Roman"/>
            </a:endParaRPr>
          </a:p>
        </p:txBody>
      </p:sp>
      <p:pic>
        <p:nvPicPr>
          <p:cNvPr id="56" name="Google Shape;56;p13"/>
          <p:cNvPicPr preferRelativeResize="0"/>
          <p:nvPr/>
        </p:nvPicPr>
        <p:blipFill>
          <a:blip r:embed="rId3">
            <a:alphaModFix/>
          </a:blip>
          <a:stretch>
            <a:fillRect/>
          </a:stretch>
        </p:blipFill>
        <p:spPr>
          <a:xfrm>
            <a:off x="4341625" y="2845825"/>
            <a:ext cx="4681274" cy="1566200"/>
          </a:xfrm>
          <a:prstGeom prst="rect">
            <a:avLst/>
          </a:prstGeom>
          <a:noFill/>
          <a:ln>
            <a:noFill/>
          </a:ln>
        </p:spPr>
      </p:pic>
      <p:pic>
        <p:nvPicPr>
          <p:cNvPr id="57" name="Google Shape;57;p13"/>
          <p:cNvPicPr preferRelativeResize="0"/>
          <p:nvPr/>
        </p:nvPicPr>
        <p:blipFill>
          <a:blip r:embed="rId4">
            <a:alphaModFix/>
          </a:blip>
          <a:stretch>
            <a:fillRect/>
          </a:stretch>
        </p:blipFill>
        <p:spPr>
          <a:xfrm>
            <a:off x="8271325" y="179125"/>
            <a:ext cx="751575" cy="734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30525"/>
            <a:ext cx="8520600" cy="572700"/>
          </a:xfrm>
          <a:prstGeom prst="rect">
            <a:avLst/>
          </a:prstGeom>
        </p:spPr>
        <p:txBody>
          <a:bodyPr anchorCtr="0" anchor="t" bIns="91425" lIns="91425" spcFirstLastPara="1" rIns="91425" wrap="square" tIns="91425">
            <a:normAutofit fontScale="90000"/>
          </a:bodyPr>
          <a:lstStyle/>
          <a:p>
            <a:pPr indent="-355599" lvl="0" marL="457200" rtl="0" algn="l">
              <a:spcBef>
                <a:spcPts val="0"/>
              </a:spcBef>
              <a:spcAft>
                <a:spcPts val="0"/>
              </a:spcAft>
              <a:buSzPct val="100000"/>
              <a:buFont typeface="Times New Roman"/>
              <a:buAutoNum type="arabicPeriod"/>
            </a:pPr>
            <a:r>
              <a:rPr b="1" lang="es-419" sz="2222">
                <a:highlight>
                  <a:srgbClr val="FFFFFF"/>
                </a:highlight>
                <a:latin typeface="Times New Roman"/>
                <a:ea typeface="Times New Roman"/>
                <a:cs typeface="Times New Roman"/>
                <a:sym typeface="Times New Roman"/>
              </a:rPr>
              <a:t>Planteamiento problema</a:t>
            </a:r>
            <a:endParaRPr b="1" sz="2222">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Industrias Alimenticias Pronavid S.A.S., ubicada en la localidad de Kennedy y dedicada a la producción y venta de productos como cereales, galletas y turrones, enfrenta serias dificultades en la </a:t>
            </a:r>
            <a:r>
              <a:rPr b="1" lang="es-419" sz="5900">
                <a:solidFill>
                  <a:schemeClr val="dk1"/>
                </a:solidFill>
                <a:latin typeface="Times New Roman"/>
                <a:ea typeface="Times New Roman"/>
                <a:cs typeface="Times New Roman"/>
                <a:sym typeface="Times New Roman"/>
              </a:rPr>
              <a:t>gestión de su proceso de ventas</a:t>
            </a:r>
            <a:r>
              <a:rPr lang="es-419" sz="5900">
                <a:solidFill>
                  <a:schemeClr val="dk1"/>
                </a:solidFill>
                <a:latin typeface="Times New Roman"/>
                <a:ea typeface="Times New Roman"/>
                <a:cs typeface="Times New Roman"/>
                <a:sym typeface="Times New Roman"/>
              </a:rPr>
              <a:t>, ya que actualmente opera de forma manual mediante hojas de cálculo, llamadas y mensajes por WhatsApp.</a:t>
            </a:r>
            <a:endParaRPr sz="59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275"/>
              <a:buFont typeface="Arial"/>
              <a:buNone/>
            </a:pPr>
            <a:r>
              <a:rPr lang="es-419" sz="5900">
                <a:solidFill>
                  <a:schemeClr val="dk1"/>
                </a:solidFill>
                <a:latin typeface="Times New Roman"/>
                <a:ea typeface="Times New Roman"/>
                <a:cs typeface="Times New Roman"/>
                <a:sym typeface="Times New Roman"/>
              </a:rPr>
              <a:t>Este método desorganizado ha generado múltiples problemas:</a:t>
            </a:r>
            <a:endParaRPr sz="5900">
              <a:solidFill>
                <a:schemeClr val="dk1"/>
              </a:solidFill>
              <a:latin typeface="Times New Roman"/>
              <a:ea typeface="Times New Roman"/>
              <a:cs typeface="Times New Roman"/>
              <a:sym typeface="Times New Roman"/>
            </a:endParaRPr>
          </a:p>
          <a:p>
            <a:pPr indent="-322262" lvl="0" marL="457200" rtl="0" algn="l">
              <a:spcBef>
                <a:spcPts val="120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Errores en los registros de los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Pérdida de información.</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322262" lvl="0" marL="457200" rtl="0" algn="l">
              <a:spcBef>
                <a:spcPts val="0"/>
              </a:spcBef>
              <a:spcAft>
                <a:spcPts val="0"/>
              </a:spcAft>
              <a:buClr>
                <a:schemeClr val="dk1"/>
              </a:buClr>
              <a:buSzPct val="100000"/>
              <a:buFont typeface="Times New Roman"/>
              <a:buChar char="●"/>
            </a:pPr>
            <a:r>
              <a:rPr lang="es-419" sz="5900">
                <a:solidFill>
                  <a:schemeClr val="dk1"/>
                </a:solidFill>
                <a:latin typeface="Times New Roman"/>
                <a:ea typeface="Times New Roman"/>
                <a:cs typeface="Times New Roman"/>
                <a:sym typeface="Times New Roman"/>
              </a:rPr>
              <a:t>Falta de seguimiento a pedidos.</a:t>
            </a:r>
            <a:br>
              <a:rPr lang="es-419" sz="5900">
                <a:solidFill>
                  <a:schemeClr val="dk1"/>
                </a:solidFill>
                <a:latin typeface="Times New Roman"/>
                <a:ea typeface="Times New Roman"/>
                <a:cs typeface="Times New Roman"/>
                <a:sym typeface="Times New Roman"/>
              </a:rPr>
            </a:br>
            <a:endParaRPr sz="5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5900">
                <a:solidFill>
                  <a:schemeClr val="dk1"/>
                </a:solidFill>
                <a:latin typeface="Times New Roman"/>
                <a:ea typeface="Times New Roman"/>
                <a:cs typeface="Times New Roman"/>
                <a:sym typeface="Times New Roman"/>
              </a:rPr>
              <a:t>Por ello, se plantea un </a:t>
            </a:r>
            <a:r>
              <a:rPr b="1" lang="es-419" sz="5900">
                <a:solidFill>
                  <a:schemeClr val="dk1"/>
                </a:solidFill>
                <a:latin typeface="Times New Roman"/>
                <a:ea typeface="Times New Roman"/>
                <a:cs typeface="Times New Roman"/>
                <a:sym typeface="Times New Roman"/>
              </a:rPr>
              <a:t>sistema de Gestión de Ventas</a:t>
            </a:r>
            <a:r>
              <a:rPr lang="es-419" sz="5900">
                <a:solidFill>
                  <a:schemeClr val="dk1"/>
                </a:solidFill>
                <a:latin typeface="Times New Roman"/>
                <a:ea typeface="Times New Roman"/>
                <a:cs typeface="Times New Roman"/>
                <a:sym typeface="Times New Roman"/>
              </a:rPr>
              <a:t> que permita automatizar y mejorar el registro, seguimiento y análisis de las actividades comerciales, garantizando un proceso más eficiente, seguro y trazable.</a:t>
            </a:r>
            <a:endParaRPr sz="59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275"/>
              <a:buFont typeface="Arial"/>
              <a:buNone/>
            </a:pPr>
            <a:r>
              <a:t/>
            </a:r>
            <a:endParaRPr sz="59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275"/>
              <a:buFont typeface="Arial"/>
              <a:buNone/>
            </a:pPr>
            <a:r>
              <a:t/>
            </a:r>
            <a:endParaRPr b="1" sz="55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50000"/>
              <a:buFont typeface="Arial"/>
              <a:buNone/>
            </a:pPr>
            <a:r>
              <a:t/>
            </a:r>
            <a:endParaRPr b="1" sz="2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rgbClr val="000000"/>
              </a:buClr>
              <a:buSzPct val="91666"/>
              <a:buFont typeface="Arial"/>
              <a:buNone/>
            </a:pPr>
            <a:r>
              <a:t/>
            </a:r>
            <a:endParaRPr sz="1200">
              <a:solidFill>
                <a:schemeClr val="dk1"/>
              </a:solidFill>
            </a:endParaRPr>
          </a:p>
        </p:txBody>
      </p:sp>
      <p:pic>
        <p:nvPicPr>
          <p:cNvPr id="64" name="Google Shape;64;p14"/>
          <p:cNvPicPr preferRelativeResize="0"/>
          <p:nvPr/>
        </p:nvPicPr>
        <p:blipFill>
          <a:blip r:embed="rId3">
            <a:alphaModFix/>
          </a:blip>
          <a:stretch>
            <a:fillRect/>
          </a:stretch>
        </p:blipFill>
        <p:spPr>
          <a:xfrm>
            <a:off x="8271325" y="179125"/>
            <a:ext cx="751575" cy="734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260200"/>
            <a:ext cx="3068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1250"/>
              <a:buFont typeface="Arial"/>
              <a:buNone/>
            </a:pPr>
            <a:r>
              <a:rPr b="1" lang="es-419" sz="2666">
                <a:highlight>
                  <a:srgbClr val="FFFFFF"/>
                </a:highlight>
                <a:latin typeface="Times New Roman"/>
                <a:ea typeface="Times New Roman"/>
                <a:cs typeface="Times New Roman"/>
                <a:sym typeface="Times New Roman"/>
              </a:rPr>
              <a:t>2. Pregunta problema</a:t>
            </a:r>
            <a:endParaRPr b="1" sz="2666">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100000"/>
              <a:buFont typeface="Arial"/>
              <a:buNone/>
            </a:pPr>
            <a:r>
              <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0" name="Google Shape;70;p15"/>
          <p:cNvSpPr txBox="1"/>
          <p:nvPr>
            <p:ph idx="1" type="body"/>
          </p:nvPr>
        </p:nvSpPr>
        <p:spPr>
          <a:xfrm>
            <a:off x="311700" y="1619200"/>
            <a:ext cx="3970800" cy="28233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lang="es-419">
                <a:solidFill>
                  <a:schemeClr val="dk1"/>
                </a:solidFill>
                <a:latin typeface="Times New Roman"/>
                <a:ea typeface="Times New Roman"/>
                <a:cs typeface="Times New Roman"/>
                <a:sym typeface="Times New Roman"/>
              </a:rPr>
              <a:t>¿ por </a:t>
            </a:r>
            <a:r>
              <a:rPr lang="es-419">
                <a:solidFill>
                  <a:schemeClr val="dk1"/>
                </a:solidFill>
                <a:latin typeface="Times New Roman"/>
                <a:ea typeface="Times New Roman"/>
                <a:cs typeface="Times New Roman"/>
                <a:sym typeface="Times New Roman"/>
              </a:rPr>
              <a:t>qué un</a:t>
            </a:r>
            <a:r>
              <a:rPr lang="es-419">
                <a:solidFill>
                  <a:schemeClr val="dk1"/>
                </a:solidFill>
                <a:latin typeface="Times New Roman"/>
                <a:ea typeface="Times New Roman"/>
                <a:cs typeface="Times New Roman"/>
                <a:sym typeface="Times New Roman"/>
              </a:rPr>
              <a:t> sistema orientado a la </a:t>
            </a:r>
            <a:r>
              <a:rPr lang="es-419">
                <a:solidFill>
                  <a:schemeClr val="dk1"/>
                </a:solidFill>
                <a:latin typeface="Times New Roman"/>
                <a:ea typeface="Times New Roman"/>
                <a:cs typeface="Times New Roman"/>
                <a:sym typeface="Times New Roman"/>
              </a:rPr>
              <a:t>gestión</a:t>
            </a:r>
            <a:r>
              <a:rPr lang="es-419">
                <a:solidFill>
                  <a:schemeClr val="dk1"/>
                </a:solidFill>
                <a:latin typeface="Times New Roman"/>
                <a:ea typeface="Times New Roman"/>
                <a:cs typeface="Times New Roman"/>
                <a:sym typeface="Times New Roman"/>
              </a:rPr>
              <a:t> de ventas puede influir positivamente en Industrias Alimenticias Pronavid S.A.S. optimizando la gestión de sus ventas mediante un sistema que permita registrar, controlar y analizar las cotizaciones, pedidos e historial de clientes, mejorando así la eficiencia comercial y la toma de decisiones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pic>
        <p:nvPicPr>
          <p:cNvPr id="71" name="Google Shape;71;p15"/>
          <p:cNvPicPr preferRelativeResize="0"/>
          <p:nvPr/>
        </p:nvPicPr>
        <p:blipFill>
          <a:blip r:embed="rId3">
            <a:alphaModFix/>
          </a:blip>
          <a:stretch>
            <a:fillRect/>
          </a:stretch>
        </p:blipFill>
        <p:spPr>
          <a:xfrm>
            <a:off x="8271325" y="179125"/>
            <a:ext cx="751575" cy="734850"/>
          </a:xfrm>
          <a:prstGeom prst="rect">
            <a:avLst/>
          </a:prstGeom>
          <a:noFill/>
          <a:ln>
            <a:noFill/>
          </a:ln>
        </p:spPr>
      </p:pic>
      <p:pic>
        <p:nvPicPr>
          <p:cNvPr id="72" name="Google Shape;72;p15"/>
          <p:cNvPicPr preferRelativeResize="0"/>
          <p:nvPr/>
        </p:nvPicPr>
        <p:blipFill>
          <a:blip r:embed="rId4">
            <a:alphaModFix/>
          </a:blip>
          <a:stretch>
            <a:fillRect/>
          </a:stretch>
        </p:blipFill>
        <p:spPr>
          <a:xfrm>
            <a:off x="4282500" y="1390438"/>
            <a:ext cx="4776400" cy="2362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30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2000">
                <a:highlight>
                  <a:srgbClr val="FFFFFF"/>
                </a:highlight>
                <a:latin typeface="Times New Roman"/>
                <a:ea typeface="Times New Roman"/>
                <a:cs typeface="Times New Roman"/>
                <a:sym typeface="Times New Roman"/>
              </a:rPr>
              <a:t>3. Objetivo general</a:t>
            </a:r>
            <a:endParaRPr b="1" sz="2000">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8" name="Google Shape;78;p16"/>
          <p:cNvSpPr txBox="1"/>
          <p:nvPr>
            <p:ph idx="1" type="body"/>
          </p:nvPr>
        </p:nvSpPr>
        <p:spPr>
          <a:xfrm>
            <a:off x="311700" y="1331975"/>
            <a:ext cx="4320000" cy="2839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s-419">
                <a:solidFill>
                  <a:schemeClr val="dk1"/>
                </a:solidFill>
                <a:latin typeface="Times New Roman"/>
                <a:ea typeface="Times New Roman"/>
                <a:cs typeface="Times New Roman"/>
                <a:sym typeface="Times New Roman"/>
              </a:rPr>
              <a:t>implementar un sistema de gestión de ventas para Industrias Alimenticias Pronavid S.A.S. que permita automatizar el registro de pedidos, controlar cotizaciones, organizar el historial de clientes y generar reportes comerciales, con el fin de mejorar la eficiencia del proceso de ventas y apoyar la toma de decisiones basada en datos.</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79" name="Google Shape;79;p16"/>
          <p:cNvPicPr preferRelativeResize="0"/>
          <p:nvPr/>
        </p:nvPicPr>
        <p:blipFill>
          <a:blip r:embed="rId3">
            <a:alphaModFix/>
          </a:blip>
          <a:stretch>
            <a:fillRect/>
          </a:stretch>
        </p:blipFill>
        <p:spPr>
          <a:xfrm>
            <a:off x="8271325" y="179125"/>
            <a:ext cx="751575" cy="734850"/>
          </a:xfrm>
          <a:prstGeom prst="rect">
            <a:avLst/>
          </a:prstGeom>
          <a:noFill/>
          <a:ln>
            <a:noFill/>
          </a:ln>
        </p:spPr>
      </p:pic>
      <p:pic>
        <p:nvPicPr>
          <p:cNvPr id="80" name="Google Shape;80;p16"/>
          <p:cNvPicPr preferRelativeResize="0"/>
          <p:nvPr/>
        </p:nvPicPr>
        <p:blipFill>
          <a:blip r:embed="rId4">
            <a:alphaModFix/>
          </a:blip>
          <a:stretch>
            <a:fillRect/>
          </a:stretch>
        </p:blipFill>
        <p:spPr>
          <a:xfrm>
            <a:off x="4631900" y="899275"/>
            <a:ext cx="3835475" cy="3704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095250" y="260200"/>
            <a:ext cx="2953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s-419" sz="2020">
                <a:latin typeface="Times New Roman"/>
                <a:ea typeface="Times New Roman"/>
                <a:cs typeface="Times New Roman"/>
                <a:sym typeface="Times New Roman"/>
              </a:rPr>
              <a:t>4. </a:t>
            </a:r>
            <a:r>
              <a:rPr b="1" lang="es-419" sz="2020">
                <a:latin typeface="Times New Roman"/>
                <a:ea typeface="Times New Roman"/>
                <a:cs typeface="Times New Roman"/>
                <a:sym typeface="Times New Roman"/>
              </a:rPr>
              <a:t>Objetivos </a:t>
            </a:r>
            <a:r>
              <a:rPr b="1" lang="es-419" sz="2020">
                <a:latin typeface="Times New Roman"/>
                <a:ea typeface="Times New Roman"/>
                <a:cs typeface="Times New Roman"/>
                <a:sym typeface="Times New Roman"/>
              </a:rPr>
              <a:t>específicos</a:t>
            </a:r>
            <a:endParaRPr b="1" sz="2020">
              <a:latin typeface="Times New Roman"/>
              <a:ea typeface="Times New Roman"/>
              <a:cs typeface="Times New Roman"/>
              <a:sym typeface="Times New Roman"/>
            </a:endParaRPr>
          </a:p>
        </p:txBody>
      </p:sp>
      <p:pic>
        <p:nvPicPr>
          <p:cNvPr id="86" name="Google Shape;86;p17"/>
          <p:cNvPicPr preferRelativeResize="0"/>
          <p:nvPr/>
        </p:nvPicPr>
        <p:blipFill>
          <a:blip r:embed="rId3">
            <a:alphaModFix/>
          </a:blip>
          <a:stretch>
            <a:fillRect/>
          </a:stretch>
        </p:blipFill>
        <p:spPr>
          <a:xfrm>
            <a:off x="8271325" y="179125"/>
            <a:ext cx="751575" cy="734850"/>
          </a:xfrm>
          <a:prstGeom prst="rect">
            <a:avLst/>
          </a:prstGeom>
          <a:noFill/>
          <a:ln>
            <a:noFill/>
          </a:ln>
        </p:spPr>
      </p:pic>
      <p:sp>
        <p:nvSpPr>
          <p:cNvPr id="87" name="Google Shape;87;p17"/>
          <p:cNvSpPr txBox="1"/>
          <p:nvPr>
            <p:ph type="title"/>
          </p:nvPr>
        </p:nvSpPr>
        <p:spPr>
          <a:xfrm>
            <a:off x="-195750" y="1355525"/>
            <a:ext cx="5585700" cy="2634900"/>
          </a:xfrm>
          <a:prstGeom prst="rect">
            <a:avLst/>
          </a:prstGeom>
        </p:spPr>
        <p:txBody>
          <a:bodyPr anchorCtr="0" anchor="t" bIns="91425" lIns="91425" spcFirstLastPara="1" rIns="91425" wrap="square" tIns="91425">
            <a:normAutofit fontScale="90000"/>
          </a:bodyPr>
          <a:lstStyle/>
          <a:p>
            <a:pPr indent="-291465" lvl="0" marL="457200" rtl="0" algn="l">
              <a:lnSpc>
                <a:spcPct val="115000"/>
              </a:lnSpc>
              <a:spcBef>
                <a:spcPts val="1200"/>
              </a:spcBef>
              <a:spcAft>
                <a:spcPts val="0"/>
              </a:spcAft>
              <a:buSzPct val="54455"/>
              <a:buChar char="●"/>
            </a:pPr>
            <a:r>
              <a:rPr lang="es-419" sz="2020">
                <a:latin typeface="Times New Roman"/>
                <a:ea typeface="Times New Roman"/>
                <a:cs typeface="Times New Roman"/>
                <a:sym typeface="Times New Roman"/>
              </a:rPr>
              <a:t>Permitir el registro de cotizaciones y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Gestionar precios, promociones y estado de pedidos.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Facilitar la generación de reportes de ventas.</a:t>
            </a:r>
            <a:endParaRPr sz="2020">
              <a:latin typeface="Times New Roman"/>
              <a:ea typeface="Times New Roman"/>
              <a:cs typeface="Times New Roman"/>
              <a:sym typeface="Times New Roman"/>
            </a:endParaRPr>
          </a:p>
          <a:p>
            <a:pPr indent="-291465" lvl="0" marL="457200" rtl="0" algn="l">
              <a:lnSpc>
                <a:spcPct val="115000"/>
              </a:lnSpc>
              <a:spcBef>
                <a:spcPts val="0"/>
              </a:spcBef>
              <a:spcAft>
                <a:spcPts val="0"/>
              </a:spcAft>
              <a:buSzPct val="54455"/>
              <a:buChar char="●"/>
            </a:pPr>
            <a:r>
              <a:rPr lang="es-419" sz="2020">
                <a:latin typeface="Times New Roman"/>
                <a:ea typeface="Times New Roman"/>
                <a:cs typeface="Times New Roman"/>
                <a:sym typeface="Times New Roman"/>
              </a:rPr>
              <a:t>Automatizar tareas repetitivas del proceso comercial.</a:t>
            </a:r>
            <a:endParaRPr sz="2020">
              <a:latin typeface="Times New Roman"/>
              <a:ea typeface="Times New Roman"/>
              <a:cs typeface="Times New Roman"/>
              <a:sym typeface="Times New Roman"/>
            </a:endParaRPr>
          </a:p>
          <a:p>
            <a:pPr indent="0" lvl="0" marL="0" rtl="0" algn="l">
              <a:spcBef>
                <a:spcPts val="1200"/>
              </a:spcBef>
              <a:spcAft>
                <a:spcPts val="0"/>
              </a:spcAft>
              <a:buSzPct val="49009"/>
              <a:buNone/>
            </a:pPr>
            <a:r>
              <a:t/>
            </a:r>
            <a:endParaRPr b="1" sz="2020">
              <a:latin typeface="Times New Roman"/>
              <a:ea typeface="Times New Roman"/>
              <a:cs typeface="Times New Roman"/>
              <a:sym typeface="Times New Roman"/>
            </a:endParaRPr>
          </a:p>
        </p:txBody>
      </p:sp>
      <p:pic>
        <p:nvPicPr>
          <p:cNvPr id="88" name="Google Shape;88;p17"/>
          <p:cNvPicPr preferRelativeResize="0"/>
          <p:nvPr/>
        </p:nvPicPr>
        <p:blipFill>
          <a:blip r:embed="rId4">
            <a:alphaModFix/>
          </a:blip>
          <a:stretch>
            <a:fillRect/>
          </a:stretch>
        </p:blipFill>
        <p:spPr>
          <a:xfrm>
            <a:off x="5389950" y="1024075"/>
            <a:ext cx="3754050" cy="2828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229600" y="4121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000">
                <a:highlight>
                  <a:srgbClr val="FFFFFF"/>
                </a:highlight>
              </a:rPr>
              <a:t>5. Justificación </a:t>
            </a:r>
            <a:endParaRPr b="1" sz="2000"/>
          </a:p>
        </p:txBody>
      </p:sp>
      <p:sp>
        <p:nvSpPr>
          <p:cNvPr id="94" name="Google Shape;94;p18"/>
          <p:cNvSpPr txBox="1"/>
          <p:nvPr>
            <p:ph idx="1" type="body"/>
          </p:nvPr>
        </p:nvSpPr>
        <p:spPr>
          <a:xfrm>
            <a:off x="147600" y="1090050"/>
            <a:ext cx="8996400" cy="31191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Industrias Alimenticias Pronavid S.A.S. carece actualmente de un sistema automatizado que le permita gestionar de forma efectiva sus procesos de ventas. El uso de herramientas manuales como hojas de cálculo, mensajes de WhatsApp genera retrasos, errores en la información, pérdida de datos y una baja capacidad de respuesta frente a los requerimientos de los clientes.</a:t>
            </a:r>
            <a:endParaRPr sz="7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275"/>
              <a:buFont typeface="Arial"/>
              <a:buNone/>
            </a:pPr>
            <a:r>
              <a:rPr lang="es-419" sz="7200">
                <a:solidFill>
                  <a:schemeClr val="dk1"/>
                </a:solidFill>
                <a:latin typeface="Times New Roman"/>
                <a:ea typeface="Times New Roman"/>
                <a:cs typeface="Times New Roman"/>
                <a:sym typeface="Times New Roman"/>
              </a:rPr>
              <a:t>La implementación de un sistema de gestión de ventas aportará mejoras sustanciales en la organización del proceso comercial, permitiendo el registro estructurado de pedidos, el control del estado de las ventas, el acceso al historial de clientes y la generación de reportes útiles para la toma de decisiones. Esto minimizará los errores humanos y optimizará la comunicación entre los distintos actores involucrados en el proceso de ventas.</a:t>
            </a:r>
            <a:endParaRPr sz="7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275"/>
              <a:buFont typeface="Arial"/>
              <a:buNone/>
            </a:pPr>
            <a:r>
              <a:t/>
            </a:r>
            <a:endParaRPr sz="7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61111"/>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61111"/>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61111"/>
              <a:buFont typeface="Arial"/>
              <a:buNone/>
            </a:pPr>
            <a:r>
              <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ct val="61111"/>
              <a:buFont typeface="Arial"/>
              <a:buNone/>
            </a:pPr>
            <a:r>
              <a:t/>
            </a:r>
            <a:endParaRPr b="1">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95" name="Google Shape;95;p18"/>
          <p:cNvPicPr preferRelativeResize="0"/>
          <p:nvPr/>
        </p:nvPicPr>
        <p:blipFill>
          <a:blip r:embed="rId3">
            <a:alphaModFix/>
          </a:blip>
          <a:stretch>
            <a:fillRect/>
          </a:stretch>
        </p:blipFill>
        <p:spPr>
          <a:xfrm>
            <a:off x="8271325" y="179125"/>
            <a:ext cx="751575" cy="73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598600" y="7369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000">
                <a:highlight>
                  <a:srgbClr val="FFFFFF"/>
                </a:highlight>
                <a:latin typeface="Times New Roman"/>
                <a:ea typeface="Times New Roman"/>
                <a:cs typeface="Times New Roman"/>
                <a:sym typeface="Times New Roman"/>
              </a:rPr>
              <a:t>6. </a:t>
            </a:r>
            <a:r>
              <a:rPr b="1" lang="es-419" sz="2000">
                <a:highlight>
                  <a:srgbClr val="FFFFFF"/>
                </a:highlight>
                <a:latin typeface="Times New Roman"/>
                <a:ea typeface="Times New Roman"/>
                <a:cs typeface="Times New Roman"/>
                <a:sym typeface="Times New Roman"/>
              </a:rPr>
              <a:t>Alcance</a:t>
            </a:r>
            <a:endParaRPr b="1" sz="3600">
              <a:latin typeface="Times New Roman"/>
              <a:ea typeface="Times New Roman"/>
              <a:cs typeface="Times New Roman"/>
              <a:sym typeface="Times New Roman"/>
            </a:endParaRPr>
          </a:p>
        </p:txBody>
      </p:sp>
      <p:sp>
        <p:nvSpPr>
          <p:cNvPr id="101" name="Google Shape;101;p19"/>
          <p:cNvSpPr/>
          <p:nvPr/>
        </p:nvSpPr>
        <p:spPr>
          <a:xfrm>
            <a:off x="4957275" y="1309600"/>
            <a:ext cx="3810900" cy="3617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s-419" sz="1300">
                <a:solidFill>
                  <a:schemeClr val="dk1"/>
                </a:solidFill>
                <a:latin typeface="Times New Roman"/>
                <a:ea typeface="Times New Roman"/>
                <a:cs typeface="Times New Roman"/>
                <a:sym typeface="Times New Roman"/>
              </a:rPr>
              <a:t>El sistema estará limitado a uso interno del personal comercial, sin incluir pagos electrónicos, facturación automática, portal de compras para clientes externos, integración con las áreas de producción, finanzas o logística, ni un sistema completo de inventario, y su disponibilidad será exclusivamente en versión web.</a:t>
            </a:r>
            <a:endParaRPr sz="13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1300">
              <a:solidFill>
                <a:schemeClr val="dk1"/>
              </a:solidFill>
              <a:latin typeface="Times New Roman"/>
              <a:ea typeface="Times New Roman"/>
              <a:cs typeface="Times New Roman"/>
              <a:sym typeface="Times New Roman"/>
            </a:endParaRPr>
          </a:p>
        </p:txBody>
      </p:sp>
      <p:sp>
        <p:nvSpPr>
          <p:cNvPr id="102" name="Google Shape;102;p19"/>
          <p:cNvSpPr/>
          <p:nvPr/>
        </p:nvSpPr>
        <p:spPr>
          <a:xfrm>
            <a:off x="262750" y="1309600"/>
            <a:ext cx="4309200" cy="361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Times New Roman"/>
              <a:ea typeface="Times New Roman"/>
              <a:cs typeface="Times New Roman"/>
              <a:sym typeface="Times New Roman"/>
            </a:endParaRPr>
          </a:p>
          <a:p>
            <a:pPr indent="0" lvl="0" marL="0" rtl="0" algn="ctr">
              <a:spcBef>
                <a:spcPts val="0"/>
              </a:spcBef>
              <a:spcAft>
                <a:spcPts val="0"/>
              </a:spcAft>
              <a:buNone/>
            </a:pPr>
            <a:r>
              <a:t/>
            </a:r>
            <a:endParaRPr sz="1100">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br>
              <a:rPr lang="es-419" sz="900">
                <a:solidFill>
                  <a:schemeClr val="dk1"/>
                </a:solidFill>
              </a:rPr>
            </a:br>
            <a:endParaRPr sz="9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00">
              <a:latin typeface="Times New Roman"/>
              <a:ea typeface="Times New Roman"/>
              <a:cs typeface="Times New Roman"/>
              <a:sym typeface="Times New Roman"/>
            </a:endParaRPr>
          </a:p>
          <a:p>
            <a:pPr indent="0" lvl="0" marL="0" rtl="0" algn="ctr">
              <a:spcBef>
                <a:spcPts val="1200"/>
              </a:spcBef>
              <a:spcAft>
                <a:spcPts val="0"/>
              </a:spcAft>
              <a:buNone/>
            </a:pPr>
            <a:r>
              <a:t/>
            </a:r>
            <a:endParaRPr sz="1300">
              <a:latin typeface="Times New Roman"/>
              <a:ea typeface="Times New Roman"/>
              <a:cs typeface="Times New Roman"/>
              <a:sym typeface="Times New Roman"/>
            </a:endParaRPr>
          </a:p>
        </p:txBody>
      </p:sp>
      <p:sp>
        <p:nvSpPr>
          <p:cNvPr id="103" name="Google Shape;103;p19"/>
          <p:cNvSpPr txBox="1"/>
          <p:nvPr/>
        </p:nvSpPr>
        <p:spPr>
          <a:xfrm>
            <a:off x="5960625" y="1812400"/>
            <a:ext cx="1725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300">
                <a:solidFill>
                  <a:schemeClr val="dk1"/>
                </a:solidFill>
                <a:latin typeface="Times New Roman"/>
                <a:ea typeface="Times New Roman"/>
                <a:cs typeface="Times New Roman"/>
                <a:sym typeface="Times New Roman"/>
              </a:rPr>
              <a:t>Delimitación</a:t>
            </a:r>
            <a:endParaRPr sz="2300">
              <a:solidFill>
                <a:schemeClr val="dk1"/>
              </a:solidFill>
              <a:latin typeface="Times New Roman"/>
              <a:ea typeface="Times New Roman"/>
              <a:cs typeface="Times New Roman"/>
              <a:sym typeface="Times New Roman"/>
            </a:endParaRPr>
          </a:p>
        </p:txBody>
      </p:sp>
      <p:sp>
        <p:nvSpPr>
          <p:cNvPr id="104" name="Google Shape;104;p19"/>
          <p:cNvSpPr txBox="1"/>
          <p:nvPr/>
        </p:nvSpPr>
        <p:spPr>
          <a:xfrm>
            <a:off x="1838650" y="1606675"/>
            <a:ext cx="1157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300">
                <a:solidFill>
                  <a:schemeClr val="dk1"/>
                </a:solidFill>
                <a:latin typeface="Times New Roman"/>
                <a:ea typeface="Times New Roman"/>
                <a:cs typeface="Times New Roman"/>
                <a:sym typeface="Times New Roman"/>
              </a:rPr>
              <a:t>Alcance</a:t>
            </a:r>
            <a:endParaRPr sz="2300">
              <a:solidFill>
                <a:schemeClr val="dk1"/>
              </a:solidFill>
              <a:latin typeface="Times New Roman"/>
              <a:ea typeface="Times New Roman"/>
              <a:cs typeface="Times New Roman"/>
              <a:sym typeface="Times New Roman"/>
            </a:endParaRPr>
          </a:p>
        </p:txBody>
      </p:sp>
      <p:sp>
        <p:nvSpPr>
          <p:cNvPr id="105" name="Google Shape;105;p19"/>
          <p:cNvSpPr txBox="1"/>
          <p:nvPr>
            <p:ph type="title"/>
          </p:nvPr>
        </p:nvSpPr>
        <p:spPr>
          <a:xfrm>
            <a:off x="5583150" y="683450"/>
            <a:ext cx="2018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000">
                <a:highlight>
                  <a:srgbClr val="FFFFFF"/>
                </a:highlight>
                <a:latin typeface="Times New Roman"/>
                <a:ea typeface="Times New Roman"/>
                <a:cs typeface="Times New Roman"/>
                <a:sym typeface="Times New Roman"/>
              </a:rPr>
              <a:t>7. </a:t>
            </a:r>
            <a:r>
              <a:rPr b="1" lang="es-419" sz="2000">
                <a:highlight>
                  <a:srgbClr val="FFFFFF"/>
                </a:highlight>
                <a:latin typeface="Times New Roman"/>
                <a:ea typeface="Times New Roman"/>
                <a:cs typeface="Times New Roman"/>
                <a:sym typeface="Times New Roman"/>
              </a:rPr>
              <a:t>Delimitación</a:t>
            </a:r>
            <a:endParaRPr b="1" sz="3600">
              <a:latin typeface="Times New Roman"/>
              <a:ea typeface="Times New Roman"/>
              <a:cs typeface="Times New Roman"/>
              <a:sym typeface="Times New Roman"/>
            </a:endParaRPr>
          </a:p>
        </p:txBody>
      </p:sp>
      <p:pic>
        <p:nvPicPr>
          <p:cNvPr id="106" name="Google Shape;106;p19"/>
          <p:cNvPicPr preferRelativeResize="0"/>
          <p:nvPr/>
        </p:nvPicPr>
        <p:blipFill>
          <a:blip r:embed="rId3">
            <a:alphaModFix/>
          </a:blip>
          <a:stretch>
            <a:fillRect/>
          </a:stretch>
        </p:blipFill>
        <p:spPr>
          <a:xfrm>
            <a:off x="8271325" y="179125"/>
            <a:ext cx="751575" cy="734850"/>
          </a:xfrm>
          <a:prstGeom prst="rect">
            <a:avLst/>
          </a:prstGeom>
          <a:noFill/>
          <a:ln>
            <a:noFill/>
          </a:ln>
        </p:spPr>
      </p:pic>
      <p:sp>
        <p:nvSpPr>
          <p:cNvPr id="107" name="Google Shape;107;p19"/>
          <p:cNvSpPr txBox="1"/>
          <p:nvPr/>
        </p:nvSpPr>
        <p:spPr>
          <a:xfrm>
            <a:off x="385900" y="2272975"/>
            <a:ext cx="4062900" cy="208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sz="1300">
                <a:solidFill>
                  <a:schemeClr val="dk1"/>
                </a:solidFill>
                <a:latin typeface="Times New Roman"/>
                <a:ea typeface="Times New Roman"/>
                <a:cs typeface="Times New Roman"/>
                <a:sym typeface="Times New Roman"/>
              </a:rPr>
              <a:t>El sistema web estará orientado a la gestión del proceso de ventas en Industrias Alimenticias Pronavid S.A.S., incluyendo el registro de cotizaciones y pedidos, seguimiento de estados, historial de compras por cliente, generación de reportes básicos y autenticación de usuarios internos (asesores y administradores), con almacenamiento de datos en servidores locales o en la nube (dependiendo los recursos ). El proyecto se desarrollará e implementará progresivamente en un plazo estimado de seis (6) a siete (7) trimestres.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0" y="-821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13" name="Google Shape;113;p20"/>
          <p:cNvSpPr txBox="1"/>
          <p:nvPr>
            <p:ph idx="1" type="body"/>
          </p:nvPr>
        </p:nvSpPr>
        <p:spPr>
          <a:xfrm>
            <a:off x="0" y="364200"/>
            <a:ext cx="4992300" cy="47793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s-419" sz="1000">
                <a:solidFill>
                  <a:schemeClr val="dk1"/>
                </a:solidFill>
                <a:latin typeface="Times New Roman"/>
                <a:ea typeface="Times New Roman"/>
                <a:cs typeface="Times New Roman"/>
                <a:sym typeface="Times New Roman"/>
              </a:rPr>
              <a:t>Rol 1: Asesor Comercial (Ejecutivo de Ventas)</a:t>
            </a:r>
            <a:endParaRPr b="1"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s-419" sz="1000">
                <a:solidFill>
                  <a:schemeClr val="dk1"/>
                </a:solidFill>
                <a:latin typeface="Times New Roman"/>
                <a:ea typeface="Times New Roman"/>
                <a:cs typeface="Times New Roman"/>
                <a:sym typeface="Times New Roman"/>
              </a:rPr>
              <a:t>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¿Actualmente utiliza alguna herramienta digital para registrar pedidos?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¿cuál?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¿Cuáles son los pasos que sigue para registrar una venta desde el primer contacto hasta el cierre?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debe repetir información de un cliente ya conocido?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Siempre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A veces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Nunca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consulta actualmente el historial de compras de un cliente?</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000">
                <a:solidFill>
                  <a:schemeClr val="dk1"/>
                </a:solidFill>
                <a:latin typeface="Times New Roman"/>
                <a:ea typeface="Times New Roman"/>
                <a:cs typeface="Times New Roman"/>
                <a:sym typeface="Times New Roman"/>
              </a:rPr>
              <a:t>¿Qué tan fácil es para usted modificar un pedido en curso? Muy fácil,  Regular, Difícil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82">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
        <p:nvSpPr>
          <p:cNvPr id="114" name="Google Shape;114;p20"/>
          <p:cNvSpPr txBox="1"/>
          <p:nvPr>
            <p:ph idx="1" type="body"/>
          </p:nvPr>
        </p:nvSpPr>
        <p:spPr>
          <a:xfrm>
            <a:off x="4851175" y="-522200"/>
            <a:ext cx="4493100" cy="5452200"/>
          </a:xfrm>
          <a:prstGeom prst="rect">
            <a:avLst/>
          </a:prstGeom>
        </p:spPr>
        <p:txBody>
          <a:bodyPr anchorCtr="0" anchor="t" bIns="91425" lIns="91425" spcFirstLastPara="1" rIns="91425" wrap="square" tIns="91425">
            <a:noAutofit/>
          </a:bodyPr>
          <a:lstStyle/>
          <a:p>
            <a:pPr indent="-292100" lvl="1" marL="914400" rtl="0" algn="l">
              <a:spcBef>
                <a:spcPts val="1200"/>
              </a:spcBef>
              <a:spcAft>
                <a:spcPts val="0"/>
              </a:spcAft>
              <a:buClr>
                <a:schemeClr val="dk1"/>
              </a:buClr>
              <a:buSzPts val="1000"/>
              <a:buFont typeface="Times New Roman"/>
              <a:buChar char="○"/>
            </a:pP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100">
                <a:solidFill>
                  <a:schemeClr val="dk1"/>
                </a:solidFill>
                <a:latin typeface="Times New Roman"/>
                <a:ea typeface="Times New Roman"/>
                <a:cs typeface="Times New Roman"/>
                <a:sym typeface="Times New Roman"/>
              </a:rPr>
              <a:t>6</a:t>
            </a:r>
            <a:r>
              <a:rPr lang="es-419" sz="900">
                <a:solidFill>
                  <a:schemeClr val="dk1"/>
                </a:solidFill>
                <a:latin typeface="Times New Roman"/>
                <a:ea typeface="Times New Roman"/>
                <a:cs typeface="Times New Roman"/>
                <a:sym typeface="Times New Roman"/>
              </a:rPr>
              <a:t>.   ¿Qué tipo de errores suelen ocurrir en el proceso de venta? (Explique brevemente)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7.    ¿Tiene forma de saber cuáles productos son los más vendidos del mes?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8.   ¿Qué funciones considera indispensables en un sistema de ventas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9.   En una escala del 1 al 5, ¿qué tan necesario considera implementar un sistema automatizado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1 Nada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2 Poco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3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4 Muy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5 Totalmente necesario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10.    ¿Qué impacto cree que tendría este sistema en su productividad diaria?</a:t>
            </a:r>
            <a:br>
              <a:rPr lang="es-419" sz="900">
                <a:solidFill>
                  <a:schemeClr val="dk1"/>
                </a:solidFill>
                <a:latin typeface="Times New Roman"/>
                <a:ea typeface="Times New Roman"/>
                <a:cs typeface="Times New Roman"/>
                <a:sym typeface="Times New Roman"/>
              </a:rPr>
            </a:b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835">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457">
                <a:solidFill>
                  <a:schemeClr val="dk1"/>
                </a:solidFill>
                <a:latin typeface="Times New Roman"/>
                <a:ea typeface="Times New Roman"/>
                <a:cs typeface="Times New Roman"/>
                <a:sym typeface="Times New Roman"/>
              </a:rPr>
            </a:br>
            <a:endParaRPr sz="71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685">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685">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900">
                <a:highlight>
                  <a:srgbClr val="FFFFFF"/>
                </a:highlight>
                <a:latin typeface="Times New Roman"/>
                <a:ea typeface="Times New Roman"/>
                <a:cs typeface="Times New Roman"/>
                <a:sym typeface="Times New Roman"/>
              </a:rPr>
              <a:t>8. Técnicas e instrumentos de recolección</a:t>
            </a:r>
            <a:endParaRPr b="1" sz="1900">
              <a:latin typeface="Times New Roman"/>
              <a:ea typeface="Times New Roman"/>
              <a:cs typeface="Times New Roman"/>
              <a:sym typeface="Times New Roman"/>
            </a:endParaRPr>
          </a:p>
        </p:txBody>
      </p:sp>
      <p:sp>
        <p:nvSpPr>
          <p:cNvPr id="120" name="Google Shape;120;p21"/>
          <p:cNvSpPr txBox="1"/>
          <p:nvPr>
            <p:ph idx="1" type="body"/>
          </p:nvPr>
        </p:nvSpPr>
        <p:spPr>
          <a:xfrm>
            <a:off x="0" y="474175"/>
            <a:ext cx="5034000" cy="3865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s-419" sz="1300">
                <a:solidFill>
                  <a:schemeClr val="dk1"/>
                </a:solidFill>
                <a:latin typeface="Times New Roman"/>
                <a:ea typeface="Times New Roman"/>
                <a:cs typeface="Times New Roman"/>
                <a:sym typeface="Times New Roman"/>
              </a:rPr>
              <a:t>Rol 2: Coordinador de Ventas</a:t>
            </a:r>
            <a:endParaRPr b="1"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s-419" sz="1100">
                <a:solidFill>
                  <a:schemeClr val="dk1"/>
                </a:solidFill>
                <a:latin typeface="Times New Roman"/>
                <a:ea typeface="Times New Roman"/>
                <a:cs typeface="Times New Roman"/>
                <a:sym typeface="Times New Roman"/>
              </a:rPr>
              <a:t>Técnica:</a:t>
            </a:r>
            <a:r>
              <a:rPr lang="es-419" sz="1100">
                <a:solidFill>
                  <a:schemeClr val="dk1"/>
                </a:solidFill>
                <a:latin typeface="Times New Roman"/>
                <a:ea typeface="Times New Roman"/>
                <a:cs typeface="Times New Roman"/>
                <a:sym typeface="Times New Roman"/>
              </a:rPr>
              <a:t> Entrevista semi-estructurada</a:t>
            </a:r>
            <a:br>
              <a:rPr lang="es-419" sz="1100">
                <a:solidFill>
                  <a:schemeClr val="dk1"/>
                </a:solidFill>
                <a:latin typeface="Times New Roman"/>
                <a:ea typeface="Times New Roman"/>
                <a:cs typeface="Times New Roman"/>
                <a:sym typeface="Times New Roman"/>
              </a:rPr>
            </a:br>
            <a:r>
              <a:rPr lang="es-419" sz="1100">
                <a:solidFill>
                  <a:schemeClr val="dk1"/>
                </a:solidFill>
                <a:latin typeface="Times New Roman"/>
                <a:ea typeface="Times New Roman"/>
                <a:cs typeface="Times New Roman"/>
                <a:sym typeface="Times New Roman"/>
              </a:rPr>
              <a:t> </a:t>
            </a:r>
            <a:r>
              <a:rPr b="1" lang="es-419" sz="1100">
                <a:solidFill>
                  <a:schemeClr val="dk1"/>
                </a:solidFill>
                <a:latin typeface="Times New Roman"/>
                <a:ea typeface="Times New Roman"/>
                <a:cs typeface="Times New Roman"/>
                <a:sym typeface="Times New Roman"/>
              </a:rPr>
              <a:t>Instrumento:</a:t>
            </a:r>
            <a:r>
              <a:rPr lang="es-419" sz="1100">
                <a:solidFill>
                  <a:schemeClr val="dk1"/>
                </a:solidFill>
                <a:latin typeface="Times New Roman"/>
                <a:ea typeface="Times New Roman"/>
                <a:cs typeface="Times New Roman"/>
                <a:sym typeface="Times New Roman"/>
              </a:rPr>
              <a:t> Cuestionario mixto</a:t>
            </a:r>
            <a:endParaRPr sz="1100">
              <a:solidFill>
                <a:schemeClr val="dk1"/>
              </a:solidFill>
              <a:latin typeface="Times New Roman"/>
              <a:ea typeface="Times New Roman"/>
              <a:cs typeface="Times New Roman"/>
              <a:sym typeface="Times New Roman"/>
            </a:endParaRPr>
          </a:p>
          <a:p>
            <a:pPr indent="-292100" lvl="0" marL="457200" rtl="0" algn="l">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medios utiliza para monitorear los pedidos y cotizaciones que gestionan los vendedores?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acceso en tiempo real a la información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Si respondió "Sí", ¿cómo accede?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¿Con qué frecuencia realiza reportes de ventas para la gerencia?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Diaria</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Semanal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Mensual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Esporádicamente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1" name="Google Shape;121;p21"/>
          <p:cNvSpPr txBox="1"/>
          <p:nvPr>
            <p:ph idx="1" type="body"/>
          </p:nvPr>
        </p:nvSpPr>
        <p:spPr>
          <a:xfrm>
            <a:off x="4820425" y="0"/>
            <a:ext cx="4192200" cy="2210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4.   </a:t>
            </a:r>
            <a:r>
              <a:rPr lang="es-419" sz="900">
                <a:solidFill>
                  <a:schemeClr val="dk1"/>
                </a:solidFill>
                <a:latin typeface="Times New Roman"/>
                <a:ea typeface="Times New Roman"/>
                <a:cs typeface="Times New Roman"/>
                <a:sym typeface="Times New Roman"/>
              </a:rPr>
              <a:t>¿Qué información debería mostrar un panel de control de ventas ideal para su gestión?</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5.    ¿Qué funcionalidades debería tener un sistema de ventas para apoyar la gestión del equipo comercial?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6.    En su experiencia, ¿cuáles son las mayores ineficiencias actuales en el flujo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7.   ¿Considera que el seguimiento a los pedidos puede mejorar con una herramienta digital?</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¿Por qué?</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900">
                <a:solidFill>
                  <a:schemeClr val="dk1"/>
                </a:solidFill>
                <a:latin typeface="Times New Roman"/>
                <a:ea typeface="Times New Roman"/>
                <a:cs typeface="Times New Roman"/>
                <a:sym typeface="Times New Roman"/>
              </a:rPr>
              <a:t>8.   ¿Cuáles indicadores de rendimiento le gustaría monitorear desde un sistema?</a:t>
            </a: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000">
                <a:solidFill>
                  <a:schemeClr val="dk1"/>
                </a:solidFill>
                <a:latin typeface="Times New Roman"/>
                <a:ea typeface="Times New Roman"/>
                <a:cs typeface="Times New Roman"/>
                <a:sym typeface="Times New Roman"/>
              </a:rPr>
              <a:t>9.   ¿Qué información considera fundamental tener centralizada para facilitar la toma de decisiones?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s-419" sz="1000">
                <a:solidFill>
                  <a:schemeClr val="dk1"/>
                </a:solidFill>
                <a:latin typeface="Times New Roman"/>
                <a:ea typeface="Times New Roman"/>
                <a:cs typeface="Times New Roman"/>
                <a:sym typeface="Times New Roman"/>
              </a:rPr>
              <a:t>10.   ¿Existen dificultades frecuentes al consolidar datos de ventas de diferentes asesores?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000">
                <a:highlight>
                  <a:srgbClr val="FFFFFF"/>
                </a:highlight>
                <a:latin typeface="Times New Roman"/>
                <a:ea typeface="Times New Roman"/>
                <a:cs typeface="Times New Roman"/>
                <a:sym typeface="Times New Roman"/>
              </a:rPr>
              <a:t>8. Técnicas e instrumentos de recolección</a:t>
            </a:r>
            <a:endParaRPr b="1" sz="2000">
              <a:latin typeface="Times New Roman"/>
              <a:ea typeface="Times New Roman"/>
              <a:cs typeface="Times New Roman"/>
              <a:sym typeface="Times New Roman"/>
            </a:endParaRPr>
          </a:p>
        </p:txBody>
      </p:sp>
      <p:sp>
        <p:nvSpPr>
          <p:cNvPr id="127" name="Google Shape;127;p22"/>
          <p:cNvSpPr txBox="1"/>
          <p:nvPr>
            <p:ph idx="1" type="body"/>
          </p:nvPr>
        </p:nvSpPr>
        <p:spPr>
          <a:xfrm>
            <a:off x="-114950" y="572700"/>
            <a:ext cx="5162700" cy="3865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Rol 3: Director Comercial</a:t>
            </a:r>
            <a:endParaRPr b="1"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s-419" sz="1000">
                <a:solidFill>
                  <a:schemeClr val="dk1"/>
                </a:solidFill>
                <a:latin typeface="Times New Roman"/>
                <a:ea typeface="Times New Roman"/>
                <a:cs typeface="Times New Roman"/>
                <a:sym typeface="Times New Roman"/>
              </a:rPr>
              <a:t> Técnica:</a:t>
            </a:r>
            <a:r>
              <a:rPr lang="es-419" sz="1000">
                <a:solidFill>
                  <a:schemeClr val="dk1"/>
                </a:solidFill>
                <a:latin typeface="Times New Roman"/>
                <a:ea typeface="Times New Roman"/>
                <a:cs typeface="Times New Roman"/>
                <a:sym typeface="Times New Roman"/>
              </a:rPr>
              <a:t> Entrevista semi-estructurada</a:t>
            </a:r>
            <a:br>
              <a:rPr lang="es-419" sz="1000">
                <a:solidFill>
                  <a:schemeClr val="dk1"/>
                </a:solidFill>
                <a:latin typeface="Times New Roman"/>
                <a:ea typeface="Times New Roman"/>
                <a:cs typeface="Times New Roman"/>
                <a:sym typeface="Times New Roman"/>
              </a:rPr>
            </a:br>
            <a:r>
              <a:rPr lang="es-419" sz="1000">
                <a:solidFill>
                  <a:schemeClr val="dk1"/>
                </a:solidFill>
                <a:latin typeface="Times New Roman"/>
                <a:ea typeface="Times New Roman"/>
                <a:cs typeface="Times New Roman"/>
                <a:sym typeface="Times New Roman"/>
              </a:rPr>
              <a:t>  </a:t>
            </a:r>
            <a:r>
              <a:rPr b="1" lang="es-419" sz="1000">
                <a:solidFill>
                  <a:schemeClr val="dk1"/>
                </a:solidFill>
                <a:latin typeface="Times New Roman"/>
                <a:ea typeface="Times New Roman"/>
                <a:cs typeface="Times New Roman"/>
                <a:sym typeface="Times New Roman"/>
              </a:rPr>
              <a:t>Instrumento:</a:t>
            </a:r>
            <a:r>
              <a:rPr lang="es-419" sz="1000">
                <a:solidFill>
                  <a:schemeClr val="dk1"/>
                </a:solidFill>
                <a:latin typeface="Times New Roman"/>
                <a:ea typeface="Times New Roman"/>
                <a:cs typeface="Times New Roman"/>
                <a:sym typeface="Times New Roman"/>
              </a:rPr>
              <a:t> Cuestionario mixto</a:t>
            </a:r>
            <a:endParaRPr sz="1000">
              <a:solidFill>
                <a:schemeClr val="dk1"/>
              </a:solidFill>
              <a:latin typeface="Times New Roman"/>
              <a:ea typeface="Times New Roman"/>
              <a:cs typeface="Times New Roman"/>
              <a:sym typeface="Times New Roman"/>
            </a:endParaRPr>
          </a:p>
          <a:p>
            <a:pPr indent="-292100" lvl="0" marL="457200" rtl="0" algn="l">
              <a:spcBef>
                <a:spcPts val="120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¿Tiene actualmente una fuente única y confiable para consultar resultados de ventas?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Sí</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No</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1" marL="914400" rtl="0" algn="l">
              <a:spcBef>
                <a:spcPts val="0"/>
              </a:spcBef>
              <a:spcAft>
                <a:spcPts val="0"/>
              </a:spcAft>
              <a:buClr>
                <a:schemeClr val="dk1"/>
              </a:buClr>
              <a:buSzPts val="1000"/>
              <a:buFont typeface="Times New Roman"/>
              <a:buChar char="○"/>
            </a:pPr>
            <a:r>
              <a:rPr lang="es-419" sz="1000">
                <a:solidFill>
                  <a:schemeClr val="dk1"/>
                </a:solidFill>
                <a:latin typeface="Times New Roman"/>
                <a:ea typeface="Times New Roman"/>
                <a:cs typeface="Times New Roman"/>
                <a:sym typeface="Times New Roman"/>
              </a:rPr>
              <a:t>( ) Parcialmente</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indicadores estratégicos consulta para evaluar el comportamiento de los clientes?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¿Cómo realiza el seguimiento del desempeño de cada asesor comercial?</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2100" lvl="0" marL="457200" rtl="0" algn="l">
              <a:spcBef>
                <a:spcPts val="0"/>
              </a:spcBef>
              <a:spcAft>
                <a:spcPts val="0"/>
              </a:spcAft>
              <a:buClr>
                <a:schemeClr val="dk1"/>
              </a:buClr>
              <a:buSzPts val="1000"/>
              <a:buFont typeface="Times New Roman"/>
              <a:buAutoNum type="arabicPeriod"/>
            </a:pPr>
            <a:r>
              <a:rPr lang="es-419" sz="1000">
                <a:solidFill>
                  <a:schemeClr val="dk1"/>
                </a:solidFill>
                <a:latin typeface="Times New Roman"/>
                <a:ea typeface="Times New Roman"/>
                <a:cs typeface="Times New Roman"/>
                <a:sym typeface="Times New Roman"/>
              </a:rPr>
              <a:t>¿Qué tipo de reportes considera clave para tomar decisiones comerciales?</a:t>
            </a:r>
            <a:br>
              <a:rPr lang="es-419" sz="1000">
                <a:solidFill>
                  <a:schemeClr val="dk1"/>
                </a:solidFill>
                <a:latin typeface="Times New Roman"/>
                <a:ea typeface="Times New Roman"/>
                <a:cs typeface="Times New Roman"/>
                <a:sym typeface="Times New Roman"/>
              </a:rPr>
            </a:br>
            <a:endParaRPr sz="10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Times New Roman"/>
              <a:buAutoNum type="arabicPeriod"/>
            </a:pPr>
            <a:r>
              <a:rPr lang="es-419" sz="1000">
                <a:solidFill>
                  <a:schemeClr val="dk1"/>
                </a:solidFill>
                <a:latin typeface="Times New Roman"/>
                <a:ea typeface="Times New Roman"/>
                <a:cs typeface="Times New Roman"/>
                <a:sym typeface="Times New Roman"/>
              </a:rPr>
              <a:t>¿Qué barreras encuentra al momento de acceder o consolidar datos de ventas?</a:t>
            </a:r>
            <a:br>
              <a:rPr lang="es-419"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
        <p:nvSpPr>
          <p:cNvPr id="128" name="Google Shape;128;p22"/>
          <p:cNvSpPr txBox="1"/>
          <p:nvPr>
            <p:ph idx="1" type="body"/>
          </p:nvPr>
        </p:nvSpPr>
        <p:spPr>
          <a:xfrm>
            <a:off x="4325650" y="-344900"/>
            <a:ext cx="5055600" cy="65070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s-419" sz="900">
                <a:solidFill>
                  <a:schemeClr val="dk1"/>
                </a:solidFill>
                <a:latin typeface="Times New Roman"/>
                <a:ea typeface="Times New Roman"/>
                <a:cs typeface="Times New Roman"/>
                <a:sym typeface="Times New Roman"/>
              </a:rPr>
              <a:t> 6.    En su opinión, ¿qué tan alineado está el proceso de ventas actual con los objetivos estratégicos de la empresa?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s-419" sz="900">
                <a:solidFill>
                  <a:schemeClr val="dk1"/>
                </a:solidFill>
                <a:latin typeface="Times New Roman"/>
                <a:ea typeface="Times New Roman"/>
                <a:cs typeface="Times New Roman"/>
                <a:sym typeface="Times New Roman"/>
              </a:rPr>
              <a:t>7.    ¿Considera que un sistema digital puede fortalecer la fidelización de clientes?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Sí</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No estoy seguro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s-419" sz="900">
                <a:solidFill>
                  <a:schemeClr val="dk1"/>
                </a:solidFill>
                <a:latin typeface="Times New Roman"/>
                <a:ea typeface="Times New Roman"/>
                <a:cs typeface="Times New Roman"/>
                <a:sym typeface="Times New Roman"/>
              </a:rPr>
              <a:t>8.   ¿Qué elementos visuales debería contener un tablero de análisis de ventas?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s-419" sz="900">
                <a:solidFill>
                  <a:schemeClr val="dk1"/>
                </a:solidFill>
                <a:latin typeface="Times New Roman"/>
                <a:ea typeface="Times New Roman"/>
                <a:cs typeface="Times New Roman"/>
                <a:sym typeface="Times New Roman"/>
              </a:rPr>
              <a:t>9.   ¿Con qué frecuencia toma decisiones basadas en datos históricos?</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120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Siempre</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A menudo</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Rara vez</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285750" lvl="1" marL="914400" rtl="0" algn="l">
              <a:spcBef>
                <a:spcPts val="0"/>
              </a:spcBef>
              <a:spcAft>
                <a:spcPts val="0"/>
              </a:spcAft>
              <a:buClr>
                <a:schemeClr val="dk1"/>
              </a:buClr>
              <a:buSzPts val="900"/>
              <a:buFont typeface="Times New Roman"/>
              <a:buChar char="○"/>
            </a:pPr>
            <a:r>
              <a:rPr lang="es-419" sz="900">
                <a:solidFill>
                  <a:schemeClr val="dk1"/>
                </a:solidFill>
                <a:latin typeface="Times New Roman"/>
                <a:ea typeface="Times New Roman"/>
                <a:cs typeface="Times New Roman"/>
                <a:sym typeface="Times New Roman"/>
              </a:rPr>
              <a:t>( ) Nunca</a:t>
            </a: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es-419" sz="900">
                <a:solidFill>
                  <a:schemeClr val="dk1"/>
                </a:solidFill>
                <a:latin typeface="Times New Roman"/>
                <a:ea typeface="Times New Roman"/>
                <a:cs typeface="Times New Roman"/>
                <a:sym typeface="Times New Roman"/>
              </a:rPr>
              <a:t>¿Qué beneficios espera obtener al implementar un sistema digital para la gestión de ventas?</a:t>
            </a:r>
            <a:endParaRPr sz="7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1100"/>
              <a:buFont typeface="Arial"/>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None/>
            </a:pPr>
            <a:r>
              <a:t/>
            </a:r>
            <a:endParaRPr sz="900">
              <a:solidFill>
                <a:schemeClr val="dk1"/>
              </a:solidFill>
              <a:latin typeface="Times New Roman"/>
              <a:ea typeface="Times New Roman"/>
              <a:cs typeface="Times New Roman"/>
              <a:sym typeface="Times New Roman"/>
            </a:endParaRPr>
          </a:p>
          <a:p>
            <a:pPr indent="0" lvl="0" marL="457200" rtl="0" algn="l">
              <a:lnSpc>
                <a:spcPct val="95000"/>
              </a:lnSpc>
              <a:spcBef>
                <a:spcPts val="1200"/>
              </a:spcBef>
              <a:spcAft>
                <a:spcPts val="0"/>
              </a:spcAft>
              <a:buSzPts val="358"/>
              <a:buNone/>
            </a:pPr>
            <a:br>
              <a:rPr lang="es-419" sz="900">
                <a:solidFill>
                  <a:schemeClr val="dk1"/>
                </a:solidFill>
                <a:latin typeface="Times New Roman"/>
                <a:ea typeface="Times New Roman"/>
                <a:cs typeface="Times New Roman"/>
                <a:sym typeface="Times New Roman"/>
              </a:rPr>
            </a:b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358"/>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358"/>
              <a:buNone/>
            </a:pPr>
            <a:r>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243925" y="683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000">
                <a:highlight>
                  <a:srgbClr val="FFFFFF"/>
                </a:highlight>
                <a:latin typeface="Times New Roman"/>
                <a:ea typeface="Times New Roman"/>
                <a:cs typeface="Times New Roman"/>
                <a:sym typeface="Times New Roman"/>
              </a:rPr>
              <a:t>9. BPMN (Problema)</a:t>
            </a:r>
            <a:endParaRPr b="1" sz="2000">
              <a:latin typeface="Times New Roman"/>
              <a:ea typeface="Times New Roman"/>
              <a:cs typeface="Times New Roman"/>
              <a:sym typeface="Times New Roman"/>
            </a:endParaRPr>
          </a:p>
        </p:txBody>
      </p:sp>
      <p:pic>
        <p:nvPicPr>
          <p:cNvPr id="134" name="Google Shape;134;p23"/>
          <p:cNvPicPr preferRelativeResize="0"/>
          <p:nvPr/>
        </p:nvPicPr>
        <p:blipFill>
          <a:blip r:embed="rId3">
            <a:alphaModFix/>
          </a:blip>
          <a:stretch>
            <a:fillRect/>
          </a:stretch>
        </p:blipFill>
        <p:spPr>
          <a:xfrm>
            <a:off x="8271325" y="179125"/>
            <a:ext cx="751575" cy="73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241100" y="2071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s-419" sz="2120">
                <a:latin typeface="Times New Roman"/>
                <a:ea typeface="Times New Roman"/>
                <a:cs typeface="Times New Roman"/>
                <a:sym typeface="Times New Roman"/>
              </a:rPr>
              <a:t>Requisitos de software</a:t>
            </a:r>
            <a:endParaRPr b="1" sz="2120">
              <a:latin typeface="Times New Roman"/>
              <a:ea typeface="Times New Roman"/>
              <a:cs typeface="Times New Roman"/>
              <a:sym typeface="Times New Roman"/>
            </a:endParaRPr>
          </a:p>
        </p:txBody>
      </p:sp>
      <p:sp>
        <p:nvSpPr>
          <p:cNvPr id="140" name="Google Shape;140;p24"/>
          <p:cNvSpPr txBox="1"/>
          <p:nvPr>
            <p:ph idx="1" type="body"/>
          </p:nvPr>
        </p:nvSpPr>
        <p:spPr>
          <a:xfrm>
            <a:off x="0" y="1402500"/>
            <a:ext cx="3762600" cy="32292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Registro de usuario</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Inicio de </a:t>
            </a:r>
            <a:r>
              <a:rPr lang="es-419" sz="1500">
                <a:solidFill>
                  <a:schemeClr val="dk1"/>
                </a:solidFill>
                <a:latin typeface="Times New Roman"/>
                <a:ea typeface="Times New Roman"/>
                <a:cs typeface="Times New Roman"/>
                <a:sym typeface="Times New Roman"/>
              </a:rPr>
              <a:t>sesión</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Registro de pedidos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Generación</a:t>
            </a:r>
            <a:r>
              <a:rPr lang="es-419" sz="1500">
                <a:solidFill>
                  <a:schemeClr val="dk1"/>
                </a:solidFill>
                <a:latin typeface="Times New Roman"/>
                <a:ea typeface="Times New Roman"/>
                <a:cs typeface="Times New Roman"/>
                <a:sym typeface="Times New Roman"/>
              </a:rPr>
              <a:t> </a:t>
            </a:r>
            <a:r>
              <a:rPr lang="es-419" sz="1500">
                <a:solidFill>
                  <a:schemeClr val="dk1"/>
                </a:solidFill>
                <a:latin typeface="Times New Roman"/>
                <a:ea typeface="Times New Roman"/>
                <a:cs typeface="Times New Roman"/>
                <a:sym typeface="Times New Roman"/>
              </a:rPr>
              <a:t>de cotización</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Seguimiento de pedidos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Edición</a:t>
            </a:r>
            <a:r>
              <a:rPr lang="es-419" sz="1500">
                <a:solidFill>
                  <a:schemeClr val="dk1"/>
                </a:solidFill>
                <a:latin typeface="Times New Roman"/>
                <a:ea typeface="Times New Roman"/>
                <a:cs typeface="Times New Roman"/>
                <a:sym typeface="Times New Roman"/>
              </a:rPr>
              <a:t> y </a:t>
            </a:r>
            <a:r>
              <a:rPr lang="es-419" sz="1500">
                <a:solidFill>
                  <a:schemeClr val="dk1"/>
                </a:solidFill>
                <a:latin typeface="Times New Roman"/>
                <a:ea typeface="Times New Roman"/>
                <a:cs typeface="Times New Roman"/>
                <a:sym typeface="Times New Roman"/>
              </a:rPr>
              <a:t>actualización</a:t>
            </a:r>
            <a:r>
              <a:rPr lang="es-419" sz="1500">
                <a:solidFill>
                  <a:schemeClr val="dk1"/>
                </a:solidFill>
                <a:latin typeface="Times New Roman"/>
                <a:ea typeface="Times New Roman"/>
                <a:cs typeface="Times New Roman"/>
                <a:sym typeface="Times New Roman"/>
              </a:rPr>
              <a:t> de pedidos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Historial de ventas por cliente</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Registro de </a:t>
            </a:r>
            <a:r>
              <a:rPr lang="es-419" sz="1500">
                <a:solidFill>
                  <a:schemeClr val="dk1"/>
                </a:solidFill>
                <a:latin typeface="Times New Roman"/>
                <a:ea typeface="Times New Roman"/>
                <a:cs typeface="Times New Roman"/>
                <a:sym typeface="Times New Roman"/>
              </a:rPr>
              <a:t>devoluciones</a:t>
            </a:r>
            <a:r>
              <a:rPr lang="es-419" sz="1500">
                <a:solidFill>
                  <a:schemeClr val="dk1"/>
                </a:solidFill>
                <a:latin typeface="Times New Roman"/>
                <a:ea typeface="Times New Roman"/>
                <a:cs typeface="Times New Roman"/>
                <a:sym typeface="Times New Roman"/>
              </a:rPr>
              <a:t> o cancelaciones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Notificaciones de pedidos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Búsqueda</a:t>
            </a:r>
            <a:r>
              <a:rPr lang="es-419" sz="1500">
                <a:solidFill>
                  <a:schemeClr val="dk1"/>
                </a:solidFill>
                <a:latin typeface="Times New Roman"/>
                <a:ea typeface="Times New Roman"/>
                <a:cs typeface="Times New Roman"/>
                <a:sym typeface="Times New Roman"/>
              </a:rPr>
              <a:t> avanzada de ventas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latin typeface="Times New Roman"/>
              <a:ea typeface="Times New Roman"/>
              <a:cs typeface="Times New Roman"/>
              <a:sym typeface="Times New Roman"/>
            </a:endParaRPr>
          </a:p>
        </p:txBody>
      </p:sp>
      <p:sp>
        <p:nvSpPr>
          <p:cNvPr id="141" name="Google Shape;141;p24"/>
          <p:cNvSpPr txBox="1"/>
          <p:nvPr/>
        </p:nvSpPr>
        <p:spPr>
          <a:xfrm>
            <a:off x="116750" y="940800"/>
            <a:ext cx="364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800">
                <a:solidFill>
                  <a:schemeClr val="dk1"/>
                </a:solidFill>
                <a:latin typeface="Times New Roman"/>
                <a:ea typeface="Times New Roman"/>
                <a:cs typeface="Times New Roman"/>
                <a:sym typeface="Times New Roman"/>
              </a:rPr>
              <a:t>Requisitos funcionales</a:t>
            </a:r>
            <a:endParaRPr b="1" sz="1800">
              <a:solidFill>
                <a:schemeClr val="dk1"/>
              </a:solidFill>
              <a:latin typeface="Times New Roman"/>
              <a:ea typeface="Times New Roman"/>
              <a:cs typeface="Times New Roman"/>
              <a:sym typeface="Times New Roman"/>
            </a:endParaRPr>
          </a:p>
        </p:txBody>
      </p:sp>
      <p:sp>
        <p:nvSpPr>
          <p:cNvPr id="142" name="Google Shape;142;p24"/>
          <p:cNvSpPr txBox="1"/>
          <p:nvPr>
            <p:ph idx="1" type="body"/>
          </p:nvPr>
        </p:nvSpPr>
        <p:spPr>
          <a:xfrm>
            <a:off x="5623700" y="1322125"/>
            <a:ext cx="3762600" cy="3229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Disponibilidad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Rendimiento</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Seguridad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Escalabilidad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Compatibilidad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Usabilidad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Mantenibilidad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Respaldo de información</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confiabilidad</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eriod"/>
            </a:pPr>
            <a:r>
              <a:rPr lang="es-419" sz="1500">
                <a:solidFill>
                  <a:schemeClr val="dk1"/>
                </a:solidFill>
                <a:latin typeface="Times New Roman"/>
                <a:ea typeface="Times New Roman"/>
                <a:cs typeface="Times New Roman"/>
                <a:sym typeface="Times New Roman"/>
              </a:rPr>
              <a:t>Conformidad legal.</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latin typeface="Times New Roman"/>
              <a:ea typeface="Times New Roman"/>
              <a:cs typeface="Times New Roman"/>
              <a:sym typeface="Times New Roman"/>
            </a:endParaRPr>
          </a:p>
        </p:txBody>
      </p:sp>
      <p:sp>
        <p:nvSpPr>
          <p:cNvPr id="143" name="Google Shape;143;p24"/>
          <p:cNvSpPr txBox="1"/>
          <p:nvPr/>
        </p:nvSpPr>
        <p:spPr>
          <a:xfrm>
            <a:off x="5740450" y="860425"/>
            <a:ext cx="344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800">
                <a:solidFill>
                  <a:schemeClr val="dk1"/>
                </a:solidFill>
                <a:latin typeface="Times New Roman"/>
                <a:ea typeface="Times New Roman"/>
                <a:cs typeface="Times New Roman"/>
                <a:sym typeface="Times New Roman"/>
              </a:rPr>
              <a:t>Requisitos no funcionales</a:t>
            </a:r>
            <a:endParaRPr b="1" sz="1800">
              <a:solidFill>
                <a:schemeClr val="dk1"/>
              </a:solidFill>
              <a:latin typeface="Times New Roman"/>
              <a:ea typeface="Times New Roman"/>
              <a:cs typeface="Times New Roman"/>
              <a:sym typeface="Times New Roman"/>
            </a:endParaRPr>
          </a:p>
        </p:txBody>
      </p:sp>
      <p:pic>
        <p:nvPicPr>
          <p:cNvPr id="144" name="Google Shape;144;p24"/>
          <p:cNvPicPr preferRelativeResize="0"/>
          <p:nvPr/>
        </p:nvPicPr>
        <p:blipFill>
          <a:blip r:embed="rId3">
            <a:alphaModFix/>
          </a:blip>
          <a:stretch>
            <a:fillRect/>
          </a:stretch>
        </p:blipFill>
        <p:spPr>
          <a:xfrm>
            <a:off x="8329775" y="44975"/>
            <a:ext cx="751575" cy="734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25"/>
          <p:cNvGraphicFramePr/>
          <p:nvPr/>
        </p:nvGraphicFramePr>
        <p:xfrm>
          <a:off x="906600" y="79987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RF01</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200">
                          <a:latin typeface="Times New Roman"/>
                          <a:ea typeface="Times New Roman"/>
                          <a:cs typeface="Times New Roman"/>
                          <a:sym typeface="Times New Roman"/>
                        </a:rPr>
                        <a:t>registro de usuario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419" sz="1200">
                          <a:latin typeface="Times New Roman"/>
                          <a:ea typeface="Times New Roman"/>
                          <a:cs typeface="Times New Roman"/>
                          <a:sym typeface="Times New Roman"/>
                        </a:rPr>
                        <a:t>El formulario de registro debe estar disponible desde la pantalla de inicio  mediante un botón o enlace claramente visible </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s-419" sz="1100">
                          <a:solidFill>
                            <a:schemeClr val="dk1"/>
                          </a:solidFill>
                          <a:latin typeface="Times New Roman"/>
                          <a:ea typeface="Times New Roman"/>
                          <a:cs typeface="Times New Roman"/>
                          <a:sym typeface="Times New Roman"/>
                        </a:rPr>
                        <a:t>El sistema debe permitir que una persona cree una cuenta personal proporcionando su información básica a través de un formulario de registro</a:t>
                      </a:r>
                      <a:r>
                        <a:rPr lang="es-419" sz="11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RNF04</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 RNF010</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aphicFrame>
        <p:nvGraphicFramePr>
          <p:cNvPr id="154" name="Google Shape;154;p26"/>
          <p:cNvGraphicFramePr/>
          <p:nvPr/>
        </p:nvGraphicFramePr>
        <p:xfrm>
          <a:off x="1358300" y="120602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RF02</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500">
                          <a:solidFill>
                            <a:schemeClr val="dk1"/>
                          </a:solidFill>
                          <a:latin typeface="Times New Roman"/>
                          <a:ea typeface="Times New Roman"/>
                          <a:cs typeface="Times New Roman"/>
                          <a:sym typeface="Times New Roman"/>
                        </a:rPr>
                        <a:t>Inicio de sesión</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formulario de inicio de sesión debe estar accesible desde la pantalla principal de la aplicación o sitio web </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que los usuarios registrados puedan acceder a su cuenta introduciendo su correo electrónico y contraseña en un formulario de autenticación.</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RNF08</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aphicFrame>
        <p:nvGraphicFramePr>
          <p:cNvPr id="159" name="Google Shape;159;p27"/>
          <p:cNvGraphicFramePr/>
          <p:nvPr/>
        </p:nvGraphicFramePr>
        <p:xfrm>
          <a:off x="1358300" y="120602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RF03</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b="1" lang="es-419" sz="1100">
                          <a:solidFill>
                            <a:schemeClr val="dk1"/>
                          </a:solidFill>
                          <a:latin typeface="Times New Roman"/>
                          <a:ea typeface="Times New Roman"/>
                          <a:cs typeface="Times New Roman"/>
                          <a:sym typeface="Times New Roman"/>
                        </a:rPr>
                        <a:t>Gestión de ventas</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usuario puede registrar una nueva venta</a:t>
                      </a:r>
                      <a:r>
                        <a:rPr lang="es-419"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registrar, consultar, modificar y eliminar ventas realizadas, así como generar reportes relacionados</a:t>
                      </a:r>
                      <a:br>
                        <a:rPr lang="es-419" sz="1100">
                          <a:solidFill>
                            <a:schemeClr val="dk1"/>
                          </a:solidFill>
                          <a:latin typeface="Times New Roman"/>
                          <a:ea typeface="Times New Roman"/>
                          <a:cs typeface="Times New Roman"/>
                          <a:sym typeface="Times New Roman"/>
                        </a:rPr>
                      </a:b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RNF02</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aphicFrame>
        <p:nvGraphicFramePr>
          <p:cNvPr id="164" name="Google Shape;164;p28"/>
          <p:cNvGraphicFramePr/>
          <p:nvPr/>
        </p:nvGraphicFramePr>
        <p:xfrm>
          <a:off x="1314700" y="48577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RF04</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None/>
                      </a:pPr>
                      <a:r>
                        <a:rPr lang="es-419" sz="1500">
                          <a:solidFill>
                            <a:schemeClr val="dk1"/>
                          </a:solidFill>
                          <a:latin typeface="Times New Roman"/>
                          <a:ea typeface="Times New Roman"/>
                          <a:cs typeface="Times New Roman"/>
                          <a:sym typeface="Times New Roman"/>
                        </a:rPr>
                        <a:t>Generación de cotización</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sistema debe permitir ingresar datos del cliente y detallar productos o servicios, incluyendo cantidad, precio unitario, descuentos e impuestos, con cálculo automático del total.</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 El sistema debe permitir a los usuarios generar cotizaciones de  productos o servicios seleccionados, incluyendo detalles como cliente, precios y condiciones de pago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RNF01</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RNF05</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aphicFrame>
        <p:nvGraphicFramePr>
          <p:cNvPr id="169" name="Google Shape;169;p29"/>
          <p:cNvGraphicFramePr/>
          <p:nvPr/>
        </p:nvGraphicFramePr>
        <p:xfrm>
          <a:off x="1358300" y="120602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RF05</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None/>
                      </a:pPr>
                      <a:r>
                        <a:rPr lang="es-419" sz="1500">
                          <a:solidFill>
                            <a:schemeClr val="dk1"/>
                          </a:solidFill>
                          <a:latin typeface="Times New Roman"/>
                          <a:ea typeface="Times New Roman"/>
                          <a:cs typeface="Times New Roman"/>
                          <a:sym typeface="Times New Roman"/>
                        </a:rPr>
                        <a:t>Seguimiento de pedidos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sistema debe mostrar el estado actual del pedido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a los usuarios (clientes y personal autorizado) consultar el estado de los pedidos realizados, desde su creación hasta su entrega final</a:t>
                      </a:r>
                      <a:br>
                        <a:rPr lang="es-419" sz="1100">
                          <a:solidFill>
                            <a:schemeClr val="dk1"/>
                          </a:solidFill>
                          <a:latin typeface="Times New Roman"/>
                          <a:ea typeface="Times New Roman"/>
                          <a:cs typeface="Times New Roman"/>
                          <a:sym typeface="Times New Roman"/>
                        </a:rPr>
                      </a:b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RNF04</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aphicFrame>
        <p:nvGraphicFramePr>
          <p:cNvPr id="174" name="Google Shape;174;p30"/>
          <p:cNvGraphicFramePr/>
          <p:nvPr/>
        </p:nvGraphicFramePr>
        <p:xfrm>
          <a:off x="1030038" y="940100"/>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RF06</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500">
                          <a:solidFill>
                            <a:schemeClr val="dk1"/>
                          </a:solidFill>
                          <a:latin typeface="Times New Roman"/>
                          <a:ea typeface="Times New Roman"/>
                          <a:cs typeface="Times New Roman"/>
                          <a:sym typeface="Times New Roman"/>
                        </a:rPr>
                        <a:t>Edición y actualización de pedidos</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Los usuarios autorizados deben poder editar la información del pedido, como productos, cantidades, dirección de envío y datos de contacto, siempre que el pedido no haya sido procesado o enviado.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que los usuarios autorizados puedan modificar los detalles de los pedidos realizados antes de su procesamiento o envío. Esto incluye cambiar cantidades, productos, direcciones de entrega o datos de contacto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RNF02</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RNF06</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 RNF04</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aphicFrame>
        <p:nvGraphicFramePr>
          <p:cNvPr id="179" name="Google Shape;179;p31"/>
          <p:cNvGraphicFramePr/>
          <p:nvPr/>
        </p:nvGraphicFramePr>
        <p:xfrm>
          <a:off x="906788" y="792550"/>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RF07</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500">
                          <a:solidFill>
                            <a:schemeClr val="dk1"/>
                          </a:solidFill>
                          <a:latin typeface="Times New Roman"/>
                          <a:ea typeface="Times New Roman"/>
                          <a:cs typeface="Times New Roman"/>
                          <a:sym typeface="Times New Roman"/>
                        </a:rPr>
                        <a:t>Historial de ventas por cliente</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sistema debe mostrar un listado cronológico de todas las ventas asociadas a un cliente, incluyendo fecha, productos comprados, cantidades, precios y estado de pago.</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consultar todas las ventas realizadas a un cliente específico, mostrando un registro detallado de cada transacción.</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RNF02</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RNF06</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 RNF08</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aphicFrame>
        <p:nvGraphicFramePr>
          <p:cNvPr id="184" name="Google Shape;184;p32"/>
          <p:cNvGraphicFramePr/>
          <p:nvPr/>
        </p:nvGraphicFramePr>
        <p:xfrm>
          <a:off x="948063" y="256350"/>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RF08</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None/>
                      </a:pPr>
                      <a:r>
                        <a:rPr lang="es-419" sz="1500">
                          <a:solidFill>
                            <a:schemeClr val="dk1"/>
                          </a:solidFill>
                          <a:latin typeface="Times New Roman"/>
                          <a:ea typeface="Times New Roman"/>
                          <a:cs typeface="Times New Roman"/>
                          <a:sym typeface="Times New Roman"/>
                        </a:rPr>
                        <a:t>Registro de devoluciones o cancelaciones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Cada devolución o cancelación debe registrarse con datos específicos como número de venta, productos involucrados, cantidades, motivo de la devolución o cancelación, fecha y usuario responsable.</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12591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permitir registrar y gestionar las devoluciones o cancelaciones de ventas realizadas, asegurando que estos procesos se documenten correctamente y se reflejen en el inventario y la contabilidad. Esto ayuda a mantener la precisión en el control de sto</a:t>
                      </a:r>
                      <a:r>
                        <a:rPr lang="es-419" sz="1100">
                          <a:solidFill>
                            <a:schemeClr val="dk1"/>
                          </a:solidFill>
                          <a:latin typeface="Times New Roman"/>
                          <a:ea typeface="Times New Roman"/>
                          <a:cs typeface="Times New Roman"/>
                          <a:sym typeface="Times New Roman"/>
                        </a:rPr>
                        <a:t>ck</a:t>
                      </a:r>
                      <a:endParaRPr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RNF01</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RNF06</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59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Media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graphicFrame>
        <p:nvGraphicFramePr>
          <p:cNvPr id="189" name="Google Shape;189;p33"/>
          <p:cNvGraphicFramePr/>
          <p:nvPr/>
        </p:nvGraphicFramePr>
        <p:xfrm>
          <a:off x="911738" y="355050"/>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RF09</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None/>
                      </a:pPr>
                      <a:r>
                        <a:rPr lang="es-419" sz="1500">
                          <a:solidFill>
                            <a:schemeClr val="dk1"/>
                          </a:solidFill>
                          <a:latin typeface="Times New Roman"/>
                          <a:ea typeface="Times New Roman"/>
                          <a:cs typeface="Times New Roman"/>
                          <a:sym typeface="Times New Roman"/>
                        </a:rPr>
                        <a:t>Notificaciones de pedidos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El sistema debe enviar alertas para eventos clave como la creación del pedido, aprobación, despacho, entrega exitosa y cancelación.</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enviar notificaciones automáticas a los usuarios relevantes (clientes y personal autorizado) sobre cambios importantes en el estado de los pedidos, como confirmación, envío, entrega o cancelación.</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RNF03</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RNF07</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 RNF06</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59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aphicFrame>
        <p:nvGraphicFramePr>
          <p:cNvPr id="194" name="Google Shape;194;p34"/>
          <p:cNvGraphicFramePr/>
          <p:nvPr/>
        </p:nvGraphicFramePr>
        <p:xfrm>
          <a:off x="911738" y="340525"/>
          <a:ext cx="3000000" cy="3000000"/>
        </p:xfrm>
        <a:graphic>
          <a:graphicData uri="http://schemas.openxmlformats.org/drawingml/2006/table">
            <a:tbl>
              <a:tblPr>
                <a:noFill/>
                <a:tableStyleId>{B8ABA0C7-D497-457B-B79C-E3033A1D3BA2}</a:tableStyleId>
              </a:tblPr>
              <a:tblGrid>
                <a:gridCol w="1384500"/>
                <a:gridCol w="5582675"/>
              </a:tblGrid>
              <a:tr h="650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RF010</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5002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0"/>
                        </a:spcAft>
                        <a:buNone/>
                      </a:pPr>
                      <a:r>
                        <a:rPr lang="es-419" sz="1500">
                          <a:solidFill>
                            <a:schemeClr val="dk1"/>
                          </a:solidFill>
                          <a:latin typeface="Times New Roman"/>
                          <a:ea typeface="Times New Roman"/>
                          <a:cs typeface="Times New Roman"/>
                          <a:sym typeface="Times New Roman"/>
                        </a:rPr>
                        <a:t>Búsqueda avanzada de ventas</a:t>
                      </a:r>
                      <a:endParaRPr sz="15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1100">
                        <a:solidFill>
                          <a:schemeClr val="dk1"/>
                        </a:solidFill>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29912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La búsqueda debe permitir filtrar ventas por fecha, cliente, productos, estado de la venta (completada, anulada, pendiente), método de pago, rango de montos y empleado responsable.</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lnSpc>
                          <a:spcPct val="115000"/>
                        </a:lnSpc>
                        <a:spcBef>
                          <a:spcPts val="1200"/>
                        </a:spcBef>
                        <a:spcAft>
                          <a:spcPts val="1200"/>
                        </a:spcAft>
                        <a:buNone/>
                      </a:pPr>
                      <a:r>
                        <a:rPr lang="es-419" sz="1100">
                          <a:solidFill>
                            <a:schemeClr val="dk1"/>
                          </a:solidFill>
                          <a:latin typeface="Times New Roman"/>
                          <a:ea typeface="Times New Roman"/>
                          <a:cs typeface="Times New Roman"/>
                          <a:sym typeface="Times New Roman"/>
                        </a:rPr>
                        <a:t>El sistema debe proporcionar una funcionalidad de búsqueda avanzada que permita a los usuarios localizar ventas específicas mediante múltiples filtros, facilitando el acceso rápido y preciso para la </a:t>
                      </a:r>
                      <a:r>
                        <a:rPr lang="es-419" sz="1100">
                          <a:solidFill>
                            <a:schemeClr val="dk1"/>
                          </a:solidFill>
                          <a:latin typeface="Times New Roman"/>
                          <a:ea typeface="Times New Roman"/>
                          <a:cs typeface="Times New Roman"/>
                          <a:sym typeface="Times New Roman"/>
                        </a:rPr>
                        <a:t>administración</a:t>
                      </a:r>
                      <a:r>
                        <a:rPr lang="es-419" sz="1100">
                          <a:solidFill>
                            <a:schemeClr val="dk1"/>
                          </a:solidFill>
                          <a:latin typeface="Times New Roman"/>
                          <a:ea typeface="Times New Roman"/>
                          <a:cs typeface="Times New Roman"/>
                          <a:sym typeface="Times New Roman"/>
                        </a:rPr>
                        <a:t> de los productos.</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r h="4749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Requerimientos</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no funcionales:</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 RNF02</a:t>
                      </a:r>
                      <a:endParaRPr sz="1200">
                        <a:latin typeface="Times New Roman"/>
                        <a:ea typeface="Times New Roman"/>
                        <a:cs typeface="Times New Roman"/>
                        <a:sym typeface="Times New Roman"/>
                      </a:endParaRPr>
                    </a:p>
                    <a:p>
                      <a:pPr indent="0" lvl="0" marL="0" rtl="0" algn="l">
                        <a:spcBef>
                          <a:spcPts val="0"/>
                        </a:spcBef>
                        <a:spcAft>
                          <a:spcPts val="0"/>
                        </a:spcAft>
                        <a:buNone/>
                      </a:pPr>
                      <a:r>
                        <a:rPr lang="es-419" sz="1200">
                          <a:latin typeface="Times New Roman"/>
                          <a:ea typeface="Times New Roman"/>
                          <a:cs typeface="Times New Roman"/>
                          <a:sym typeface="Times New Roman"/>
                        </a:rPr>
                        <a:t>❖ RNF06</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tcPr>
                </a:tc>
              </a:tr>
              <a:tr h="4759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lnL cap="flat" cmpd="sng" w="12700">
                      <a:solidFill>
                        <a:srgbClr val="B6D7A8"/>
                      </a:solidFill>
                      <a:prstDash val="solid"/>
                      <a:round/>
                      <a:headEnd len="sm" w="sm" type="none"/>
                      <a:tailEnd len="sm" w="sm" type="none"/>
                    </a:lnL>
                    <a:lnR cap="flat" cmpd="sng" w="12700">
                      <a:solidFill>
                        <a:srgbClr val="B6D7A8"/>
                      </a:solidFill>
                      <a:prstDash val="solid"/>
                      <a:round/>
                      <a:headEnd len="sm" w="sm" type="none"/>
                      <a:tailEnd len="sm" w="sm" type="none"/>
                    </a:lnR>
                    <a:lnT cap="flat" cmpd="sng" w="12700">
                      <a:solidFill>
                        <a:srgbClr val="B6D7A8"/>
                      </a:solidFill>
                      <a:prstDash val="solid"/>
                      <a:round/>
                      <a:headEnd len="sm" w="sm" type="none"/>
                      <a:tailEnd len="sm" w="sm" type="none"/>
                    </a:lnT>
                    <a:lnB cap="flat" cmpd="sng" w="12700">
                      <a:solidFill>
                        <a:srgbClr val="B6D7A8"/>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197400" y="178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Times New Roman"/>
                <a:ea typeface="Times New Roman"/>
                <a:cs typeface="Times New Roman"/>
                <a:sym typeface="Times New Roman"/>
              </a:rPr>
              <a:t>Requerimientos no funcionales</a:t>
            </a:r>
            <a:endParaRPr>
              <a:latin typeface="Times New Roman"/>
              <a:ea typeface="Times New Roman"/>
              <a:cs typeface="Times New Roman"/>
              <a:sym typeface="Times New Roman"/>
            </a:endParaRPr>
          </a:p>
        </p:txBody>
      </p:sp>
      <p:graphicFrame>
        <p:nvGraphicFramePr>
          <p:cNvPr id="200" name="Google Shape;200;p35"/>
          <p:cNvGraphicFramePr/>
          <p:nvPr/>
        </p:nvGraphicFramePr>
        <p:xfrm>
          <a:off x="1114413" y="958850"/>
          <a:ext cx="3000000" cy="3000000"/>
        </p:xfrm>
        <a:graphic>
          <a:graphicData uri="http://schemas.openxmlformats.org/drawingml/2006/table">
            <a:tbl>
              <a:tblPr>
                <a:noFill/>
                <a:tableStyleId>{B8ABA0C7-D497-457B-B79C-E3033A1D3BA2}</a:tableStyleId>
              </a:tblPr>
              <a:tblGrid>
                <a:gridCol w="1374150"/>
                <a:gridCol w="5541000"/>
              </a:tblGrid>
              <a:tr h="5742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RNF01</a:t>
                      </a:r>
                      <a:endParaRPr sz="1200">
                        <a:latin typeface="Times New Roman"/>
                        <a:ea typeface="Times New Roman"/>
                        <a:cs typeface="Times New Roman"/>
                        <a:sym typeface="Times New Roman"/>
                      </a:endParaRPr>
                    </a:p>
                  </a:txBody>
                  <a:tcPr marT="63500" marB="63500" marR="63500" marL="63500"/>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None/>
                      </a:pPr>
                      <a:r>
                        <a:rPr b="1" lang="es-419" sz="1200">
                          <a:solidFill>
                            <a:schemeClr val="dk1"/>
                          </a:solidFill>
                          <a:latin typeface="Times New Roman"/>
                          <a:ea typeface="Times New Roman"/>
                          <a:cs typeface="Times New Roman"/>
                          <a:sym typeface="Times New Roman"/>
                        </a:rPr>
                        <a:t>Disponibilidad</a:t>
                      </a:r>
                      <a:endParaRPr b="1" sz="1200">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1200"/>
                        </a:spcAft>
                        <a:buClr>
                          <a:schemeClr val="dk1"/>
                        </a:buClr>
                        <a:buSzPts val="1100"/>
                        <a:buFont typeface="Arial"/>
                        <a:buNone/>
                      </a:pPr>
                      <a:r>
                        <a:rPr lang="es-419" sz="1200">
                          <a:latin typeface="Times New Roman"/>
                          <a:ea typeface="Times New Roman"/>
                          <a:cs typeface="Times New Roman"/>
                          <a:sym typeface="Times New Roman"/>
                        </a:rPr>
                        <a:t>el sistema es accesible para el usuario de acuerdo a la </a:t>
                      </a:r>
                      <a:r>
                        <a:rPr lang="es-419" sz="1200">
                          <a:latin typeface="Times New Roman"/>
                          <a:ea typeface="Times New Roman"/>
                          <a:cs typeface="Times New Roman"/>
                          <a:sym typeface="Times New Roman"/>
                        </a:rPr>
                        <a:t>disposición</a:t>
                      </a:r>
                      <a:r>
                        <a:rPr lang="es-419" sz="1200">
                          <a:latin typeface="Times New Roman"/>
                          <a:ea typeface="Times New Roman"/>
                          <a:cs typeface="Times New Roman"/>
                          <a:sym typeface="Times New Roman"/>
                        </a:rPr>
                        <a:t> de jornada laboral</a:t>
                      </a:r>
                      <a:endParaRPr sz="1200">
                        <a:latin typeface="Times New Roman"/>
                        <a:ea typeface="Times New Roman"/>
                        <a:cs typeface="Times New Roman"/>
                        <a:sym typeface="Times New Roman"/>
                      </a:endParaRPr>
                    </a:p>
                  </a:txBody>
                  <a:tcPr marT="63500" marB="63500" marR="63500" marL="63500"/>
                </a:tc>
              </a:tr>
              <a:tr h="563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spcBef>
                          <a:spcPts val="0"/>
                        </a:spcBef>
                        <a:spcAft>
                          <a:spcPts val="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El sistema debe estar disponible al menos el 99% del tiempo durante el horario laboral de la empresa</a:t>
                      </a:r>
                      <a:endParaRPr sz="1200">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graphicFrame>
        <p:nvGraphicFramePr>
          <p:cNvPr id="205" name="Google Shape;205;p36"/>
          <p:cNvGraphicFramePr/>
          <p:nvPr/>
        </p:nvGraphicFramePr>
        <p:xfrm>
          <a:off x="1114413" y="831850"/>
          <a:ext cx="3000000" cy="3000000"/>
        </p:xfrm>
        <a:graphic>
          <a:graphicData uri="http://schemas.openxmlformats.org/drawingml/2006/table">
            <a:tbl>
              <a:tblPr>
                <a:noFill/>
                <a:tableStyleId>{B8ABA0C7-D497-457B-B79C-E3033A1D3BA2}</a:tableStyleId>
              </a:tblPr>
              <a:tblGrid>
                <a:gridCol w="1374150"/>
                <a:gridCol w="5541000"/>
              </a:tblGrid>
              <a:tr h="5742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RNF02</a:t>
                      </a:r>
                      <a:endParaRPr sz="1200">
                        <a:latin typeface="Times New Roman"/>
                        <a:ea typeface="Times New Roman"/>
                        <a:cs typeface="Times New Roman"/>
                        <a:sym typeface="Times New Roman"/>
                      </a:endParaRPr>
                    </a:p>
                  </a:txBody>
                  <a:tcPr marT="63500" marB="63500" marR="63500" marL="63500"/>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None/>
                      </a:pPr>
                      <a:r>
                        <a:rPr b="1" lang="es-419" sz="1200">
                          <a:solidFill>
                            <a:schemeClr val="dk1"/>
                          </a:solidFill>
                          <a:latin typeface="Times New Roman"/>
                          <a:ea typeface="Times New Roman"/>
                          <a:cs typeface="Times New Roman"/>
                          <a:sym typeface="Times New Roman"/>
                        </a:rPr>
                        <a:t>Rendimiento</a:t>
                      </a:r>
                      <a:endParaRPr sz="1200">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1200"/>
                        </a:spcAft>
                        <a:buNone/>
                      </a:pPr>
                      <a:r>
                        <a:rPr lang="es-419" sz="1200">
                          <a:latin typeface="Times New Roman"/>
                          <a:ea typeface="Times New Roman"/>
                          <a:cs typeface="Times New Roman"/>
                          <a:sym typeface="Times New Roman"/>
                        </a:rPr>
                        <a:t>el sistema </a:t>
                      </a:r>
                      <a:r>
                        <a:rPr lang="es-419" sz="1200">
                          <a:latin typeface="Times New Roman"/>
                          <a:ea typeface="Times New Roman"/>
                          <a:cs typeface="Times New Roman"/>
                          <a:sym typeface="Times New Roman"/>
                        </a:rPr>
                        <a:t>está optimizado para la respuesta inmediata al usuario</a:t>
                      </a:r>
                      <a:endParaRPr sz="1200">
                        <a:latin typeface="Times New Roman"/>
                        <a:ea typeface="Times New Roman"/>
                        <a:cs typeface="Times New Roman"/>
                        <a:sym typeface="Times New Roman"/>
                      </a:endParaRPr>
                    </a:p>
                  </a:txBody>
                  <a:tcPr marT="63500" marB="63500" marR="63500" marL="63500"/>
                </a:tc>
              </a:tr>
              <a:tr h="563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El sistema debe responder a cualquier consulta o acción del usuario en menos de 3 segundos</a:t>
                      </a:r>
                      <a:endParaRPr sz="1200">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aphicFrame>
        <p:nvGraphicFramePr>
          <p:cNvPr id="210" name="Google Shape;210;p37"/>
          <p:cNvGraphicFramePr/>
          <p:nvPr/>
        </p:nvGraphicFramePr>
        <p:xfrm>
          <a:off x="1114413" y="831850"/>
          <a:ext cx="3000000" cy="3000000"/>
        </p:xfrm>
        <a:graphic>
          <a:graphicData uri="http://schemas.openxmlformats.org/drawingml/2006/table">
            <a:tbl>
              <a:tblPr>
                <a:noFill/>
                <a:tableStyleId>{B8ABA0C7-D497-457B-B79C-E3033A1D3BA2}</a:tableStyleId>
              </a:tblPr>
              <a:tblGrid>
                <a:gridCol w="1374150"/>
                <a:gridCol w="5541000"/>
              </a:tblGrid>
              <a:tr h="5742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RNF03</a:t>
                      </a:r>
                      <a:endParaRPr sz="1200">
                        <a:latin typeface="Times New Roman"/>
                        <a:ea typeface="Times New Roman"/>
                        <a:cs typeface="Times New Roman"/>
                        <a:sym typeface="Times New Roman"/>
                      </a:endParaRPr>
                    </a:p>
                  </a:txBody>
                  <a:tcPr marT="63500" marB="63500" marR="63500" marL="63500"/>
                </a:tc>
              </a:tr>
              <a:tr h="685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None/>
                      </a:pPr>
                      <a:r>
                        <a:rPr b="1" lang="es-419" sz="1200">
                          <a:solidFill>
                            <a:schemeClr val="dk1"/>
                          </a:solidFill>
                          <a:latin typeface="Times New Roman"/>
                          <a:ea typeface="Times New Roman"/>
                          <a:cs typeface="Times New Roman"/>
                          <a:sym typeface="Times New Roman"/>
                        </a:rPr>
                        <a:t>Seguridad</a:t>
                      </a:r>
                      <a:endParaRPr sz="1200">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1200"/>
                        </a:spcAft>
                        <a:buNone/>
                      </a:pPr>
                      <a:r>
                        <a:rPr lang="es-419" sz="1200">
                          <a:latin typeface="Times New Roman"/>
                          <a:ea typeface="Times New Roman"/>
                          <a:cs typeface="Times New Roman"/>
                          <a:sym typeface="Times New Roman"/>
                        </a:rPr>
                        <a:t>el sistema le </a:t>
                      </a:r>
                      <a:r>
                        <a:rPr lang="es-419" sz="1200">
                          <a:latin typeface="Times New Roman"/>
                          <a:ea typeface="Times New Roman"/>
                          <a:cs typeface="Times New Roman"/>
                          <a:sym typeface="Times New Roman"/>
                        </a:rPr>
                        <a:t>permitirá al usuario hacer un 2FA (autenticación de dos factores) y el resguardo de sus datos sensibles mediante encriptación de estos.</a:t>
                      </a:r>
                      <a:endParaRPr sz="1200">
                        <a:latin typeface="Times New Roman"/>
                        <a:ea typeface="Times New Roman"/>
                        <a:cs typeface="Times New Roman"/>
                        <a:sym typeface="Times New Roman"/>
                      </a:endParaRPr>
                    </a:p>
                  </a:txBody>
                  <a:tcPr marT="63500" marB="63500" marR="63500" marL="63500"/>
                </a:tc>
              </a:tr>
              <a:tr h="563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El sistema debe contar con autenticación de usuarios y encriptación de datos sensibles como contraseñas y correos.</a:t>
                      </a:r>
                      <a:endParaRPr sz="1200">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aphicFrame>
        <p:nvGraphicFramePr>
          <p:cNvPr id="215" name="Google Shape;215;p38"/>
          <p:cNvGraphicFramePr/>
          <p:nvPr/>
        </p:nvGraphicFramePr>
        <p:xfrm>
          <a:off x="1114413" y="831850"/>
          <a:ext cx="3000000" cy="3000000"/>
        </p:xfrm>
        <a:graphic>
          <a:graphicData uri="http://schemas.openxmlformats.org/drawingml/2006/table">
            <a:tbl>
              <a:tblPr>
                <a:noFill/>
                <a:tableStyleId>{B8ABA0C7-D497-457B-B79C-E3033A1D3BA2}</a:tableStyleId>
              </a:tblPr>
              <a:tblGrid>
                <a:gridCol w="1374150"/>
                <a:gridCol w="5541000"/>
              </a:tblGrid>
              <a:tr h="5742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RNF04</a:t>
                      </a:r>
                      <a:endParaRPr sz="1200">
                        <a:latin typeface="Times New Roman"/>
                        <a:ea typeface="Times New Roman"/>
                        <a:cs typeface="Times New Roman"/>
                        <a:sym typeface="Times New Roman"/>
                      </a:endParaRPr>
                    </a:p>
                  </a:txBody>
                  <a:tcPr marT="63500" marB="63500" marR="63500" marL="63500"/>
                </a:tc>
              </a:tr>
              <a:tr h="685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None/>
                      </a:pPr>
                      <a:r>
                        <a:rPr b="1" lang="es-419" sz="1200">
                          <a:solidFill>
                            <a:schemeClr val="dk1"/>
                          </a:solidFill>
                          <a:latin typeface="Times New Roman"/>
                          <a:ea typeface="Times New Roman"/>
                          <a:cs typeface="Times New Roman"/>
                          <a:sym typeface="Times New Roman"/>
                        </a:rPr>
                        <a:t>Escalabilidad</a:t>
                      </a:r>
                      <a:endParaRPr sz="1200">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1200"/>
                        </a:spcAft>
                        <a:buNone/>
                      </a:pPr>
                      <a:r>
                        <a:rPr lang="es-419" sz="1200">
                          <a:latin typeface="Times New Roman"/>
                          <a:ea typeface="Times New Roman"/>
                          <a:cs typeface="Times New Roman"/>
                          <a:sym typeface="Times New Roman"/>
                        </a:rPr>
                        <a:t>el sistema </a:t>
                      </a:r>
                      <a:r>
                        <a:rPr lang="es-419" sz="1200">
                          <a:latin typeface="Times New Roman"/>
                          <a:ea typeface="Times New Roman"/>
                          <a:cs typeface="Times New Roman"/>
                          <a:sym typeface="Times New Roman"/>
                        </a:rPr>
                        <a:t>estará</a:t>
                      </a:r>
                      <a:r>
                        <a:rPr lang="es-419" sz="1200">
                          <a:latin typeface="Times New Roman"/>
                          <a:ea typeface="Times New Roman"/>
                          <a:cs typeface="Times New Roman"/>
                          <a:sym typeface="Times New Roman"/>
                        </a:rPr>
                        <a:t> sujeto a constante </a:t>
                      </a:r>
                      <a:r>
                        <a:rPr lang="es-419" sz="1200">
                          <a:latin typeface="Times New Roman"/>
                          <a:ea typeface="Times New Roman"/>
                          <a:cs typeface="Times New Roman"/>
                          <a:sym typeface="Times New Roman"/>
                        </a:rPr>
                        <a:t>actualización.</a:t>
                      </a:r>
                      <a:endParaRPr sz="1200">
                        <a:latin typeface="Times New Roman"/>
                        <a:ea typeface="Times New Roman"/>
                        <a:cs typeface="Times New Roman"/>
                        <a:sym typeface="Times New Roman"/>
                      </a:endParaRPr>
                    </a:p>
                  </a:txBody>
                  <a:tcPr marT="63500" marB="63500" marR="63500" marL="63500"/>
                </a:tc>
              </a:tr>
              <a:tr h="563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El sistema debe poder adaptarse al crecimiento del número de clientes y usuarios sin pérdida de rendimiento.</a:t>
                      </a:r>
                      <a:endParaRPr sz="1200">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39"/>
          <p:cNvGraphicFramePr/>
          <p:nvPr/>
        </p:nvGraphicFramePr>
        <p:xfrm>
          <a:off x="1114413" y="831850"/>
          <a:ext cx="3000000" cy="3000000"/>
        </p:xfrm>
        <a:graphic>
          <a:graphicData uri="http://schemas.openxmlformats.org/drawingml/2006/table">
            <a:tbl>
              <a:tblPr>
                <a:noFill/>
                <a:tableStyleId>{B8ABA0C7-D497-457B-B79C-E3033A1D3BA2}</a:tableStyleId>
              </a:tblPr>
              <a:tblGrid>
                <a:gridCol w="1374150"/>
                <a:gridCol w="5541000"/>
              </a:tblGrid>
              <a:tr h="5742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Identificación</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RNF05</a:t>
                      </a:r>
                      <a:endParaRPr sz="1200">
                        <a:latin typeface="Times New Roman"/>
                        <a:ea typeface="Times New Roman"/>
                        <a:cs typeface="Times New Roman"/>
                        <a:sym typeface="Times New Roman"/>
                      </a:endParaRPr>
                    </a:p>
                  </a:txBody>
                  <a:tcPr marT="63500" marB="63500" marR="63500" marL="63500"/>
                </a:tc>
              </a:tr>
              <a:tr h="685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Nombre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None/>
                      </a:pPr>
                      <a:r>
                        <a:rPr b="1" lang="es-419" sz="1200">
                          <a:solidFill>
                            <a:schemeClr val="dk1"/>
                          </a:solidFill>
                          <a:latin typeface="Times New Roman"/>
                          <a:ea typeface="Times New Roman"/>
                          <a:cs typeface="Times New Roman"/>
                          <a:sym typeface="Times New Roman"/>
                        </a:rPr>
                        <a:t>Compatibilidad</a:t>
                      </a:r>
                      <a:endParaRPr sz="1200">
                        <a:latin typeface="Times New Roman"/>
                        <a:ea typeface="Times New Roman"/>
                        <a:cs typeface="Times New Roman"/>
                        <a:sym typeface="Times New Roman"/>
                      </a:endParaRPr>
                    </a:p>
                  </a:txBody>
                  <a:tcPr marT="63500" marB="63500" marR="63500" marL="63500">
                    <a:solidFill>
                      <a:srgbClr val="CCCCCC"/>
                    </a:solidFill>
                  </a:tcPr>
                </a:tc>
              </a:tr>
              <a:tr h="41915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Características:</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1200"/>
                        </a:spcAft>
                        <a:buClr>
                          <a:schemeClr val="dk1"/>
                        </a:buClr>
                        <a:buSzPts val="1100"/>
                        <a:buFont typeface="Arial"/>
                        <a:buNone/>
                      </a:pPr>
                      <a:r>
                        <a:rPr lang="es-419" sz="1200">
                          <a:latin typeface="Times New Roman"/>
                          <a:ea typeface="Times New Roman"/>
                          <a:cs typeface="Times New Roman"/>
                          <a:sym typeface="Times New Roman"/>
                        </a:rPr>
                        <a:t>El sistema es </a:t>
                      </a:r>
                      <a:r>
                        <a:rPr lang="es-419" sz="1200">
                          <a:latin typeface="Times New Roman"/>
                          <a:ea typeface="Times New Roman"/>
                          <a:cs typeface="Times New Roman"/>
                          <a:sym typeface="Times New Roman"/>
                        </a:rPr>
                        <a:t>afín y de fácil acceso desde cualquier navegador web.</a:t>
                      </a:r>
                      <a:endParaRPr sz="1200">
                        <a:latin typeface="Times New Roman"/>
                        <a:ea typeface="Times New Roman"/>
                        <a:cs typeface="Times New Roman"/>
                        <a:sym typeface="Times New Roman"/>
                      </a:endParaRPr>
                    </a:p>
                  </a:txBody>
                  <a:tcPr marT="63500" marB="63500" marR="63500" marL="63500"/>
                </a:tc>
              </a:tr>
              <a:tr h="563800">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Descripción del</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solidFill>
                      <a:srgbClr val="CCCCCC"/>
                    </a:solidFill>
                  </a:tcPr>
                </a:tc>
                <a:tc>
                  <a:txBody>
                    <a:bodyPr/>
                    <a:lstStyle/>
                    <a:p>
                      <a:pPr indent="0" lvl="0" marL="0" rtl="0" algn="l">
                        <a:lnSpc>
                          <a:spcPct val="115000"/>
                        </a:lnSpc>
                        <a:spcBef>
                          <a:spcPts val="0"/>
                        </a:spcBef>
                        <a:spcAft>
                          <a:spcPts val="120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El sistema debe ser accesible desde navegadores web modernos (Chrome, Firefox, Edge).</a:t>
                      </a:r>
                      <a:endParaRPr sz="1200">
                        <a:latin typeface="Times New Roman"/>
                        <a:ea typeface="Times New Roman"/>
                        <a:cs typeface="Times New Roman"/>
                        <a:sym typeface="Times New Roman"/>
                      </a:endParaRPr>
                    </a:p>
                  </a:txBody>
                  <a:tcPr marT="63500" marB="63500" marR="63500" marL="63500">
                    <a:solidFill>
                      <a:srgbClr val="CCCCCC"/>
                    </a:solidFill>
                  </a:tcPr>
                </a:tc>
              </a:tr>
              <a:tr h="479675">
                <a:tc>
                  <a:txBody>
                    <a:bodyPr/>
                    <a:lstStyle/>
                    <a:p>
                      <a:pPr indent="0" lvl="0" marL="0" rtl="0" algn="l">
                        <a:spcBef>
                          <a:spcPts val="0"/>
                        </a:spcBef>
                        <a:spcAft>
                          <a:spcPts val="0"/>
                        </a:spcAft>
                        <a:buNone/>
                      </a:pPr>
                      <a:r>
                        <a:rPr b="1" lang="es-419" sz="1200">
                          <a:latin typeface="Times New Roman"/>
                          <a:ea typeface="Times New Roman"/>
                          <a:cs typeface="Times New Roman"/>
                          <a:sym typeface="Times New Roman"/>
                        </a:rPr>
                        <a:t>Prioridad de</a:t>
                      </a:r>
                      <a:endParaRPr b="1" sz="1200">
                        <a:latin typeface="Times New Roman"/>
                        <a:ea typeface="Times New Roman"/>
                        <a:cs typeface="Times New Roman"/>
                        <a:sym typeface="Times New Roman"/>
                      </a:endParaRPr>
                    </a:p>
                    <a:p>
                      <a:pPr indent="0" lvl="0" marL="0" rtl="0" algn="l">
                        <a:spcBef>
                          <a:spcPts val="0"/>
                        </a:spcBef>
                        <a:spcAft>
                          <a:spcPts val="0"/>
                        </a:spcAft>
                        <a:buNone/>
                      </a:pPr>
                      <a:r>
                        <a:rPr b="1" lang="es-419" sz="1200">
                          <a:latin typeface="Times New Roman"/>
                          <a:ea typeface="Times New Roman"/>
                          <a:cs typeface="Times New Roman"/>
                          <a:sym typeface="Times New Roman"/>
                        </a:rPr>
                        <a:t>requerimiento:</a:t>
                      </a:r>
                      <a:endParaRPr b="1" sz="12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s-419" sz="1200">
                          <a:latin typeface="Times New Roman"/>
                          <a:ea typeface="Times New Roman"/>
                          <a:cs typeface="Times New Roman"/>
                          <a:sym typeface="Times New Roman"/>
                        </a:rPr>
                        <a:t>Alta</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aphicFrame>
        <p:nvGraphicFramePr>
          <p:cNvPr id="225" name="Google Shape;225;p40"/>
          <p:cNvGraphicFramePr/>
          <p:nvPr/>
        </p:nvGraphicFramePr>
        <p:xfrm>
          <a:off x="1429150" y="1146900"/>
          <a:ext cx="3000000" cy="3000000"/>
        </p:xfrm>
        <a:graphic>
          <a:graphicData uri="http://schemas.openxmlformats.org/drawingml/2006/table">
            <a:tbl>
              <a:tblPr>
                <a:noFill/>
                <a:tableStyleId>{DF108712-4F53-4304-8001-77F26326E2D1}</a:tableStyleId>
              </a:tblPr>
              <a:tblGrid>
                <a:gridCol w="1622050"/>
                <a:gridCol w="4663650"/>
              </a:tblGrid>
              <a:tr h="381000">
                <a:tc>
                  <a:txBody>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Identificación</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requerimiento: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RNF06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Nombre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requerimiento:</a:t>
                      </a:r>
                      <a:endParaRPr>
                        <a:highlight>
                          <a:schemeClr val="dk2"/>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highlight>
                            <a:srgbClr val="B7B7B7"/>
                          </a:highlight>
                          <a:latin typeface="Times New Roman"/>
                          <a:ea typeface="Times New Roman"/>
                          <a:cs typeface="Times New Roman"/>
                          <a:sym typeface="Times New Roman"/>
                        </a:rPr>
                        <a:t>Usabilidad</a:t>
                      </a:r>
                      <a:endParaRPr>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Características: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419">
                          <a:latin typeface="Times New Roman"/>
                          <a:ea typeface="Times New Roman"/>
                          <a:cs typeface="Times New Roman"/>
                          <a:sym typeface="Times New Roman"/>
                        </a:rPr>
                        <a:t>El sistema tendrá una interfaz sencilla y clara, pensada para usuarios sin conocimientos técnicos.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Descripción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requerimiento: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latin typeface="Times New Roman"/>
                          <a:ea typeface="Times New Roman"/>
                          <a:cs typeface="Times New Roman"/>
                          <a:sym typeface="Times New Roman"/>
                        </a:rPr>
                        <a:t>La interfaz del sistema debe ser intuitiva y amigable para usuarios sin conocimientos técnicos avanzados.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Prioridad de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s-419" sz="1200">
                          <a:solidFill>
                            <a:schemeClr val="dk1"/>
                          </a:solidFill>
                          <a:latin typeface="Times New Roman"/>
                          <a:ea typeface="Times New Roman"/>
                          <a:cs typeface="Times New Roman"/>
                          <a:sym typeface="Times New Roman"/>
                        </a:rPr>
                        <a:t>requerimiento:</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419" sz="1200">
                          <a:solidFill>
                            <a:schemeClr val="dk1"/>
                          </a:solidFill>
                          <a:latin typeface="Times New Roman"/>
                          <a:ea typeface="Times New Roman"/>
                          <a:cs typeface="Times New Roman"/>
                          <a:sym typeface="Times New Roman"/>
                        </a:rPr>
                        <a:t>Alta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41"/>
          <p:cNvGraphicFramePr/>
          <p:nvPr/>
        </p:nvGraphicFramePr>
        <p:xfrm>
          <a:off x="1429150" y="1146900"/>
          <a:ext cx="3000000" cy="3000000"/>
        </p:xfrm>
        <a:graphic>
          <a:graphicData uri="http://schemas.openxmlformats.org/drawingml/2006/table">
            <a:tbl>
              <a:tblPr>
                <a:noFill/>
                <a:tableStyleId>{DF108712-4F53-4304-8001-77F26326E2D1}</a:tableStyleId>
              </a:tblPr>
              <a:tblGrid>
                <a:gridCol w="1622050"/>
                <a:gridCol w="4663650"/>
              </a:tblGrid>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Identificación</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RNF07</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Nombre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highlight>
                            <a:srgbClr val="B7B7B7"/>
                          </a:highlight>
                          <a:latin typeface="Times New Roman"/>
                          <a:ea typeface="Times New Roman"/>
                          <a:cs typeface="Times New Roman"/>
                          <a:sym typeface="Times New Roman"/>
                        </a:rPr>
                        <a:t>Mantenibilidad</a:t>
                      </a:r>
                      <a:endParaRPr>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Características: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a:latin typeface="Times New Roman"/>
                          <a:ea typeface="Times New Roman"/>
                          <a:cs typeface="Times New Roman"/>
                          <a:sym typeface="Times New Roman"/>
                        </a:rPr>
                        <a:t>El código será limpio y modular, permitiendo actualizaciones y correcciones con facilidad.</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Descripción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latin typeface="Times New Roman"/>
                          <a:ea typeface="Times New Roman"/>
                          <a:cs typeface="Times New Roman"/>
                          <a:sym typeface="Times New Roman"/>
                        </a:rPr>
                        <a:t>El sistema debe estar desarrollado con buenas prácticas que permitan su fácil mantenimiento y actualización.</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Prioridad de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Alta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p42"/>
          <p:cNvGraphicFramePr/>
          <p:nvPr/>
        </p:nvGraphicFramePr>
        <p:xfrm>
          <a:off x="1429150" y="1146900"/>
          <a:ext cx="3000000" cy="3000000"/>
        </p:xfrm>
        <a:graphic>
          <a:graphicData uri="http://schemas.openxmlformats.org/drawingml/2006/table">
            <a:tbl>
              <a:tblPr>
                <a:noFill/>
                <a:tableStyleId>{DF108712-4F53-4304-8001-77F26326E2D1}</a:tableStyleId>
              </a:tblPr>
              <a:tblGrid>
                <a:gridCol w="1622050"/>
                <a:gridCol w="4663650"/>
              </a:tblGrid>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Identificación</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RNF08</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Nombre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highlight>
                            <a:srgbClr val="B7B7B7"/>
                          </a:highlight>
                          <a:latin typeface="Times New Roman"/>
                          <a:ea typeface="Times New Roman"/>
                          <a:cs typeface="Times New Roman"/>
                          <a:sym typeface="Times New Roman"/>
                        </a:rPr>
                        <a:t>Respaldo de información</a:t>
                      </a:r>
                      <a:endParaRPr>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Características: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419">
                          <a:latin typeface="Times New Roman"/>
                          <a:ea typeface="Times New Roman"/>
                          <a:cs typeface="Times New Roman"/>
                          <a:sym typeface="Times New Roman"/>
                        </a:rPr>
                        <a:t>Se harán copias de seguridad automáticas diarias para proteger la base de datos.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Descripción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latin typeface="Times New Roman"/>
                          <a:ea typeface="Times New Roman"/>
                          <a:cs typeface="Times New Roman"/>
                          <a:sym typeface="Times New Roman"/>
                        </a:rPr>
                        <a:t>El sistema debe realizar respaldos automáticos diarios de la base de datos.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Prioridad de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Alta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graphicFrame>
        <p:nvGraphicFramePr>
          <p:cNvPr id="240" name="Google Shape;240;p43"/>
          <p:cNvGraphicFramePr/>
          <p:nvPr/>
        </p:nvGraphicFramePr>
        <p:xfrm>
          <a:off x="1305625" y="376500"/>
          <a:ext cx="3000000" cy="3000000"/>
        </p:xfrm>
        <a:graphic>
          <a:graphicData uri="http://schemas.openxmlformats.org/drawingml/2006/table">
            <a:tbl>
              <a:tblPr>
                <a:noFill/>
                <a:tableStyleId>{DF108712-4F53-4304-8001-77F26326E2D1}</a:tableStyleId>
              </a:tblPr>
              <a:tblGrid>
                <a:gridCol w="1665625"/>
                <a:gridCol w="4620075"/>
              </a:tblGrid>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Identificación</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RNF09</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Nombre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1200"/>
                        </a:spcAft>
                        <a:buNone/>
                      </a:pPr>
                      <a:r>
                        <a:rPr lang="es-419" sz="1150">
                          <a:solidFill>
                            <a:srgbClr val="222222"/>
                          </a:solidFill>
                        </a:rPr>
                        <a:t>confiabilidad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Características: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419">
                          <a:latin typeface="Times New Roman"/>
                          <a:ea typeface="Times New Roman"/>
                          <a:cs typeface="Times New Roman"/>
                          <a:sym typeface="Times New Roman"/>
                        </a:rPr>
                        <a:t>El sistema deberá tener un tiempo de disponibilidad del 99% mensual, evitando caídas prolongadas.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Descripción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lnSpc>
                          <a:spcPct val="115000"/>
                        </a:lnSpc>
                        <a:spcBef>
                          <a:spcPts val="1200"/>
                        </a:spcBef>
                        <a:spcAft>
                          <a:spcPts val="0"/>
                        </a:spcAft>
                        <a:buClr>
                          <a:schemeClr val="dk1"/>
                        </a:buClr>
                        <a:buSzPts val="1100"/>
                        <a:buFont typeface="Arial"/>
                        <a:buNone/>
                      </a:pPr>
                      <a:r>
                        <a:rPr lang="es-419">
                          <a:latin typeface="Times New Roman"/>
                          <a:ea typeface="Times New Roman"/>
                          <a:cs typeface="Times New Roman"/>
                          <a:sym typeface="Times New Roman"/>
                        </a:rPr>
                        <a:t>El sistema debe garantizar una alta disponibilidad y funcionamiento continuo, asegurando que los datos procesados y almacenados sean consistentes y libres de errores, minimizando el riesgo de fallos o pérdidas de información durante las operaciones.</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Prioridad de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Alta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aphicFrame>
        <p:nvGraphicFramePr>
          <p:cNvPr id="245" name="Google Shape;245;p44"/>
          <p:cNvGraphicFramePr/>
          <p:nvPr/>
        </p:nvGraphicFramePr>
        <p:xfrm>
          <a:off x="1429150" y="1040213"/>
          <a:ext cx="3000000" cy="3000000"/>
        </p:xfrm>
        <a:graphic>
          <a:graphicData uri="http://schemas.openxmlformats.org/drawingml/2006/table">
            <a:tbl>
              <a:tblPr>
                <a:noFill/>
                <a:tableStyleId>{DF108712-4F53-4304-8001-77F26326E2D1}</a:tableStyleId>
              </a:tblPr>
              <a:tblGrid>
                <a:gridCol w="1622050"/>
                <a:gridCol w="4663650"/>
              </a:tblGrid>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Identificación</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RNF10</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Nombre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highlight>
                          <a:schemeClr val="dk2"/>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highlight>
                            <a:srgbClr val="B7B7B7"/>
                          </a:highlight>
                          <a:latin typeface="Times New Roman"/>
                          <a:ea typeface="Times New Roman"/>
                          <a:cs typeface="Times New Roman"/>
                          <a:sym typeface="Times New Roman"/>
                        </a:rPr>
                        <a:t>Conformidad legal</a:t>
                      </a:r>
                      <a:endParaRPr>
                        <a:highlight>
                          <a:srgbClr val="B7B7B7"/>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Características: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s-419">
                          <a:latin typeface="Times New Roman"/>
                          <a:ea typeface="Times New Roman"/>
                          <a:cs typeface="Times New Roman"/>
                          <a:sym typeface="Times New Roman"/>
                        </a:rPr>
                        <a:t>Cumplirá con la Ley 1581 de 2012, protegiendo los datos personales de los usuarios.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Descripción del</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rPr lang="es-419">
                          <a:latin typeface="Times New Roman"/>
                          <a:ea typeface="Times New Roman"/>
                          <a:cs typeface="Times New Roman"/>
                          <a:sym typeface="Times New Roman"/>
                        </a:rPr>
                        <a:t>El sistema debe cumplir con las normativas de protección de datos vigentes en Colombia (Ley 1581 de 2012).</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Prioridad de</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s-419" sz="1200">
                          <a:solidFill>
                            <a:schemeClr val="dk1"/>
                          </a:solidFill>
                          <a:latin typeface="Times New Roman"/>
                          <a:ea typeface="Times New Roman"/>
                          <a:cs typeface="Times New Roman"/>
                          <a:sym typeface="Times New Roman"/>
                        </a:rPr>
                        <a:t>requerimiento:</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419" sz="1200">
                          <a:solidFill>
                            <a:schemeClr val="dk1"/>
                          </a:solidFill>
                          <a:latin typeface="Times New Roman"/>
                          <a:ea typeface="Times New Roman"/>
                          <a:cs typeface="Times New Roman"/>
                          <a:sym typeface="Times New Roman"/>
                        </a:rPr>
                        <a:t>Alta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
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hBTBQSHdF/KsildrrPQbfFBAMB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080C48-1149-44C8-9D28-6927C4ABF2F0}">
  <a:tblStyle styleId="{E3080C48-1149-44C8-9D28-6927C4ABF2F0}"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8A78809-A831-4239-91BA-992DA3C88D6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4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5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5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5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41275" y="2229550"/>
            <a:ext cx="8520600" cy="1265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15000"/>
              </a:lnSpc>
              <a:spcBef>
                <a:spcPts val="1200"/>
              </a:spcBef>
              <a:spcAft>
                <a:spcPts val="0"/>
              </a:spcAft>
              <a:buSzPct val="262626"/>
              <a:buNone/>
            </a:pPr>
            <a:r>
              <a:t/>
            </a:r>
            <a:endParaRPr sz="2200">
              <a:latin typeface="Times New Roman"/>
              <a:ea typeface="Times New Roman"/>
              <a:cs typeface="Times New Roman"/>
              <a:sym typeface="Times New Roman"/>
            </a:endParaRPr>
          </a:p>
          <a:p>
            <a:pPr indent="0" lvl="0" marL="0" rtl="0" algn="ctr">
              <a:lnSpc>
                <a:spcPct val="115000"/>
              </a:lnSpc>
              <a:spcBef>
                <a:spcPts val="1200"/>
              </a:spcBef>
              <a:spcAft>
                <a:spcPts val="0"/>
              </a:spcAft>
              <a:buSzPct val="218524"/>
              <a:buNone/>
            </a:pPr>
            <a:r>
              <a:rPr b="1" lang="es-419" sz="2644">
                <a:latin typeface="Times New Roman"/>
                <a:ea typeface="Times New Roman"/>
                <a:cs typeface="Times New Roman"/>
                <a:sym typeface="Times New Roman"/>
              </a:rPr>
              <a:t>Industrias Alimenticias Pronavid S.A.S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SzPct val="218524"/>
              <a:buNone/>
            </a:pPr>
            <a:r>
              <a:rPr b="1" lang="es-419" sz="2644">
                <a:latin typeface="Times New Roman"/>
                <a:ea typeface="Times New Roman"/>
                <a:cs typeface="Times New Roman"/>
                <a:sym typeface="Times New Roman"/>
              </a:rPr>
              <a:t>Gestión de ventas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SzPct val="351446"/>
              <a:buNone/>
            </a:pPr>
            <a:r>
              <a:t/>
            </a:r>
            <a:endParaRPr b="1" sz="1644">
              <a:latin typeface="Times New Roman"/>
              <a:ea typeface="Times New Roman"/>
              <a:cs typeface="Times New Roman"/>
              <a:sym typeface="Times New Roman"/>
            </a:endParaRPr>
          </a:p>
          <a:p>
            <a:pPr indent="0" lvl="0" marL="0" rtl="0" algn="ctr">
              <a:lnSpc>
                <a:spcPct val="100000"/>
              </a:lnSpc>
              <a:spcBef>
                <a:spcPts val="1200"/>
              </a:spcBef>
              <a:spcAft>
                <a:spcPts val="0"/>
              </a:spcAft>
              <a:buSzPct val="111111"/>
              <a:buNone/>
            </a:pPr>
            <a:r>
              <a:t/>
            </a:r>
            <a:endParaRPr>
              <a:latin typeface="Times New Roman"/>
              <a:ea typeface="Times New Roman"/>
              <a:cs typeface="Times New Roman"/>
              <a:sym typeface="Times New Roman"/>
            </a:endParaRPr>
          </a:p>
        </p:txBody>
      </p:sp>
      <p:sp>
        <p:nvSpPr>
          <p:cNvPr id="55" name="Google Shape;55;p1"/>
          <p:cNvSpPr txBox="1"/>
          <p:nvPr>
            <p:ph idx="1" type="subTitle"/>
          </p:nvPr>
        </p:nvSpPr>
        <p:spPr>
          <a:xfrm>
            <a:off x="311700" y="2922825"/>
            <a:ext cx="8520600" cy="1489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1200"/>
              </a:spcAft>
              <a:buClr>
                <a:schemeClr val="dk1"/>
              </a:buClr>
              <a:buSzPct val="91666"/>
              <a:buFont typeface="Arial"/>
              <a:buNone/>
            </a:pPr>
            <a:r>
              <a:rPr lang="es-419" sz="1200">
                <a:solidFill>
                  <a:schemeClr val="dk1"/>
                </a:solidFill>
                <a:latin typeface="Times New Roman"/>
                <a:ea typeface="Times New Roman"/>
                <a:cs typeface="Times New Roman"/>
                <a:sym typeface="Times New Roman"/>
              </a:rPr>
              <a:t> </a:t>
            </a:r>
            <a:r>
              <a:rPr lang="es-419" sz="2550">
                <a:solidFill>
                  <a:schemeClr val="dk1"/>
                </a:solidFill>
                <a:latin typeface="Times New Roman"/>
                <a:ea typeface="Times New Roman"/>
                <a:cs typeface="Times New Roman"/>
                <a:sym typeface="Times New Roman"/>
              </a:rPr>
              <a:t>Jhon Alexander Merchan Trujillo</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Sebastián Espinosa Misas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Benjamín Santos Gonzales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Jhosuaht Julián Rojas Castañeda</a:t>
            </a:r>
            <a:endParaRPr sz="2550">
              <a:latin typeface="Times New Roman"/>
              <a:ea typeface="Times New Roman"/>
              <a:cs typeface="Times New Roman"/>
              <a:sym typeface="Times New Roman"/>
            </a:endParaRPr>
          </a:p>
        </p:txBody>
      </p:sp>
      <p:pic>
        <p:nvPicPr>
          <p:cNvPr id="56" name="Google Shape;56;p1"/>
          <p:cNvPicPr preferRelativeResize="0"/>
          <p:nvPr/>
        </p:nvPicPr>
        <p:blipFill rotWithShape="1">
          <a:blip r:embed="rId3">
            <a:alphaModFix/>
          </a:blip>
          <a:srcRect b="0" l="0" r="0" t="0"/>
          <a:stretch/>
        </p:blipFill>
        <p:spPr>
          <a:xfrm>
            <a:off x="4341625" y="2845825"/>
            <a:ext cx="4681274" cy="1566200"/>
          </a:xfrm>
          <a:prstGeom prst="rect">
            <a:avLst/>
          </a:prstGeom>
          <a:noFill/>
          <a:ln>
            <a:noFill/>
          </a:ln>
        </p:spPr>
      </p:pic>
      <p:pic>
        <p:nvPicPr>
          <p:cNvPr id="57" name="Google Shape;57;p1"/>
          <p:cNvPicPr preferRelativeResize="0"/>
          <p:nvPr/>
        </p:nvPicPr>
        <p:blipFill rotWithShape="1">
          <a:blip r:embed="rId4">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30525"/>
            <a:ext cx="8520600" cy="572700"/>
          </a:xfrm>
          <a:prstGeom prst="rect">
            <a:avLst/>
          </a:prstGeom>
          <a:noFill/>
          <a:ln>
            <a:noFill/>
          </a:ln>
        </p:spPr>
        <p:txBody>
          <a:bodyPr anchorCtr="0" anchor="t" bIns="91425" lIns="91425" spcFirstLastPara="1" rIns="91425" wrap="square" tIns="91425">
            <a:normAutofit fontScale="90000"/>
          </a:bodyPr>
          <a:lstStyle/>
          <a:p>
            <a:pPr indent="-355649" lvl="0" marL="457200" rtl="0" algn="l">
              <a:lnSpc>
                <a:spcPct val="100000"/>
              </a:lnSpc>
              <a:spcBef>
                <a:spcPts val="0"/>
              </a:spcBef>
              <a:spcAft>
                <a:spcPts val="0"/>
              </a:spcAft>
              <a:buSzPct val="100000"/>
              <a:buFont typeface="Times New Roman"/>
              <a:buAutoNum type="arabicPeriod"/>
            </a:pPr>
            <a:r>
              <a:rPr b="1" lang="es-419" sz="2222">
                <a:highlight>
                  <a:srgbClr val="FFFFFF"/>
                </a:highlight>
                <a:latin typeface="Times New Roman"/>
                <a:ea typeface="Times New Roman"/>
                <a:cs typeface="Times New Roman"/>
                <a:sym typeface="Times New Roman"/>
              </a:rPr>
              <a:t>Planteamiento problema</a:t>
            </a:r>
            <a:endParaRPr b="1" sz="2222">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latin typeface="Times New Roman"/>
              <a:ea typeface="Times New Roman"/>
              <a:cs typeface="Times New Roman"/>
              <a:sym typeface="Times New Roman"/>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Industrias Alimenticias Pronavid S.A.S., ubicada en la localidad de Kennedy y dedicada a la producción y venta de productos como cereales, galletas y turrones, enfrenta serias dificultades en la gestión de su proceso de ventas, ya que actualmente opera de forma manual mediante hojas de cálculo, llamadas y mensajes por WhatsApp.</a:t>
            </a: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Este método desorganizado ha generado múltiples problemas:</a:t>
            </a: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120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Errores en los registros de los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Pérdida de información.</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lnSpc>
                <a:spcPct val="115000"/>
              </a:lnSpc>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Falta de seguimiento a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sz="5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b="1" sz="5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50000"/>
              <a:buFont typeface="Arial"/>
              <a:buNone/>
            </a:pPr>
            <a:r>
              <a:t/>
            </a:r>
            <a:endParaRPr b="1"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rgbClr val="000000"/>
              </a:buClr>
              <a:buSzPct val="91666"/>
              <a:buFont typeface="Arial"/>
              <a:buNone/>
            </a:pPr>
            <a:r>
              <a:t/>
            </a:r>
            <a:endParaRPr sz="1200">
              <a:solidFill>
                <a:schemeClr val="dk1"/>
              </a:solidFill>
            </a:endParaRPr>
          </a:p>
        </p:txBody>
      </p:sp>
      <p:pic>
        <p:nvPicPr>
          <p:cNvPr id="64" name="Google Shape;64;p2"/>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260200"/>
            <a:ext cx="30681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1250"/>
              <a:buFont typeface="Arial"/>
              <a:buNone/>
            </a:pPr>
            <a:r>
              <a:rPr b="1" lang="es-419" sz="2666">
                <a:highlight>
                  <a:srgbClr val="FFFFFF"/>
                </a:highlight>
                <a:latin typeface="Times New Roman"/>
                <a:ea typeface="Times New Roman"/>
                <a:cs typeface="Times New Roman"/>
                <a:sym typeface="Times New Roman"/>
              </a:rPr>
              <a:t>2. Pregunta problema</a:t>
            </a:r>
            <a:endParaRPr b="1" sz="2666">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lnSpc>
                <a:spcPct val="100000"/>
              </a:lnSpc>
              <a:spcBef>
                <a:spcPts val="0"/>
              </a:spcBef>
              <a:spcAft>
                <a:spcPts val="0"/>
              </a:spcAft>
              <a:buSzPct val="111111"/>
              <a:buNone/>
            </a:pPr>
            <a:r>
              <a:t/>
            </a:r>
            <a:endParaRPr>
              <a:latin typeface="Times New Roman"/>
              <a:ea typeface="Times New Roman"/>
              <a:cs typeface="Times New Roman"/>
              <a:sym typeface="Times New Roman"/>
            </a:endParaRPr>
          </a:p>
        </p:txBody>
      </p:sp>
      <p:sp>
        <p:nvSpPr>
          <p:cNvPr id="70" name="Google Shape;70;p3"/>
          <p:cNvSpPr txBox="1"/>
          <p:nvPr>
            <p:ph idx="1" type="body"/>
          </p:nvPr>
        </p:nvSpPr>
        <p:spPr>
          <a:xfrm>
            <a:off x="311700" y="1619200"/>
            <a:ext cx="3970800" cy="28233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162162"/>
              <a:buNone/>
            </a:pPr>
            <a:r>
              <a:rPr lang="es-419">
                <a:solidFill>
                  <a:schemeClr val="dk1"/>
                </a:solidFill>
                <a:latin typeface="Times New Roman"/>
                <a:ea typeface="Times New Roman"/>
                <a:cs typeface="Times New Roman"/>
                <a:sym typeface="Times New Roman"/>
              </a:rPr>
              <a:t>¿Por qué un sistema de información orientado a la gestión de ventas puede influir positivamente en Industrias Alimenticias Pronavid S.A.S. optimizando la gestión de sus ventas mediante un sistema que permita registrar, controlar y analizar las cotizaciones, pedidos e historial de clientes, mejorando así la eficiencia comercial y la toma de decisiones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ct val="162162"/>
              <a:buNone/>
            </a:pPr>
            <a:r>
              <a:t/>
            </a:r>
            <a:endParaRPr sz="1200">
              <a:solidFill>
                <a:schemeClr val="dk1"/>
              </a:solidFill>
              <a:latin typeface="Times New Roman"/>
              <a:ea typeface="Times New Roman"/>
              <a:cs typeface="Times New Roman"/>
              <a:sym typeface="Times New Roman"/>
            </a:endParaRPr>
          </a:p>
        </p:txBody>
      </p:sp>
      <p:pic>
        <p:nvPicPr>
          <p:cNvPr id="71" name="Google Shape;71;p3"/>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72" name="Google Shape;72;p3"/>
          <p:cNvPicPr preferRelativeResize="0"/>
          <p:nvPr/>
        </p:nvPicPr>
        <p:blipFill rotWithShape="1">
          <a:blip r:embed="rId4">
            <a:alphaModFix/>
          </a:blip>
          <a:srcRect b="0" l="0" r="0" t="0"/>
          <a:stretch/>
        </p:blipFill>
        <p:spPr>
          <a:xfrm>
            <a:off x="4282500" y="1390438"/>
            <a:ext cx="4776400" cy="236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305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s-419" sz="2000">
                <a:highlight>
                  <a:srgbClr val="FFFFFF"/>
                </a:highlight>
                <a:latin typeface="Times New Roman"/>
                <a:ea typeface="Times New Roman"/>
                <a:cs typeface="Times New Roman"/>
                <a:sym typeface="Times New Roman"/>
              </a:rPr>
              <a:t>3. Objetivo general</a:t>
            </a:r>
            <a:endParaRPr b="1" sz="2000">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2800"/>
              <a:buNone/>
            </a:pPr>
            <a:r>
              <a:t/>
            </a:r>
            <a:endParaRPr>
              <a:latin typeface="Times New Roman"/>
              <a:ea typeface="Times New Roman"/>
              <a:cs typeface="Times New Roman"/>
              <a:sym typeface="Times New Roman"/>
            </a:endParaRPr>
          </a:p>
        </p:txBody>
      </p:sp>
      <p:sp>
        <p:nvSpPr>
          <p:cNvPr id="78" name="Google Shape;78;p4"/>
          <p:cNvSpPr txBox="1"/>
          <p:nvPr>
            <p:ph idx="1" type="body"/>
          </p:nvPr>
        </p:nvSpPr>
        <p:spPr>
          <a:xfrm>
            <a:off x="311700" y="1331975"/>
            <a:ext cx="4320000" cy="2839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Clr>
                <a:schemeClr val="dk1"/>
              </a:buClr>
              <a:buSzPts val="1100"/>
              <a:buFont typeface="Arial"/>
              <a:buNone/>
            </a:pPr>
            <a:r>
              <a:rPr lang="es-419">
                <a:solidFill>
                  <a:schemeClr val="dk1"/>
                </a:solidFill>
                <a:latin typeface="Times New Roman"/>
                <a:ea typeface="Times New Roman"/>
                <a:cs typeface="Times New Roman"/>
                <a:sym typeface="Times New Roman"/>
              </a:rPr>
              <a:t>Implementar un sistema de información basado en la gestión de ventas para Industrias Alimenticias Pronavid S.A.S. que permita automatizar el registro de pedidos, controlar cotizaciones y generar reportes comerciales, con el fin de mejorar la eficiencia del proceso de ventas y apoyar la toma de decisiones basada en datos.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solidFill>
                <a:schemeClr val="dk1"/>
              </a:solidFill>
              <a:latin typeface="Times New Roman"/>
              <a:ea typeface="Times New Roman"/>
              <a:cs typeface="Times New Roman"/>
              <a:sym typeface="Times New Roman"/>
            </a:endParaRPr>
          </a:p>
        </p:txBody>
      </p:sp>
      <p:pic>
        <p:nvPicPr>
          <p:cNvPr id="79" name="Google Shape;79;p4"/>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80" name="Google Shape;80;p4"/>
          <p:cNvPicPr preferRelativeResize="0"/>
          <p:nvPr/>
        </p:nvPicPr>
        <p:blipFill rotWithShape="1">
          <a:blip r:embed="rId4">
            <a:alphaModFix/>
          </a:blip>
          <a:srcRect b="0" l="0" r="0" t="0"/>
          <a:stretch/>
        </p:blipFill>
        <p:spPr>
          <a:xfrm>
            <a:off x="4631900" y="899275"/>
            <a:ext cx="3835475" cy="3704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095250" y="260200"/>
            <a:ext cx="29535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s-419" sz="2020">
                <a:latin typeface="Times New Roman"/>
                <a:ea typeface="Times New Roman"/>
                <a:cs typeface="Times New Roman"/>
                <a:sym typeface="Times New Roman"/>
              </a:rPr>
              <a:t>4. Objetivos específicos</a:t>
            </a:r>
            <a:endParaRPr b="1" sz="2020">
              <a:latin typeface="Times New Roman"/>
              <a:ea typeface="Times New Roman"/>
              <a:cs typeface="Times New Roman"/>
              <a:sym typeface="Times New Roman"/>
            </a:endParaRPr>
          </a:p>
        </p:txBody>
      </p:sp>
      <p:pic>
        <p:nvPicPr>
          <p:cNvPr id="86" name="Google Shape;86;p5"/>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
        <p:nvSpPr>
          <p:cNvPr id="87" name="Google Shape;87;p5"/>
          <p:cNvSpPr txBox="1"/>
          <p:nvPr>
            <p:ph type="title"/>
          </p:nvPr>
        </p:nvSpPr>
        <p:spPr>
          <a:xfrm>
            <a:off x="-195750" y="1355525"/>
            <a:ext cx="5585700" cy="2634900"/>
          </a:xfrm>
          <a:prstGeom prst="rect">
            <a:avLst/>
          </a:prstGeom>
          <a:noFill/>
          <a:ln>
            <a:noFill/>
          </a:ln>
        </p:spPr>
        <p:txBody>
          <a:bodyPr anchorCtr="0" anchor="t" bIns="91425" lIns="91425" spcFirstLastPara="1" rIns="91425" wrap="square" tIns="91425">
            <a:normAutofit fontScale="90000"/>
          </a:bodyPr>
          <a:lstStyle/>
          <a:p>
            <a:pPr indent="-291465" lvl="0" marL="457200" rtl="0" algn="l">
              <a:lnSpc>
                <a:spcPct val="115000"/>
              </a:lnSpc>
              <a:spcBef>
                <a:spcPts val="1200"/>
              </a:spcBef>
              <a:spcAft>
                <a:spcPts val="0"/>
              </a:spcAft>
              <a:buSzPct val="54455"/>
              <a:buChar char="●"/>
            </a:pPr>
            <a:r>
              <a:rPr lang="es-419" sz="2020">
                <a:latin typeface="Times New Roman"/>
                <a:ea typeface="Times New Roman"/>
                <a:cs typeface="Times New Roman"/>
                <a:sym typeface="Times New Roman"/>
              </a:rPr>
              <a:t>Permitir el registro de cotizaciones y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Gestionar precios, promociones y estado de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Facilitar la generación de reportes de ventas.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Automatizar tareas repetitivas del proceso comercial.</a:t>
            </a:r>
            <a:endParaRPr sz="2020">
              <a:latin typeface="Times New Roman"/>
              <a:ea typeface="Times New Roman"/>
              <a:cs typeface="Times New Roman"/>
              <a:sym typeface="Times New Roman"/>
            </a:endParaRPr>
          </a:p>
          <a:p>
            <a:pPr indent="0" lvl="0" marL="0" rtl="0" algn="l">
              <a:lnSpc>
                <a:spcPct val="100000"/>
              </a:lnSpc>
              <a:spcBef>
                <a:spcPts val="1200"/>
              </a:spcBef>
              <a:spcAft>
                <a:spcPts val="0"/>
              </a:spcAft>
              <a:buSzPct val="49009"/>
              <a:buNone/>
            </a:pPr>
            <a:r>
              <a:t/>
            </a:r>
            <a:endParaRPr b="1" sz="202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229600" y="41217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rPr>
              <a:t>5. Justificación </a:t>
            </a:r>
            <a:endParaRPr b="1" sz="2000"/>
          </a:p>
        </p:txBody>
      </p:sp>
      <p:sp>
        <p:nvSpPr>
          <p:cNvPr id="93" name="Google Shape;93;p6"/>
          <p:cNvSpPr txBox="1"/>
          <p:nvPr>
            <p:ph idx="1" type="body"/>
          </p:nvPr>
        </p:nvSpPr>
        <p:spPr>
          <a:xfrm>
            <a:off x="147600" y="1090050"/>
            <a:ext cx="8996400" cy="31191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Industrias Alimenticias Pronavid S.A.S. carece actualmente de un sistema de información que le permita gestionar de forma efectiva sus procesos de ventas. El uso de herramientas manuales como hojas de cálculo, mensajes de WhatsApp genera retrasos, errores en la información, pérdida de datos y una baja capacidad de respuesta frente a los requerimientos de los clientes.</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La implementación de un sistema de información de gestión de ventas aportará mejoras sustanciales en la organización del proceso comercial, permitiendo el registro estructurado de pedidos, el control del estado de las ventas y la generación de reportes útiles para la toma de decisiones. Esto minimizará los errores humanos y optimizará la comunicación entre el cliente y la empresa.</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Font typeface="Arial"/>
              <a:buNone/>
            </a:pPr>
            <a:r>
              <a:t/>
            </a:r>
            <a:endParaRPr sz="7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1110"/>
              <a:buFont typeface="Arial"/>
              <a:buNone/>
            </a:pPr>
            <a:r>
              <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p>
        </p:txBody>
      </p:sp>
      <p:pic>
        <p:nvPicPr>
          <p:cNvPr id="94" name="Google Shape;94;p6"/>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598600" y="736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419" sz="2000">
                <a:highlight>
                  <a:srgbClr val="FFFFFF"/>
                </a:highlight>
                <a:latin typeface="Times New Roman"/>
                <a:ea typeface="Times New Roman"/>
                <a:cs typeface="Times New Roman"/>
                <a:sym typeface="Times New Roman"/>
              </a:rPr>
              <a:t>6. </a:t>
            </a:r>
            <a:r>
              <a:rPr b="1" lang="es-419" sz="2000">
                <a:highlight>
                  <a:srgbClr val="FFFFFF"/>
                </a:highlight>
                <a:latin typeface="Times New Roman"/>
                <a:ea typeface="Times New Roman"/>
                <a:cs typeface="Times New Roman"/>
                <a:sym typeface="Times New Roman"/>
              </a:rPr>
              <a:t>Alcance</a:t>
            </a:r>
            <a:endParaRPr b="1" sz="3600">
              <a:latin typeface="Times New Roman"/>
              <a:ea typeface="Times New Roman"/>
              <a:cs typeface="Times New Roman"/>
              <a:sym typeface="Times New Roman"/>
            </a:endParaRPr>
          </a:p>
        </p:txBody>
      </p:sp>
      <p:sp>
        <p:nvSpPr>
          <p:cNvPr id="100" name="Google Shape;100;p7"/>
          <p:cNvSpPr/>
          <p:nvPr/>
        </p:nvSpPr>
        <p:spPr>
          <a:xfrm>
            <a:off x="4957275" y="1309600"/>
            <a:ext cx="3810900" cy="3617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s-419" sz="1300" u="none" cap="none" strike="noStrike">
                <a:solidFill>
                  <a:schemeClr val="dk1"/>
                </a:solidFill>
                <a:latin typeface="Times New Roman"/>
                <a:ea typeface="Times New Roman"/>
                <a:cs typeface="Times New Roman"/>
                <a:sym typeface="Times New Roman"/>
              </a:rPr>
              <a:t>El sistema estará limitado a uso interno del personal comercial, sin incluir pagos electrónicos, facturación automática, portal de compras para clientes externos, integración con las áreas de producción, finanzas o logística, ni un sistema completo de inventario, y su disponibilidad será exclusivamente en versión web.</a:t>
            </a:r>
            <a:endParaRPr b="0" i="0" sz="13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1200"/>
              </a:spcBef>
              <a:spcAft>
                <a:spcPts val="0"/>
              </a:spcAft>
              <a:buClr>
                <a:srgbClr val="000000"/>
              </a:buClr>
              <a:buSzPts val="1300"/>
              <a:buFont typeface="Arial"/>
              <a:buNone/>
            </a:pPr>
            <a:r>
              <a:t/>
            </a:r>
            <a:endParaRPr b="0" i="0" sz="1300" u="none" cap="none" strike="noStrike">
              <a:solidFill>
                <a:schemeClr val="dk1"/>
              </a:solidFill>
              <a:latin typeface="Times New Roman"/>
              <a:ea typeface="Times New Roman"/>
              <a:cs typeface="Times New Roman"/>
              <a:sym typeface="Times New Roman"/>
            </a:endParaRPr>
          </a:p>
        </p:txBody>
      </p:sp>
      <p:sp>
        <p:nvSpPr>
          <p:cNvPr id="101" name="Google Shape;101;p7"/>
          <p:cNvSpPr/>
          <p:nvPr/>
        </p:nvSpPr>
        <p:spPr>
          <a:xfrm>
            <a:off x="262750" y="1309600"/>
            <a:ext cx="4309200" cy="361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15000"/>
              </a:lnSpc>
              <a:spcBef>
                <a:spcPts val="1200"/>
              </a:spcBef>
              <a:spcAft>
                <a:spcPts val="0"/>
              </a:spcAft>
              <a:buClr>
                <a:srgbClr val="000000"/>
              </a:buClr>
              <a:buSzPts val="900"/>
              <a:buFont typeface="Arial"/>
              <a:buNone/>
            </a:pPr>
            <a:br>
              <a:rPr b="0" i="0" lang="es-419" sz="900" u="none" cap="none" strike="noStrike">
                <a:solidFill>
                  <a:schemeClr val="dk1"/>
                </a:solidFill>
                <a:latin typeface="Arial"/>
                <a:ea typeface="Arial"/>
                <a:cs typeface="Arial"/>
                <a:sym typeface="Arial"/>
              </a:rPr>
            </a:b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1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1200"/>
              </a:spcBef>
              <a:spcAft>
                <a:spcPts val="0"/>
              </a:spcAft>
              <a:buClr>
                <a:srgbClr val="000000"/>
              </a:buClr>
              <a:buSzPts val="1300"/>
              <a:buFont typeface="Arial"/>
              <a:buNone/>
            </a:pPr>
            <a:r>
              <a:t/>
            </a:r>
            <a:endParaRPr b="0" i="0" sz="1300" u="none" cap="none" strike="noStrike">
              <a:solidFill>
                <a:srgbClr val="000000"/>
              </a:solidFill>
              <a:latin typeface="Times New Roman"/>
              <a:ea typeface="Times New Roman"/>
              <a:cs typeface="Times New Roman"/>
              <a:sym typeface="Times New Roman"/>
            </a:endParaRPr>
          </a:p>
        </p:txBody>
      </p:sp>
      <p:sp>
        <p:nvSpPr>
          <p:cNvPr id="102" name="Google Shape;102;p7"/>
          <p:cNvSpPr txBox="1"/>
          <p:nvPr/>
        </p:nvSpPr>
        <p:spPr>
          <a:xfrm>
            <a:off x="5960625" y="1812400"/>
            <a:ext cx="20181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419" sz="2300" u="none" cap="none" strike="noStrike">
                <a:solidFill>
                  <a:schemeClr val="dk1"/>
                </a:solidFill>
                <a:latin typeface="Times New Roman"/>
                <a:ea typeface="Times New Roman"/>
                <a:cs typeface="Times New Roman"/>
                <a:sym typeface="Times New Roman"/>
              </a:rPr>
              <a:t>Delimitación</a:t>
            </a:r>
            <a:endParaRPr b="0" i="0" sz="2300" u="none" cap="none" strike="noStrike">
              <a:solidFill>
                <a:schemeClr val="dk1"/>
              </a:solidFill>
              <a:latin typeface="Times New Roman"/>
              <a:ea typeface="Times New Roman"/>
              <a:cs typeface="Times New Roman"/>
              <a:sym typeface="Times New Roman"/>
            </a:endParaRPr>
          </a:p>
        </p:txBody>
      </p:sp>
      <p:sp>
        <p:nvSpPr>
          <p:cNvPr id="103" name="Google Shape;103;p7"/>
          <p:cNvSpPr txBox="1"/>
          <p:nvPr/>
        </p:nvSpPr>
        <p:spPr>
          <a:xfrm>
            <a:off x="1838650" y="1606675"/>
            <a:ext cx="1157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419" sz="2300" u="none" cap="none" strike="noStrike">
                <a:solidFill>
                  <a:schemeClr val="dk1"/>
                </a:solidFill>
                <a:latin typeface="Times New Roman"/>
                <a:ea typeface="Times New Roman"/>
                <a:cs typeface="Times New Roman"/>
                <a:sym typeface="Times New Roman"/>
              </a:rPr>
              <a:t>Alcance</a:t>
            </a:r>
            <a:endParaRPr b="0" i="0" sz="2300" u="none" cap="none" strike="noStrike">
              <a:solidFill>
                <a:schemeClr val="dk1"/>
              </a:solidFill>
              <a:latin typeface="Times New Roman"/>
              <a:ea typeface="Times New Roman"/>
              <a:cs typeface="Times New Roman"/>
              <a:sym typeface="Times New Roman"/>
            </a:endParaRPr>
          </a:p>
        </p:txBody>
      </p:sp>
      <p:sp>
        <p:nvSpPr>
          <p:cNvPr id="104" name="Google Shape;104;p7"/>
          <p:cNvSpPr txBox="1"/>
          <p:nvPr>
            <p:ph type="title"/>
          </p:nvPr>
        </p:nvSpPr>
        <p:spPr>
          <a:xfrm>
            <a:off x="5583150" y="683450"/>
            <a:ext cx="20181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419" sz="2000">
                <a:highlight>
                  <a:srgbClr val="FFFFFF"/>
                </a:highlight>
                <a:latin typeface="Times New Roman"/>
                <a:ea typeface="Times New Roman"/>
                <a:cs typeface="Times New Roman"/>
                <a:sym typeface="Times New Roman"/>
              </a:rPr>
              <a:t>7. </a:t>
            </a:r>
            <a:r>
              <a:rPr b="1" lang="es-419" sz="2000">
                <a:highlight>
                  <a:srgbClr val="FFFFFF"/>
                </a:highlight>
                <a:latin typeface="Times New Roman"/>
                <a:ea typeface="Times New Roman"/>
                <a:cs typeface="Times New Roman"/>
                <a:sym typeface="Times New Roman"/>
              </a:rPr>
              <a:t>Delimitación</a:t>
            </a:r>
            <a:endParaRPr b="1" sz="3600">
              <a:latin typeface="Times New Roman"/>
              <a:ea typeface="Times New Roman"/>
              <a:cs typeface="Times New Roman"/>
              <a:sym typeface="Times New Roman"/>
            </a:endParaRPr>
          </a:p>
        </p:txBody>
      </p:sp>
      <p:pic>
        <p:nvPicPr>
          <p:cNvPr id="105" name="Google Shape;105;p7"/>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sp>
        <p:nvSpPr>
          <p:cNvPr id="106" name="Google Shape;106;p7"/>
          <p:cNvSpPr txBox="1"/>
          <p:nvPr/>
        </p:nvSpPr>
        <p:spPr>
          <a:xfrm>
            <a:off x="385900" y="2272975"/>
            <a:ext cx="4062900" cy="208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dk1"/>
                </a:solidFill>
                <a:latin typeface="Times New Roman"/>
                <a:ea typeface="Times New Roman"/>
                <a:cs typeface="Times New Roman"/>
                <a:sym typeface="Times New Roman"/>
              </a:rPr>
              <a:t>El sistema web estará orientado a la gestión del proceso de ventas en Industrias Alimenticias Pronavid S.A.S., incluyendo el registro de cotizaciones y pedidos, seguimiento de estados, historial de compras por cliente, generación de reportes básicos y autenticación de usuarios internos (asesores y administradores), con almacenamiento de datos en servidores locales o en la nube (dependiendo los recursos ). El proyecto se desarrollará e implementará progresivamente en un plazo estimado de seis (6) a siete (7) trimestres.</a:t>
            </a:r>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0" y="-821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12" name="Google Shape;112;p8"/>
          <p:cNvSpPr txBox="1"/>
          <p:nvPr>
            <p:ph idx="1" type="body"/>
          </p:nvPr>
        </p:nvSpPr>
        <p:spPr>
          <a:xfrm>
            <a:off x="0" y="364200"/>
            <a:ext cx="4992300" cy="477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rPr b="1" lang="es-419" sz="1000">
                <a:solidFill>
                  <a:schemeClr val="dk1"/>
                </a:solidFill>
                <a:latin typeface="Times New Roman"/>
                <a:ea typeface="Times New Roman"/>
                <a:cs typeface="Times New Roman"/>
                <a:sym typeface="Times New Roman"/>
              </a:rPr>
              <a:t>Rol 1: Asesor Comercial (Ejecutivo de Ventas)</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s-419" sz="1000">
                <a:solidFill>
                  <a:schemeClr val="dk1"/>
                </a:solidFill>
                <a:latin typeface="Times New Roman"/>
                <a:ea typeface="Times New Roman"/>
                <a:cs typeface="Times New Roman"/>
                <a:sym typeface="Times New Roman"/>
              </a:rPr>
              <a:t>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¿Actualmente utiliza alguna herramienta digital para registrar pedidos?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¿cuál?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¿Cuáles son los pasos que sigue para registrar una venta desde el primer contacto hasta el cierre?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debe repetir información de un cliente ya conocido?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Siempre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A veces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Nunca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consulta actualmente el historial de compras de un cliente?</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¿Qué tan fácil es para usted modificar un pedido en curso? Muy fácil,  Regular, Difícil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0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
        <p:nvSpPr>
          <p:cNvPr id="113" name="Google Shape;113;p8"/>
          <p:cNvSpPr txBox="1"/>
          <p:nvPr>
            <p:ph idx="1" type="body"/>
          </p:nvPr>
        </p:nvSpPr>
        <p:spPr>
          <a:xfrm>
            <a:off x="4851175" y="-522200"/>
            <a:ext cx="4493100" cy="5452200"/>
          </a:xfrm>
          <a:prstGeom prst="rect">
            <a:avLst/>
          </a:prstGeom>
          <a:noFill/>
          <a:ln>
            <a:noFill/>
          </a:ln>
        </p:spPr>
        <p:txBody>
          <a:bodyPr anchorCtr="0" anchor="t" bIns="91425" lIns="91425" spcFirstLastPara="1" rIns="91425" wrap="square" tIns="91425">
            <a:noAutofit/>
          </a:bodyPr>
          <a:lstStyle/>
          <a:p>
            <a:pPr indent="-292100" lvl="1" marL="914400" rtl="0" algn="l">
              <a:lnSpc>
                <a:spcPct val="115000"/>
              </a:lnSpc>
              <a:spcBef>
                <a:spcPts val="1200"/>
              </a:spcBef>
              <a:spcAft>
                <a:spcPts val="0"/>
              </a:spcAft>
              <a:buClr>
                <a:schemeClr val="dk1"/>
              </a:buClr>
              <a:buSzPts val="1000"/>
              <a:buFont typeface="Times New Roman"/>
              <a:buChar char="○"/>
            </a:pP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100">
                <a:solidFill>
                  <a:schemeClr val="dk1"/>
                </a:solidFill>
                <a:latin typeface="Times New Roman"/>
                <a:ea typeface="Times New Roman"/>
                <a:cs typeface="Times New Roman"/>
                <a:sym typeface="Times New Roman"/>
              </a:rPr>
              <a:t>6</a:t>
            </a:r>
            <a:r>
              <a:rPr lang="es-419" sz="900">
                <a:solidFill>
                  <a:schemeClr val="dk1"/>
                </a:solidFill>
                <a:latin typeface="Times New Roman"/>
                <a:ea typeface="Times New Roman"/>
                <a:cs typeface="Times New Roman"/>
                <a:sym typeface="Times New Roman"/>
              </a:rPr>
              <a:t>.   ¿Qué tipo de errores suelen ocurrir en el proceso de venta? (Explique brevemente)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¿Tiene forma de saber cuáles productos son los más vendidos del mes?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¿Qué funciones considera indispensables en un sistema de ventas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9.   En una escala del 1 al 5, ¿qué tan necesario considera implementar un sistema automatizado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1 Nada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2 Poco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3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4 Muy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5 Totalmente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10.    ¿Qué impacto cree que tendría este sistema en su productividad diaria?</a:t>
            </a:r>
            <a:br>
              <a:rPr lang="es-419" sz="900">
                <a:solidFill>
                  <a:schemeClr val="dk1"/>
                </a:solidFill>
                <a:latin typeface="Times New Roman"/>
                <a:ea typeface="Times New Roman"/>
                <a:cs typeface="Times New Roman"/>
                <a:sym typeface="Times New Roman"/>
              </a:rPr>
            </a:b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8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1900">
                <a:highlight>
                  <a:srgbClr val="FFFFFF"/>
                </a:highlight>
                <a:latin typeface="Times New Roman"/>
                <a:ea typeface="Times New Roman"/>
                <a:cs typeface="Times New Roman"/>
                <a:sym typeface="Times New Roman"/>
              </a:rPr>
              <a:t>8. Técnicas e instrumentos de recolección</a:t>
            </a:r>
            <a:endParaRPr b="1" sz="1900">
              <a:latin typeface="Times New Roman"/>
              <a:ea typeface="Times New Roman"/>
              <a:cs typeface="Times New Roman"/>
              <a:sym typeface="Times New Roman"/>
            </a:endParaRPr>
          </a:p>
        </p:txBody>
      </p:sp>
      <p:sp>
        <p:nvSpPr>
          <p:cNvPr id="119" name="Google Shape;119;p9"/>
          <p:cNvSpPr txBox="1"/>
          <p:nvPr>
            <p:ph idx="1" type="body"/>
          </p:nvPr>
        </p:nvSpPr>
        <p:spPr>
          <a:xfrm>
            <a:off x="0" y="474175"/>
            <a:ext cx="5034000" cy="38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rPr b="1" lang="es-419" sz="1300">
                <a:solidFill>
                  <a:schemeClr val="dk1"/>
                </a:solidFill>
                <a:latin typeface="Times New Roman"/>
                <a:ea typeface="Times New Roman"/>
                <a:cs typeface="Times New Roman"/>
                <a:sym typeface="Times New Roman"/>
              </a:rPr>
              <a:t>Rol 2: Coordinador de Ventas</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b="1" lang="es-419" sz="1100">
                <a:solidFill>
                  <a:schemeClr val="dk1"/>
                </a:solidFill>
                <a:latin typeface="Times New Roman"/>
                <a:ea typeface="Times New Roman"/>
                <a:cs typeface="Times New Roman"/>
                <a:sym typeface="Times New Roman"/>
              </a:rPr>
              <a:t>Técnica:</a:t>
            </a:r>
            <a:r>
              <a:rPr lang="es-419" sz="1100">
                <a:solidFill>
                  <a:schemeClr val="dk1"/>
                </a:solidFill>
                <a:latin typeface="Times New Roman"/>
                <a:ea typeface="Times New Roman"/>
                <a:cs typeface="Times New Roman"/>
                <a:sym typeface="Times New Roman"/>
              </a:rPr>
              <a:t> Entrevista semi-estructurada</a:t>
            </a:r>
            <a:br>
              <a:rPr lang="es-419" sz="1100">
                <a:solidFill>
                  <a:schemeClr val="dk1"/>
                </a:solidFill>
                <a:latin typeface="Times New Roman"/>
                <a:ea typeface="Times New Roman"/>
                <a:cs typeface="Times New Roman"/>
                <a:sym typeface="Times New Roman"/>
              </a:rPr>
            </a:br>
            <a:r>
              <a:rPr lang="es-419" sz="1100">
                <a:solidFill>
                  <a:schemeClr val="dk1"/>
                </a:solidFill>
                <a:latin typeface="Times New Roman"/>
                <a:ea typeface="Times New Roman"/>
                <a:cs typeface="Times New Roman"/>
                <a:sym typeface="Times New Roman"/>
              </a:rPr>
              <a:t> </a:t>
            </a:r>
            <a:r>
              <a:rPr b="1" lang="es-419" sz="1100">
                <a:solidFill>
                  <a:schemeClr val="dk1"/>
                </a:solidFill>
                <a:latin typeface="Times New Roman"/>
                <a:ea typeface="Times New Roman"/>
                <a:cs typeface="Times New Roman"/>
                <a:sym typeface="Times New Roman"/>
              </a:rPr>
              <a:t>Instrumento:</a:t>
            </a:r>
            <a:r>
              <a:rPr lang="es-419" sz="1100">
                <a:solidFill>
                  <a:schemeClr val="dk1"/>
                </a:solidFill>
                <a:latin typeface="Times New Roman"/>
                <a:ea typeface="Times New Roman"/>
                <a:cs typeface="Times New Roman"/>
                <a:sym typeface="Times New Roman"/>
              </a:rPr>
              <a:t> Cuestionario mixto</a:t>
            </a:r>
            <a:endParaRPr sz="11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medios utiliza para monitorear los pedidos y cotizaciones que gestionan los vendedores?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acceso en tiempo real a la información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¿cómo accede?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realiza reportes de ventas para la gerencia?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Diaria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Semanal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Mensual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Esporádicamente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0" name="Google Shape;120;p9"/>
          <p:cNvSpPr txBox="1"/>
          <p:nvPr>
            <p:ph idx="1" type="body"/>
          </p:nvPr>
        </p:nvSpPr>
        <p:spPr>
          <a:xfrm>
            <a:off x="4820425" y="0"/>
            <a:ext cx="4192200" cy="22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4.   ¿Qué información debería mostrar un panel de control de ventas ideal para su gestión?</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5.    ¿Qué funcionalidades debería tener un sistema de ventas para apoyar la gestión del equipo comercial?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6.    En su experiencia, ¿cuáles son las mayores ineficiencias actuales en el flujo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¿Considera que el seguimiento a los pedidos puede mejorar con una herramienta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¿Por qué?</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¿Cuáles indicadores de rendimiento le gustaría monitorear desde un sistema?</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9.   ¿Qué información considera fundamental tener centralizada para facilitar la toma de decisiones?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s-419" sz="1000">
                <a:solidFill>
                  <a:schemeClr val="dk1"/>
                </a:solidFill>
                <a:latin typeface="Times New Roman"/>
                <a:ea typeface="Times New Roman"/>
                <a:cs typeface="Times New Roman"/>
                <a:sym typeface="Times New Roman"/>
              </a:rPr>
              <a:t>10.   ¿Existen dificultades frecuentes al consolidar datos de ventas de diferentes asesores?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26" name="Google Shape;126;p10"/>
          <p:cNvSpPr txBox="1"/>
          <p:nvPr>
            <p:ph idx="1" type="body"/>
          </p:nvPr>
        </p:nvSpPr>
        <p:spPr>
          <a:xfrm>
            <a:off x="-114950" y="572700"/>
            <a:ext cx="5162700" cy="38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Rol 3: Director Comercial</a:t>
            </a:r>
            <a:endParaRPr b="1"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actualmente una fuente única y confiable para consultar resultados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lnSpc>
                <a:spcPct val="115000"/>
              </a:lnSpc>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Parcialmente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indicadores estratégicos consulta para evaluar el comportamiento de los clientes?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realiza el seguimiento del desempeño de cada asesor comercial?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tipo de reportes considera clave para tomar decisiones comerciales?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000">
                <a:solidFill>
                  <a:schemeClr val="dk1"/>
                </a:solidFill>
                <a:latin typeface="Times New Roman"/>
                <a:ea typeface="Times New Roman"/>
                <a:cs typeface="Times New Roman"/>
                <a:sym typeface="Times New Roman"/>
              </a:rPr>
              <a:t>¿Qué barreras encuentra al momento de acceder o consolidar datos de ventas?</a:t>
            </a:r>
            <a:br>
              <a:rPr lang="es-419"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10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7" name="Google Shape;127;p10"/>
          <p:cNvSpPr txBox="1"/>
          <p:nvPr>
            <p:ph idx="1" type="body"/>
          </p:nvPr>
        </p:nvSpPr>
        <p:spPr>
          <a:xfrm>
            <a:off x="4325650" y="-344900"/>
            <a:ext cx="5055600" cy="6507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SzPts val="1800"/>
              <a:buNone/>
            </a:pPr>
            <a:r>
              <a:t/>
            </a:r>
            <a:endParaRPr sz="11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 6.    En su opinión, ¿qué tan alineado está el proceso de ventas actual con los objetivos estratégicos de la empresa?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7.    ¿Considera que un sistema digital puede fortalecer la fidelización de clientes?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 estoy seguro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8.   ¿Qué elementos visuales debería contener un tablero de análisis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9.   ¿Con qué frecuencia toma decisiones basadas en datos históricos?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Siempre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A menudo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Rara vez</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Nunca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800"/>
              <a:buNone/>
            </a:pPr>
            <a:r>
              <a:rPr lang="es-419" sz="900">
                <a:solidFill>
                  <a:schemeClr val="dk1"/>
                </a:solidFill>
                <a:latin typeface="Times New Roman"/>
                <a:ea typeface="Times New Roman"/>
                <a:cs typeface="Times New Roman"/>
                <a:sym typeface="Times New Roman"/>
              </a:rPr>
              <a:t>¿Qué beneficios espera obtener al implementar un sistema digital para la gestión de ventas?</a:t>
            </a:r>
            <a:endParaRPr sz="7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1800"/>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33" name="Google Shape;133;p11"/>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1467400" y="531750"/>
            <a:ext cx="6209200" cy="4529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40" name="Google Shape;140;p12"/>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41" name="Google Shape;141;p12"/>
          <p:cNvPicPr preferRelativeResize="0"/>
          <p:nvPr/>
        </p:nvPicPr>
        <p:blipFill rotWithShape="1">
          <a:blip r:embed="rId4">
            <a:alphaModFix/>
          </a:blip>
          <a:srcRect b="0" l="0" r="0" t="0"/>
          <a:stretch/>
        </p:blipFill>
        <p:spPr>
          <a:xfrm>
            <a:off x="369200" y="782275"/>
            <a:ext cx="8513309" cy="39247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47" name="Google Shape;147;p13"/>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48" name="Google Shape;148;p13"/>
          <p:cNvPicPr preferRelativeResize="0"/>
          <p:nvPr/>
        </p:nvPicPr>
        <p:blipFill rotWithShape="1">
          <a:blip r:embed="rId4">
            <a:alphaModFix/>
          </a:blip>
          <a:srcRect b="0" l="0" r="0" t="0"/>
          <a:stretch/>
        </p:blipFill>
        <p:spPr>
          <a:xfrm>
            <a:off x="152400" y="1066375"/>
            <a:ext cx="8092575" cy="3924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243925" y="6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s-419" sz="2000">
                <a:highlight>
                  <a:srgbClr val="FFFFFF"/>
                </a:highlight>
                <a:latin typeface="Times New Roman"/>
                <a:ea typeface="Times New Roman"/>
                <a:cs typeface="Times New Roman"/>
                <a:sym typeface="Times New Roman"/>
              </a:rPr>
              <a:t>9. BPMN </a:t>
            </a:r>
            <a:endParaRPr b="1" sz="2000">
              <a:latin typeface="Times New Roman"/>
              <a:ea typeface="Times New Roman"/>
              <a:cs typeface="Times New Roman"/>
              <a:sym typeface="Times New Roman"/>
            </a:endParaRPr>
          </a:p>
        </p:txBody>
      </p:sp>
      <p:pic>
        <p:nvPicPr>
          <p:cNvPr id="154" name="Google Shape;154;p14"/>
          <p:cNvPicPr preferRelativeResize="0"/>
          <p:nvPr/>
        </p:nvPicPr>
        <p:blipFill rotWithShape="1">
          <a:blip r:embed="rId3">
            <a:alphaModFix/>
          </a:blip>
          <a:srcRect b="0" l="0" r="0" t="0"/>
          <a:stretch/>
        </p:blipFill>
        <p:spPr>
          <a:xfrm>
            <a:off x="8271325" y="179125"/>
            <a:ext cx="751575" cy="734850"/>
          </a:xfrm>
          <a:prstGeom prst="rect">
            <a:avLst/>
          </a:prstGeom>
          <a:noFill/>
          <a:ln>
            <a:noFill/>
          </a:ln>
        </p:spPr>
      </p:pic>
      <p:pic>
        <p:nvPicPr>
          <p:cNvPr id="155" name="Google Shape;155;p14"/>
          <p:cNvPicPr preferRelativeResize="0"/>
          <p:nvPr/>
        </p:nvPicPr>
        <p:blipFill rotWithShape="1">
          <a:blip r:embed="rId4">
            <a:alphaModFix/>
          </a:blip>
          <a:srcRect b="0" l="0" r="0" t="0"/>
          <a:stretch/>
        </p:blipFill>
        <p:spPr>
          <a:xfrm>
            <a:off x="870100" y="969200"/>
            <a:ext cx="6848475" cy="3438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title"/>
          </p:nvPr>
        </p:nvSpPr>
        <p:spPr>
          <a:xfrm>
            <a:off x="241100" y="2071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b="1" lang="es-419" sz="2120">
                <a:latin typeface="Times New Roman"/>
                <a:ea typeface="Times New Roman"/>
                <a:cs typeface="Times New Roman"/>
                <a:sym typeface="Times New Roman"/>
              </a:rPr>
              <a:t>Requisitos de software</a:t>
            </a:r>
            <a:endParaRPr b="1" sz="2120">
              <a:latin typeface="Times New Roman"/>
              <a:ea typeface="Times New Roman"/>
              <a:cs typeface="Times New Roman"/>
              <a:sym typeface="Times New Roman"/>
            </a:endParaRPr>
          </a:p>
        </p:txBody>
      </p:sp>
      <p:sp>
        <p:nvSpPr>
          <p:cNvPr id="161" name="Google Shape;161;p15"/>
          <p:cNvSpPr txBox="1"/>
          <p:nvPr>
            <p:ph idx="1" type="body"/>
          </p:nvPr>
        </p:nvSpPr>
        <p:spPr>
          <a:xfrm>
            <a:off x="64400" y="1281825"/>
            <a:ext cx="4725000" cy="3229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Font typeface="Times New Roman"/>
              <a:buAutoNum type="arabicPeriod"/>
            </a:pPr>
            <a:r>
              <a:rPr lang="es-419" sz="900">
                <a:solidFill>
                  <a:schemeClr val="dk1"/>
                </a:solidFill>
              </a:rPr>
              <a:t>Registro de usuario</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Inicio de sesión</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Recuperación de contraseña</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roles y permisos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productos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Cómo ingresar productos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Gestión de ventas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Generación de cotización</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Seguimiento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Edición y actualización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Historial de ventas por cliente</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Registro de devoluciones o cancelaciones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Notificaciones de pedidos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Búsqueda avanzada de ventas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Generación de reportes</a:t>
            </a:r>
            <a:endParaRPr sz="900">
              <a:solidFill>
                <a:schemeClr val="dk1"/>
              </a:solidFill>
            </a:endParaRPr>
          </a:p>
          <a:p>
            <a:pPr indent="-311150" lvl="0" marL="457200" rtl="0" algn="l">
              <a:lnSpc>
                <a:spcPct val="115000"/>
              </a:lnSpc>
              <a:spcBef>
                <a:spcPts val="0"/>
              </a:spcBef>
              <a:spcAft>
                <a:spcPts val="0"/>
              </a:spcAft>
              <a:buClr>
                <a:schemeClr val="dk1"/>
              </a:buClr>
              <a:buSzPts val="1300"/>
              <a:buFont typeface="Times New Roman"/>
              <a:buAutoNum type="arabicPeriod"/>
            </a:pPr>
            <a:r>
              <a:rPr lang="es-419" sz="900">
                <a:solidFill>
                  <a:schemeClr val="dk1"/>
                </a:solidFill>
              </a:rPr>
              <a:t>Cierre de sesión</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100">
              <a:latin typeface="Times New Roman"/>
              <a:ea typeface="Times New Roman"/>
              <a:cs typeface="Times New Roman"/>
              <a:sym typeface="Times New Roman"/>
            </a:endParaRPr>
          </a:p>
        </p:txBody>
      </p:sp>
      <p:sp>
        <p:nvSpPr>
          <p:cNvPr id="162" name="Google Shape;162;p15"/>
          <p:cNvSpPr txBox="1"/>
          <p:nvPr/>
        </p:nvSpPr>
        <p:spPr>
          <a:xfrm>
            <a:off x="64400" y="860313"/>
            <a:ext cx="3645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419" sz="1800" u="none" cap="none" strike="noStrike">
                <a:solidFill>
                  <a:schemeClr val="dk1"/>
                </a:solidFill>
                <a:latin typeface="Times New Roman"/>
                <a:ea typeface="Times New Roman"/>
                <a:cs typeface="Times New Roman"/>
                <a:sym typeface="Times New Roman"/>
              </a:rPr>
              <a:t>Requisitos funcionales</a:t>
            </a:r>
            <a:endParaRPr b="1" i="0" sz="1800" u="none" cap="none" strike="noStrike">
              <a:solidFill>
                <a:schemeClr val="dk1"/>
              </a:solidFill>
              <a:latin typeface="Times New Roman"/>
              <a:ea typeface="Times New Roman"/>
              <a:cs typeface="Times New Roman"/>
              <a:sym typeface="Times New Roman"/>
            </a:endParaRPr>
          </a:p>
        </p:txBody>
      </p:sp>
      <p:sp>
        <p:nvSpPr>
          <p:cNvPr id="163" name="Google Shape;163;p15"/>
          <p:cNvSpPr txBox="1"/>
          <p:nvPr>
            <p:ph idx="1" type="body"/>
          </p:nvPr>
        </p:nvSpPr>
        <p:spPr>
          <a:xfrm>
            <a:off x="5697300" y="1247375"/>
            <a:ext cx="3762600" cy="32292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Disponibilidad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Rendimiento</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Seguridad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Escalabilidad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Compatibilidad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Usabilidad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Mantenibilidad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Respaldo de información</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confiabilidad</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s-419" sz="1100">
                <a:solidFill>
                  <a:schemeClr val="dk1"/>
                </a:solidFill>
                <a:latin typeface="Times New Roman"/>
                <a:ea typeface="Times New Roman"/>
                <a:cs typeface="Times New Roman"/>
                <a:sym typeface="Times New Roman"/>
              </a:rPr>
              <a:t>Conformidad legal.</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b="1"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100">
              <a:latin typeface="Times New Roman"/>
              <a:ea typeface="Times New Roman"/>
              <a:cs typeface="Times New Roman"/>
              <a:sym typeface="Times New Roman"/>
            </a:endParaRPr>
          </a:p>
        </p:txBody>
      </p:sp>
      <p:sp>
        <p:nvSpPr>
          <p:cNvPr id="164" name="Google Shape;164;p15"/>
          <p:cNvSpPr txBox="1"/>
          <p:nvPr/>
        </p:nvSpPr>
        <p:spPr>
          <a:xfrm>
            <a:off x="5697300" y="820125"/>
            <a:ext cx="344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419" sz="1800" u="none" cap="none" strike="noStrike">
                <a:solidFill>
                  <a:schemeClr val="dk1"/>
                </a:solidFill>
                <a:latin typeface="Times New Roman"/>
                <a:ea typeface="Times New Roman"/>
                <a:cs typeface="Times New Roman"/>
                <a:sym typeface="Times New Roman"/>
              </a:rPr>
              <a:t>Requisitos no funcionales</a:t>
            </a:r>
            <a:endParaRPr b="1" i="0" sz="1800" u="none" cap="none" strike="noStrike">
              <a:solidFill>
                <a:schemeClr val="dk1"/>
              </a:solidFill>
              <a:latin typeface="Times New Roman"/>
              <a:ea typeface="Times New Roman"/>
              <a:cs typeface="Times New Roman"/>
              <a:sym typeface="Times New Roman"/>
            </a:endParaRPr>
          </a:p>
        </p:txBody>
      </p:sp>
      <p:pic>
        <p:nvPicPr>
          <p:cNvPr id="165" name="Google Shape;165;p15"/>
          <p:cNvPicPr preferRelativeResize="0"/>
          <p:nvPr/>
        </p:nvPicPr>
        <p:blipFill rotWithShape="1">
          <a:blip r:embed="rId3">
            <a:alphaModFix/>
          </a:blip>
          <a:srcRect b="0" l="0" r="0" t="0"/>
          <a:stretch/>
        </p:blipFill>
        <p:spPr>
          <a:xfrm>
            <a:off x="8329775" y="44975"/>
            <a:ext cx="751575" cy="734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aphicFrame>
        <p:nvGraphicFramePr>
          <p:cNvPr id="170" name="Google Shape;170;p16"/>
          <p:cNvGraphicFramePr/>
          <p:nvPr/>
        </p:nvGraphicFramePr>
        <p:xfrm>
          <a:off x="1243900" y="414338"/>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Registro de usuario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formulario de registro debe estar disponible desde la pantalla de inicio mediante un botón o enlace claramente visible.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una persona cree una cuenta personal proporcionando su información básica a través de un formulario de registro.</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RNF04</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RNF010</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aphicFrame>
        <p:nvGraphicFramePr>
          <p:cNvPr id="175" name="Google Shape;175;p17"/>
          <p:cNvGraphicFramePr/>
          <p:nvPr/>
        </p:nvGraphicFramePr>
        <p:xfrm>
          <a:off x="1572825" y="750475"/>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RF02</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Inicio de sesión</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formulario de inicio de sesión debe estar accesible desde la pantalla principal de la aplicación o sitio web.</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los usuarios registrados puedan acceder a su cuenta introduciendo su correo electrónico y contraseña en un formulario de autenticación, validando las credenciales y redirigiendo según su rol.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RNF08</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aphicFrame>
        <p:nvGraphicFramePr>
          <p:cNvPr id="180" name="Google Shape;180;p18"/>
          <p:cNvGraphicFramePr/>
          <p:nvPr/>
        </p:nvGraphicFramePr>
        <p:xfrm>
          <a:off x="1416050" y="690675"/>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s-419" sz="1100" u="none" cap="none" strike="noStrike">
                          <a:latin typeface="Times New Roman"/>
                          <a:ea typeface="Times New Roman"/>
                          <a:cs typeface="Times New Roman"/>
                          <a:sym typeface="Times New Roman"/>
                        </a:rPr>
                        <a:t>Recuperación de contraseña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Desde la pantalla de inicio de sesión, el sistema debe ofrecer una opción para recuperar la contraseña olvidada.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solicitar un enlace de recuperación de contraseña, enviado al correo registrado, para establecer una nueva contraseña de forma segura.</a:t>
                      </a:r>
                      <a:br>
                        <a:rPr lang="es-419" sz="1100" u="none" cap="none" strike="noStrike">
                          <a:latin typeface="Times New Roman"/>
                          <a:ea typeface="Times New Roman"/>
                          <a:cs typeface="Times New Roman"/>
                          <a:sym typeface="Times New Roman"/>
                        </a:rPr>
                      </a:b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aphicFrame>
        <p:nvGraphicFramePr>
          <p:cNvPr id="185" name="Google Shape;185;p19"/>
          <p:cNvGraphicFramePr/>
          <p:nvPr/>
        </p:nvGraphicFramePr>
        <p:xfrm>
          <a:off x="1416050" y="369225"/>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roles y permisos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definir y administrar distintos roles de usuario con permisos específicos sobre las funciones del sistema.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que los administradores configuren roles como “Asesor” y “Administrador”, asignando a cada uno diferentes niveles de acceso y privilegios sobre las funciones del sistema.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p20"/>
          <p:cNvGraphicFramePr/>
          <p:nvPr/>
        </p:nvGraphicFramePr>
        <p:xfrm>
          <a:off x="1416050" y="223838"/>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productos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registrar, consultar, actualizar y eliminar productos, incluyendo información como nombre, categoría, precio, cantidad en stock y descripción.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Desde el módulo de productos, los usuarios autorizados podrán dar de alta nuevos productos, editar los existentes, eliminarlos o consultar su información para mantener actualizado el catálogo de ventas.</a:t>
                      </a:r>
                      <a:br>
                        <a:rPr lang="es-419" sz="1100" u="none" cap="none" strike="noStrike">
                          <a:latin typeface="Times New Roman"/>
                          <a:ea typeface="Times New Roman"/>
                          <a:cs typeface="Times New Roman"/>
                          <a:sym typeface="Times New Roman"/>
                        </a:rPr>
                      </a:b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21"/>
          <p:cNvGraphicFramePr/>
          <p:nvPr/>
        </p:nvGraphicFramePr>
        <p:xfrm>
          <a:off x="1416050" y="242888"/>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Ingreso de productos</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incluir un flujo claro para el ingreso de productos, con validaciones y confirmación.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Los usuarios administradores, desde el módulo de productos, podrán registrar un nuevo producto accediendo al menú “Productos” desde el panel principal, haciendo clic en “Registrar producto” y llenando un formulario con los campos: nombre, categoría, precio unitario, cantidad inicial en stock, descripción y código interno. Una vez completado, deberán validar los datos antes de guardarlos y, al finalizar, el sistema mostrará una confirmación visual del registro exitoso.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22"/>
          <p:cNvGraphicFramePr/>
          <p:nvPr/>
        </p:nvGraphicFramePr>
        <p:xfrm>
          <a:off x="1416050" y="866775"/>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RF07</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Gestión de ventas</a:t>
                      </a:r>
                      <a:endParaRPr b="1" sz="9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usuario puede registrar una nueva venta.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registrar, consultar, modificar y eliminar ventas realizadas, así como generar reportes relacionados.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23"/>
          <p:cNvGraphicFramePr/>
          <p:nvPr/>
        </p:nvGraphicFramePr>
        <p:xfrm>
          <a:off x="1416050" y="514350"/>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RF08</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Generación de cotización</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ingresar datos del cliente y detallar productos o servicios, incluyendo cantidad, precio unitario, descuentos e impuestos, con cálculo automático del total.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69532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generar cotizaciones de productos o servicios seleccionados, incluyendo detalles como cliente, precios y condiciones de pago.</a:t>
                      </a:r>
                      <a:endParaRPr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aphicFrame>
        <p:nvGraphicFramePr>
          <p:cNvPr id="210" name="Google Shape;210;p24"/>
          <p:cNvGraphicFramePr/>
          <p:nvPr/>
        </p:nvGraphicFramePr>
        <p:xfrm>
          <a:off x="1416050" y="695325"/>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RF09</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Seguimiento de pedidos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mostrar el estado actual del pedido.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a los usuarios (clientes y personal autorizado) consultar el estado de los pedidos realizados, desde su creación hasta su entrega final.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aphicFrame>
        <p:nvGraphicFramePr>
          <p:cNvPr id="215" name="Google Shape;215;p25"/>
          <p:cNvGraphicFramePr/>
          <p:nvPr/>
        </p:nvGraphicFramePr>
        <p:xfrm>
          <a:off x="1416050" y="514350"/>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RF010</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Historial de ventas por cliente</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El sistema debe mostrar un listado cronológico de todas las ventas asociadas a un cliente.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consultar todas las ventas realizadas a un cliente específico, mostrando un registro detallado de cada transacción.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RNF08</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26"/>
          <p:cNvGraphicFramePr/>
          <p:nvPr/>
        </p:nvGraphicFramePr>
        <p:xfrm>
          <a:off x="1416050" y="514350"/>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RF011</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Registro de devoluciones o cancelaciones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Cada devolución o cancelación debe registrarse con datos específicos como número de venta, productos involucrados, cantidades, motivo, fecha y usuario responsable..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permitir registrar y gestionar las devoluciones o cancelaciones de ventas realizadas, asegurando que estos procesos se documenten correctamente.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Media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aphicFrame>
        <p:nvGraphicFramePr>
          <p:cNvPr id="225" name="Google Shape;225;p27"/>
          <p:cNvGraphicFramePr/>
          <p:nvPr/>
        </p:nvGraphicFramePr>
        <p:xfrm>
          <a:off x="1416050" y="514350"/>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RF012</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Notificaciones de pedidos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enviar alertas para eventos clave como la creación del pedido, aprobación, despacho, entrega o cancelación.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enviar notificaciones automáticas a los usuarios relevantes sobre cambios importantes en el estado de los pedidos.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RNF07</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28"/>
          <p:cNvGraphicFramePr/>
          <p:nvPr/>
        </p:nvGraphicFramePr>
        <p:xfrm>
          <a:off x="1416050" y="604838"/>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RF013</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Búsqueda avanzada de ventas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La búsqueda debe permitir filtrar ventas por fecha, cliente, productos, estado, método de pago, rango de montos y empleado responsable.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proporcionar una funcionalidad de búsqueda avanzada que permita a los usuarios localizar ventas específicas mediante múltiples filtros.</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p29"/>
          <p:cNvGraphicFramePr/>
          <p:nvPr/>
        </p:nvGraphicFramePr>
        <p:xfrm>
          <a:off x="1416050" y="419100"/>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RF014</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Generación de reportes</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generar y exportar reportes detallados de ventas, productos más vendidos, ingresos por períodos, clientes frecuentes y desempeño comercial.</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generar reportes automáticos con filtros configurables (por cliente, producto, período, estado, etc.) y permitir su exportación a formatos como PDF y Excel para análisis externo.</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RNF01</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RNF02</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graphicFrame>
        <p:nvGraphicFramePr>
          <p:cNvPr id="240" name="Google Shape;240;p30"/>
          <p:cNvGraphicFramePr/>
          <p:nvPr/>
        </p:nvGraphicFramePr>
        <p:xfrm>
          <a:off x="1416050" y="604838"/>
          <a:ext cx="3000000" cy="3000000"/>
        </p:xfrm>
        <a:graphic>
          <a:graphicData uri="http://schemas.openxmlformats.org/drawingml/2006/table">
            <a:tbl>
              <a:tblPr>
                <a:noFill/>
                <a:tableStyleId>{E3080C48-1149-44C8-9D28-6927C4ABF2F0}</a:tableStyleId>
              </a:tblPr>
              <a:tblGrid>
                <a:gridCol w="1257300"/>
                <a:gridCol w="5054600"/>
              </a:tblGrid>
              <a:tr h="6477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RF015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953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Cierre de sesión</a:t>
                      </a:r>
                      <a:endParaRPr b="1" sz="1200" u="none" cap="none" strike="noStrike">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1" sz="11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304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debe permitir a los usuarios cerrar sesión desde cualquier pantalla de la aplicación mediante un botón claramente visible.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s-419" sz="1100" u="none" cap="none" strike="noStrike">
                          <a:latin typeface="Times New Roman"/>
                          <a:ea typeface="Times New Roman"/>
                          <a:cs typeface="Times New Roman"/>
                          <a:sym typeface="Times New Roman"/>
                        </a:rPr>
                        <a:t>El sistema debe finalizar la sesión activa del usuario, liberando sus recursos y redirigiendo a la pantalla de inicio de sesión.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Requerimientos</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 funcionales: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RNF03</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 RNF06</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699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197400" y="178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latin typeface="Times New Roman"/>
                <a:ea typeface="Times New Roman"/>
                <a:cs typeface="Times New Roman"/>
                <a:sym typeface="Times New Roman"/>
              </a:rPr>
              <a:t>Requerimientos no funcionales</a:t>
            </a:r>
            <a:endParaRPr>
              <a:latin typeface="Times New Roman"/>
              <a:ea typeface="Times New Roman"/>
              <a:cs typeface="Times New Roman"/>
              <a:sym typeface="Times New Roman"/>
            </a:endParaRPr>
          </a:p>
        </p:txBody>
      </p:sp>
      <p:graphicFrame>
        <p:nvGraphicFramePr>
          <p:cNvPr id="246" name="Google Shape;246;p31"/>
          <p:cNvGraphicFramePr/>
          <p:nvPr/>
        </p:nvGraphicFramePr>
        <p:xfrm>
          <a:off x="962013" y="1339850"/>
          <a:ext cx="3000000" cy="3000000"/>
        </p:xfrm>
        <a:graphic>
          <a:graphicData uri="http://schemas.openxmlformats.org/drawingml/2006/table">
            <a:tbl>
              <a:tblPr>
                <a:noFill/>
                <a:tableStyleId>{E3080C48-1149-44C8-9D28-6927C4ABF2F0}</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RNF01</a:t>
                      </a:r>
                      <a:endParaRPr sz="1200" u="none" cap="none" strike="noStrike">
                        <a:latin typeface="Times New Roman"/>
                        <a:ea typeface="Times New Roman"/>
                        <a:cs typeface="Times New Roman"/>
                        <a:sym typeface="Times New Roman"/>
                      </a:endParaRPr>
                    </a:p>
                  </a:txBody>
                  <a:tcPr marT="63500" marB="63500" marR="63500" marL="63500"/>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Disponibilidad</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latin typeface="Times New Roman"/>
                          <a:ea typeface="Times New Roman"/>
                          <a:cs typeface="Times New Roman"/>
                          <a:sym typeface="Times New Roman"/>
                        </a:rPr>
                        <a:t>el sistema es accesible para el usuario de acuerdo a la disposición de jornada laboral</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estar disponible al menos el 99% del tiempo durante el horario laboral de la empresa</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aphicFrame>
        <p:nvGraphicFramePr>
          <p:cNvPr id="251" name="Google Shape;251;p32"/>
          <p:cNvGraphicFramePr/>
          <p:nvPr/>
        </p:nvGraphicFramePr>
        <p:xfrm>
          <a:off x="962013" y="1136650"/>
          <a:ext cx="3000000" cy="3000000"/>
        </p:xfrm>
        <a:graphic>
          <a:graphicData uri="http://schemas.openxmlformats.org/drawingml/2006/table">
            <a:tbl>
              <a:tblPr>
                <a:noFill/>
                <a:tableStyleId>{E3080C48-1149-44C8-9D28-6927C4ABF2F0}</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RNF02</a:t>
                      </a:r>
                      <a:endParaRPr sz="1200" u="none" cap="none" strike="noStrike">
                        <a:latin typeface="Times New Roman"/>
                        <a:ea typeface="Times New Roman"/>
                        <a:cs typeface="Times New Roman"/>
                        <a:sym typeface="Times New Roman"/>
                      </a:endParaRPr>
                    </a:p>
                  </a:txBody>
                  <a:tcPr marT="63500" marB="63500" marR="63500" marL="63500"/>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Rendimiento</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está optimizado para la respuesta inmediata al usuario</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responder a cualquier consulta o acción del usuario en menos de 3 segundos</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aphicFrame>
        <p:nvGraphicFramePr>
          <p:cNvPr id="256" name="Google Shape;256;p33"/>
          <p:cNvGraphicFramePr/>
          <p:nvPr/>
        </p:nvGraphicFramePr>
        <p:xfrm>
          <a:off x="1038213" y="755650"/>
          <a:ext cx="3000000" cy="3000000"/>
        </p:xfrm>
        <a:graphic>
          <a:graphicData uri="http://schemas.openxmlformats.org/drawingml/2006/table">
            <a:tbl>
              <a:tblPr>
                <a:noFill/>
                <a:tableStyleId>{E3080C48-1149-44C8-9D28-6927C4ABF2F0}</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RNF03</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Seguridad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le permitirá al usuario hacer un 2FA (autenticación de dos factores) y el resguardo de sus datos sensibles mediante encriptación de estos.</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contar con autenticación de usuarios y encriptación de datos sensibles como contraseñas y correos.</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aphicFrame>
        <p:nvGraphicFramePr>
          <p:cNvPr id="261" name="Google Shape;261;p34"/>
          <p:cNvGraphicFramePr/>
          <p:nvPr/>
        </p:nvGraphicFramePr>
        <p:xfrm>
          <a:off x="1114413" y="831850"/>
          <a:ext cx="3000000" cy="3000000"/>
        </p:xfrm>
        <a:graphic>
          <a:graphicData uri="http://schemas.openxmlformats.org/drawingml/2006/table">
            <a:tbl>
              <a:tblPr>
                <a:noFill/>
                <a:tableStyleId>{E3080C48-1149-44C8-9D28-6927C4ABF2F0}</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RNF04</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Escalabilidad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el sistema estará sujeto a constante actualización.</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poder adaptarse al crecimiento del número de clientes y usuarios sin pérdida de rendimiento.</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aphicFrame>
        <p:nvGraphicFramePr>
          <p:cNvPr id="266" name="Google Shape;266;p35"/>
          <p:cNvGraphicFramePr/>
          <p:nvPr/>
        </p:nvGraphicFramePr>
        <p:xfrm>
          <a:off x="1038213" y="908050"/>
          <a:ext cx="3000000" cy="3000000"/>
        </p:xfrm>
        <a:graphic>
          <a:graphicData uri="http://schemas.openxmlformats.org/drawingml/2006/table">
            <a:tbl>
              <a:tblPr>
                <a:noFill/>
                <a:tableStyleId>{E3080C48-1149-44C8-9D28-6927C4ABF2F0}</a:tableStyleId>
              </a:tblPr>
              <a:tblGrid>
                <a:gridCol w="1374150"/>
                <a:gridCol w="5541000"/>
              </a:tblGrid>
              <a:tr h="5742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Identificación</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RNF05</a:t>
                      </a:r>
                      <a:endParaRPr sz="1200" u="none" cap="none" strike="noStrike">
                        <a:latin typeface="Times New Roman"/>
                        <a:ea typeface="Times New Roman"/>
                        <a:cs typeface="Times New Roman"/>
                        <a:sym typeface="Times New Roman"/>
                      </a:endParaRPr>
                    </a:p>
                  </a:txBody>
                  <a:tcPr marT="63500" marB="63500" marR="63500" marL="63500"/>
                </a:tc>
              </a:tr>
              <a:tr h="685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Nombre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Compatibilidad</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Características: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latin typeface="Times New Roman"/>
                          <a:ea typeface="Times New Roman"/>
                          <a:cs typeface="Times New Roman"/>
                          <a:sym typeface="Times New Roman"/>
                        </a:rPr>
                        <a:t>El sistema es afín y de fácil acceso desde cualquier navegador web.</a:t>
                      </a:r>
                      <a:endParaRPr sz="1200" u="none" cap="none" strike="noStrike">
                        <a:latin typeface="Times New Roman"/>
                        <a:ea typeface="Times New Roman"/>
                        <a:cs typeface="Times New Roman"/>
                        <a:sym typeface="Times New Roman"/>
                      </a:endParaRPr>
                    </a:p>
                  </a:txBody>
                  <a:tcPr marT="63500" marB="63500" marR="63500" marL="63500"/>
                </a:tc>
              </a:tr>
              <a:tr h="5638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Descripción del</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El sistema debe ser accesible desde navegadores web modernos (Chrome, Firefox, Edge).</a:t>
                      </a:r>
                      <a:endParaRPr sz="1200" u="none" cap="none" strike="noStrike">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Prioridad de</a:t>
                      </a:r>
                      <a:endParaRPr b="1"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latin typeface="Times New Roman"/>
                          <a:ea typeface="Times New Roman"/>
                          <a:cs typeface="Times New Roman"/>
                          <a:sym typeface="Times New Roman"/>
                        </a:rPr>
                        <a:t>requerimiento: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latin typeface="Times New Roman"/>
                          <a:ea typeface="Times New Roman"/>
                          <a:cs typeface="Times New Roman"/>
                          <a:sym typeface="Times New Roman"/>
                        </a:rPr>
                        <a:t>Alta</a:t>
                      </a:r>
                      <a:endParaRPr sz="1200" u="none" cap="none" strike="noStrike">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aphicFrame>
        <p:nvGraphicFramePr>
          <p:cNvPr id="271" name="Google Shape;271;p36"/>
          <p:cNvGraphicFramePr/>
          <p:nvPr/>
        </p:nvGraphicFramePr>
        <p:xfrm>
          <a:off x="1276750" y="765900"/>
          <a:ext cx="3000000" cy="3000000"/>
        </p:xfrm>
        <a:graphic>
          <a:graphicData uri="http://schemas.openxmlformats.org/drawingml/2006/table">
            <a:tbl>
              <a:tblPr>
                <a:noFill/>
                <a:tableStyleId>{58A78809-A831-4239-91BA-992DA3C88D62}</a:tableStyleId>
              </a:tblPr>
              <a:tblGrid>
                <a:gridCol w="1622050"/>
                <a:gridCol w="4663650"/>
              </a:tblGrid>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RNF06</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Usabilidad</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tendrá una interfaz sencilla y clara, pensada para usuarios sin conocimientos técnicos.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La interfaz del sistema debe ser intuitiva y amigable para usuarios sin conocimientos técnicos avanzados.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aphicFrame>
        <p:nvGraphicFramePr>
          <p:cNvPr id="276" name="Google Shape;276;p37"/>
          <p:cNvGraphicFramePr/>
          <p:nvPr/>
        </p:nvGraphicFramePr>
        <p:xfrm>
          <a:off x="1429150" y="1146900"/>
          <a:ext cx="3000000" cy="3000000"/>
        </p:xfrm>
        <a:graphic>
          <a:graphicData uri="http://schemas.openxmlformats.org/drawingml/2006/table">
            <a:tbl>
              <a:tblPr>
                <a:noFill/>
                <a:tableStyleId>{58A78809-A831-4239-91BA-992DA3C88D62}</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RNF07</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Mantenibilidad</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código será limpio y modular, permitiendo actualizaciones y correcciones con facilidad.</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estar desarrollado con buenas prácticas que permitan su fácil mantenimiento y actualización.</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aphicFrame>
        <p:nvGraphicFramePr>
          <p:cNvPr id="281" name="Google Shape;281;p38"/>
          <p:cNvGraphicFramePr/>
          <p:nvPr/>
        </p:nvGraphicFramePr>
        <p:xfrm>
          <a:off x="1429150" y="1146900"/>
          <a:ext cx="3000000" cy="3000000"/>
        </p:xfrm>
        <a:graphic>
          <a:graphicData uri="http://schemas.openxmlformats.org/drawingml/2006/table">
            <a:tbl>
              <a:tblPr>
                <a:noFill/>
                <a:tableStyleId>{58A78809-A831-4239-91BA-992DA3C88D62}</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RNF08</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Respaldo de información</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Se harán copias de seguridad automáticas diarias para proteger la base de datos.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realizar respaldos automáticos diarios de la base de datos.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aphicFrame>
        <p:nvGraphicFramePr>
          <p:cNvPr id="286" name="Google Shape;286;p39"/>
          <p:cNvGraphicFramePr/>
          <p:nvPr/>
        </p:nvGraphicFramePr>
        <p:xfrm>
          <a:off x="1305625" y="376500"/>
          <a:ext cx="3000000" cy="3000000"/>
        </p:xfrm>
        <a:graphic>
          <a:graphicData uri="http://schemas.openxmlformats.org/drawingml/2006/table">
            <a:tbl>
              <a:tblPr>
                <a:noFill/>
                <a:tableStyleId>{58A78809-A831-4239-91BA-992DA3C88D62}</a:tableStyleId>
              </a:tblPr>
              <a:tblGrid>
                <a:gridCol w="1665625"/>
                <a:gridCol w="4620075"/>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RNF09</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15000"/>
                        </a:lnSpc>
                        <a:spcBef>
                          <a:spcPts val="0"/>
                        </a:spcBef>
                        <a:spcAft>
                          <a:spcPts val="0"/>
                        </a:spcAft>
                        <a:buClr>
                          <a:srgbClr val="000000"/>
                        </a:buClr>
                        <a:buSzPts val="1150"/>
                        <a:buFont typeface="Arial"/>
                        <a:buNone/>
                      </a:pPr>
                      <a:r>
                        <a:rPr lang="es-419" sz="1150" u="none" cap="none" strike="noStrike">
                          <a:solidFill>
                            <a:srgbClr val="222222"/>
                          </a:solidFill>
                        </a:rPr>
                        <a:t>confiabilidad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deberá tener un tiempo de disponibilidad del 99% mensual, evitando caídas prolongadas.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s-419" sz="1400" u="none" cap="none" strike="noStrike">
                          <a:latin typeface="Times New Roman"/>
                          <a:ea typeface="Times New Roman"/>
                          <a:cs typeface="Times New Roman"/>
                          <a:sym typeface="Times New Roman"/>
                        </a:rPr>
                        <a:t>El sistema debe garantizar una alta disponibilidad y funcionamiento continuo, asegurando que los datos procesados y almacenados sean consistentes y libres de errores, minimizando el riesgo de fallos o pérdidas de información durante las operaciones.</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aphicFrame>
        <p:nvGraphicFramePr>
          <p:cNvPr id="291" name="Google Shape;291;p40"/>
          <p:cNvGraphicFramePr/>
          <p:nvPr/>
        </p:nvGraphicFramePr>
        <p:xfrm>
          <a:off x="1429150" y="1040213"/>
          <a:ext cx="3000000" cy="3000000"/>
        </p:xfrm>
        <a:graphic>
          <a:graphicData uri="http://schemas.openxmlformats.org/drawingml/2006/table">
            <a:tbl>
              <a:tblPr>
                <a:noFill/>
                <a:tableStyleId>{58A78809-A831-4239-91BA-992DA3C88D62}</a:tableStyleId>
              </a:tblPr>
              <a:tblGrid>
                <a:gridCol w="1622050"/>
                <a:gridCol w="4663650"/>
              </a:tblGrid>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Identificación</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RNF10</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Nombre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highlight>
                            <a:srgbClr val="B7B7B7"/>
                          </a:highlight>
                          <a:latin typeface="Times New Roman"/>
                          <a:ea typeface="Times New Roman"/>
                          <a:cs typeface="Times New Roman"/>
                          <a:sym typeface="Times New Roman"/>
                        </a:rPr>
                        <a:t>Conformidad legal</a:t>
                      </a:r>
                      <a:endParaRPr sz="1400" u="none" cap="none" strike="noStrike">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Características: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Cumplirá con la Ley 1581 de 2012, protegiendo los datos personales de los usuarios.</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Descripción del</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s-419" sz="1400" u="none" cap="none" strike="noStrike">
                          <a:latin typeface="Times New Roman"/>
                          <a:ea typeface="Times New Roman"/>
                          <a:cs typeface="Times New Roman"/>
                          <a:sym typeface="Times New Roman"/>
                        </a:rPr>
                        <a:t>El sistema debe cumplir con las normativas de protección de datos vigentes en Colombia (Ley 1581 de 2012).</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Prioridad de</a:t>
                      </a:r>
                      <a:endParaRPr b="1"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b="1" lang="es-419" sz="1200" u="none" cap="none" strike="noStrike">
                          <a:solidFill>
                            <a:schemeClr val="dk1"/>
                          </a:solidFill>
                          <a:latin typeface="Times New Roman"/>
                          <a:ea typeface="Times New Roman"/>
                          <a:cs typeface="Times New Roman"/>
                          <a:sym typeface="Times New Roman"/>
                        </a:rPr>
                        <a:t>requerimiento:</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Times New Roman"/>
                          <a:ea typeface="Times New Roman"/>
                          <a:cs typeface="Times New Roman"/>
                          <a:sym typeface="Times New Roman"/>
                        </a:rPr>
                        <a:t>Alta</a:t>
                      </a:r>
                      <a:endParaRPr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